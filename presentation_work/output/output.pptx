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67" r:id="rId14"/>
    <p:sldId id="268" r:id="rId15"/>
  </p:sldIdLst>
  <p:sldSz cx="18288000" cy="10287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447" autoAdjust="0"/>
  </p:normalViewPr>
  <p:slideViewPr>
    <p:cSldViewPr snapToGrid="0">
      <p:cViewPr varScale="1">
        <p:scale>
          <a:sx n="55" d="100"/>
          <a:sy n="55" d="100"/>
        </p:scale>
        <p:origin x="1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core question: what should a music platform recommend next? Explain that the project compares globally popular songs, songs liked by similar users, and songs similar to a user's history. Emphasize that recommendation systems shape discovery, not only prediction.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I used the </a:t>
            </a:r>
            <a:r>
              <a:rPr lang="en-US" altLang="zh-CN" sz="1200" b="0" i="0" kern="1200" dirty="0" err="1">
                <a:effectLst/>
              </a:rPr>
              <a:t>KGRec</a:t>
            </a:r>
            <a:r>
              <a:rPr lang="en-US" altLang="zh-CN" sz="1200" b="0" i="0" kern="1200" dirty="0">
                <a:effectLst/>
              </a:rPr>
              <a:t>-music dataset, which contains user-item interactions, item tags, and item descriptions. The main interaction file has 751,531 implicit interactions, covering 5,199 users and 8,640 music items. Each interaction is marked as 1, which means the dataset only tells us that a user interacted with a music item; it does not tell us whether the user gave it a high rating, disliked it, skipped it, or listened to it many times. Because of this, my project is an implicit-feedback recommendation problem. In an explicit-feedback system, the model might predict a star rating, but in this project the model ranks songs instead. The task is not to predict whether a user would rate a song 4.5 stars. The task is to ask: given part of a user’s interaction history, can the model rank songs that the user interacted with later near the top of the recommendation list?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Before training the models, I had to turn the raw dataset into a clean experimental setup. Preprocessing is not just a cleaning step; it defines the entire environment in which the models are trained and evaluated. One important step was ID mapping. Raw user IDs and item IDs are not always convenient for matrix-based models, so they need to be map needed consistent user and item IDs, clean train/validation/test splits, and item feature representations that could be used by the content-based model and by the diversity metric. ped into continuous internal indices. For example, users can be mapped from 0 to 5198, and items from 0 to 8639. This allows models like ALS to build a clean user-item matrix. At the same time, the system must preserve the mapping back to the original </a:t>
            </a:r>
            <a:r>
              <a:rPr lang="en-US" altLang="zh-CN" sz="1200" b="0" i="0" kern="1200" dirty="0" err="1">
                <a:effectLst/>
              </a:rPr>
              <a:t>KGRec</a:t>
            </a:r>
            <a:r>
              <a:rPr lang="en-US" altLang="zh-CN" sz="1200" b="0" i="0" kern="1200" dirty="0">
                <a:effectLst/>
              </a:rPr>
              <a:t> item IDs, because the model’s internal item index is not meaningful to a user by itself.</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Because the dataset does not provide time information, I used a per-user random split instead. For each user, I split that user’s interactions into 80% training, 10% validation, and 10% test. This means the model sees part of each user’s history and then tries to recover the hidden held-out interactions. This is important because the evaluation is asking whether the model can understand known users’ preferences from partial histories, not whether it can handle completely new users in the research evaluation. The split also makes the comparison fair. All three models use the same training data, the same validation data, the same test data, and the same candidate-pool logic. This means that when ALS performs better than popularity or content-based recommendation, the result is meaningful because the rules are the same for all models.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A key concern in preprocessing is avoiding data leakage, which happens when information from validation or test data accidentally influences the training process. In recommendation systems, leakage can make a model look better than it really is because it has indirectly seen information that should have been hidden. In my project, this was especially important for the tag TF-IDF features. TF-IDF learns a vocabulary and weighting structure from item tags, so I fit the TF-IDF vectorizer only on training items and then applied it to validation and test items. This keeps the validation and test data as held-out data and makes the experiment more honest.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For each user, the recommender should not recommend items the user already interacted with in the training set. If the model simply recommends songs the user has already seen, it is not solving the real recommendation problem. So during evaluation, I created a candidate pool by taking the training catalog and removing each user’s already-seen training items. The model then ranks the remaining candidate items, and the validation or test split is used as ground truth. In other words, the evaluation asks: among the songs this user has not already seen in training, can the model place the user’s held-out interactions near the top? This setup turns the project into a top-K ranking problem, where the model recommends the top 5, 10, or 20 items for each user.</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The first model is the popularity-based baseline. This model does not try to understand individual taste. It simply counts how many times each item appears in the training set and ranks items by global popularity. For each user, it then removes songs that the user already interacted with in training and recommends the most popular remaining items. Technically, the popularity score for an item is just the number of training interactions that item received. This means the ranking is almost the same for every user, except that each user’s already-seen items are filtered out. The model is simple, deterministic, and useful because it gives a performance floor. If a more complex model cannot beat popularity, then the complex model is probably not adding real value. The weakness is that popularity is barely personalized. It tends to recommend the same small group of mainstream items again and again. This creates low catalog coverage and low novelty because many items in the catalog almost never get recommended. The mental model is simple: popularity says, I do not know your specific taste, so I will recommend what many people already interacted with.</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The second model is ALS collaborative filtering, which is the strongest model in my project. ALS uses the user-item interaction matrix rather than song tags or titles. Rows represent users, columns represent music items, and observed interactions become positive signals. The model learns hidden vectors for users and hidden vectors for items, then scores a user-item pair by how well those vectors align. The main idea is latent factors. These are hidden dimensions learned from behavior patterns. For example, one dimension might roughly capture preference for mainstream music, another might capture a certain genre or listening style, but the model does not directly label these dimensions. Instead, it learns them from patterns like: users who interacted with item A also often interacted with item B. </a:t>
            </a:r>
            <a:br>
              <a:rPr lang="en-US" altLang="zh-CN" dirty="0"/>
            </a:br>
            <a:r>
              <a:rPr lang="en-US" altLang="zh-CN" sz="1200" b="0" i="0" kern="1200" dirty="0">
                <a:effectLst/>
              </a:rPr>
              <a:t>A higher score means the user and item are closer in the learned latent space. Because the data is implicit feedback, ALS does not treat missing interactions as strong dislikes. Missing data usually means the user may never have seen the song. So implicit ALS treats observed interactions as positive evidence with higher confidence, while unobserved interactions are lower-confidence unknowns. The reason ALS performed best is that </a:t>
            </a:r>
            <a:r>
              <a:rPr lang="en-US" altLang="zh-CN" sz="1200" b="0" i="0" kern="1200" dirty="0" err="1">
                <a:effectLst/>
              </a:rPr>
              <a:t>KGRec</a:t>
            </a:r>
            <a:r>
              <a:rPr lang="en-US" altLang="zh-CN" sz="1200" b="0" i="0" kern="1200" dirty="0">
                <a:effectLst/>
              </a:rPr>
              <a:t>-music contains strong collaborative structure. In plain language, user behavior patterns reveal more about music preference than global popularity or tag similarity alone. ALS can find connections between songs even if their tags are incomplete or not obviously similar. Its weakness is that it is less naturally explainable and needs interaction history, which creates cold-start problems for new users or new items.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The third model is content-based recommendation using tags. This model does not depend mainly on what similar users did. Instead, it looks at the features of the items themselves. In my project, those features are item tags. The preprocessing step converts each item’s tags into a TF-IDF vector. TF-IDF gives more weight to tags that are meaningful and less common, and less weight to generic tags that appear everywhere. This creates a tag-space representation for each music item. Then, for each user, the model builds a user profile by combining the tag vectors of songs the user interacted with in training. The model then scores candidate items by how similar their tag vectors are to the user’s tag profile, often using cosine similarity. The basic logic is: if a user interacted with songs that have certain tag patterns, recommend other songs with similar tag patterns. This model is more explainable than ALS because the recommendation can be connected back to tags. It can also recommend more niche songs because it does not only follow global popularity. That explains why the content-based model had the highest novelty in my results. However, content-based recommendation also has clear weaknesses. Tag similarity is not the same as actual user preference. Two songs may share tags but still appeal to very different listeners. Also, if tags are missing, noisy, or too generic, the model has weak item features. In my results, content-based recommendation had lower accuracy and lower diversity because it often recommended obscure but semantically similar items from the same narrow tag neighborhood.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I evaluated the models using both accuracy metrics and beyond-accuracy metrics. The accuracy metrics measure whether the model ranks relevant held-out items near the top. </a:t>
            </a:r>
            <a:r>
              <a:rPr lang="en-US" altLang="zh-CN" sz="1200" b="0" i="0" kern="1200" dirty="0" err="1">
                <a:effectLst/>
              </a:rPr>
              <a:t>Precision@K</a:t>
            </a:r>
            <a:r>
              <a:rPr lang="en-US" altLang="zh-CN" sz="1200" b="0" i="0" kern="1200" dirty="0">
                <a:effectLst/>
              </a:rPr>
              <a:t> asks what fraction of the top K recommendations were relevant. </a:t>
            </a:r>
            <a:r>
              <a:rPr lang="en-US" altLang="zh-CN" sz="1200" b="0" i="0" kern="1200" dirty="0" err="1">
                <a:effectLst/>
              </a:rPr>
              <a:t>Recall@K</a:t>
            </a:r>
            <a:r>
              <a:rPr lang="en-US" altLang="zh-CN" sz="1200" b="0" i="0" kern="1200" dirty="0">
                <a:effectLst/>
              </a:rPr>
              <a:t> asks what fraction of the user’s held-out items were recovered. NDCG@K measures whether relevant items appear closer to the top of the ranking. Hit </a:t>
            </a:r>
            <a:r>
              <a:rPr lang="en-US" altLang="zh-CN" sz="1200" b="0" i="0" kern="1200" dirty="0" err="1">
                <a:effectLst/>
              </a:rPr>
              <a:t>Rate@K</a:t>
            </a:r>
            <a:r>
              <a:rPr lang="en-US" altLang="zh-CN" sz="1200" b="0" i="0" kern="1200" dirty="0">
                <a:effectLst/>
              </a:rPr>
              <a:t> asks whether the user received at least one relevant item in the top K. But accuracy alone is not enough for music recommendation. A recommender also shapes what users discover. So I also used beyond-accuracy metrics. Catalog coverage measures how much of the catalog gets recommended across users. Novelty measures whether the model recommends less obvious and less popular items. Diversity measures whether the items within one recommendation list are different from each other. This matters because a music recommender should not only guess what users already know. It should also help users discover new music in a useful way.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At K = 10, ALS performed best overall. It had the highest precision, recall, NDCG, hit rate, coverage, and diversity. This means ALS was not only more accurate, but also exposed users to a broader part of the catalog compared with the popularity baseline. The popularity baseline was useful but narrow. It recommended globally popular items and achieved some accuracy, but its catalog coverage was extremely low because it concentrated recommendations on a tiny group of popular songs. The content-based model had the highest novelty, which means it recommended less obvious and more long-tail items. However, it had lower accuracy and lower diversity. This shows an important distinction: novelty does not automatically mean diversity. A model can recommend obscure songs while still recommending many songs that are similar to each other. The main conclusion is that ALS worked best because user-item behavior was the richest signal in this dataset. Popularity captured mainstream attention, content-based tags captured semantic similarity, but ALS captured personalized co-listening patterns.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82BB-1735-E406-A8DB-E5DC8B432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9B3D1-140A-BDEA-9B93-A0E5C1369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776D4-B3C4-A565-E7F1-F954B504457C}"/>
              </a:ext>
            </a:extLst>
          </p:cNvPr>
          <p:cNvSpPr>
            <a:spLocks noGrp="1"/>
          </p:cNvSpPr>
          <p:nvPr>
            <p:ph type="body" idx="1"/>
          </p:nvPr>
        </p:nvSpPr>
        <p:spPr/>
        <p:txBody>
          <a:bodyPr/>
          <a:lstStyle/>
          <a:p>
            <a:r>
              <a:t>Close by connecting the research and product work. Popularity is simple and safe, content-based recommendation can improve discovery but may be narrow, and ALS performed best because user-item behavior was the richest signal. The broader takeaway is that a recommender is a pipeline, not only a model.</a:t>
            </a:r>
          </a:p>
        </p:txBody>
      </p:sp>
      <p:sp>
        <p:nvSpPr>
          <p:cNvPr id="4" name="Slide Number Placeholder 3">
            <a:extLst>
              <a:ext uri="{FF2B5EF4-FFF2-40B4-BE49-F238E27FC236}">
                <a16:creationId xmlns:a16="http://schemas.microsoft.com/office/drawing/2014/main" id="{59E97DD4-1537-D885-D622-4A860E83F5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49930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effectLst/>
              </a:rPr>
              <a:t>After completing the research comparison, I built a personalized demo layer on top of the trained system. This part is not a fourth model in the original experiment. It is a product extension that makes the recommender usable for a new interactive user. The challenge is that a new website user is not one of the original 5,199 users in the training matrix. So the demo cannot simply look up a trained user vector. Instead, the system uses fold-in, which estimates a temporary user vector based on the new user’s seed songs, favorite songs, and tag preferences while keeping the trained item factors fixed. The demo also allows controls for content weight, novelty, and diversity. Content weight adjusts how much tag similarity matters. Novelty pushes the system away from only obvious popular items. Diversity helps avoid recommending many songs that are too similar to each other.</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connecting the research and product work. Popularity is simple and safe, content-based recommendation can improve discovery but may be narrow, and ALS performed best because user-item behavior was the richest signal. The broader takeaway is that a recommender is a pipeline, not only a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NeteaseCloudMusicApiEnhanced/api-enhanced"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5" name="cover-kicker">
            <a:extLst>
              <a:ext uri="{FF2B5EF4-FFF2-40B4-BE49-F238E27FC236}">
                <a16:creationId xmlns:a16="http://schemas.microsoft.com/office/drawing/2014/main" id="{6B8A3572-49D3-4456-9513-132AEF081CCA}"/>
              </a:ext>
            </a:extLst>
          </p:cNvPr>
          <p:cNvSpPr>
            <a:spLocks noGrp="1"/>
          </p:cNvSpPr>
          <p:nvPr/>
        </p:nvSpPr>
        <p:spPr>
          <a:xfrm>
            <a:off x="1047750" y="2628900"/>
            <a:ext cx="8305800" cy="228600"/>
          </a:xfrm>
          <a:prstGeom prst="rect">
            <a:avLst/>
          </a:prstGeom>
        </p:spPr>
        <p:txBody>
          <a:bodyPr lIns="0" tIns="0" rIns="0" bIns="0"/>
          <a:lstStyle/>
          <a:p>
            <a:pPr>
              <a:defRPr sz="1425" b="1">
                <a:solidFill>
                  <a:srgbClr val="2F7D6D"/>
                </a:solidFill>
              </a:defRPr>
            </a:pPr>
            <a:r>
              <a:rPr sz="1425" b="1">
                <a:solidFill>
                  <a:srgbClr val="2F7D6D"/>
                </a:solidFill>
              </a:rPr>
              <a:t>Senior Project</a:t>
            </a:r>
          </a:p>
        </p:txBody>
      </p:sp>
      <p:sp>
        <p:nvSpPr>
          <p:cNvPr id="2" name="cover-title">
            <a:extLst>
              <a:ext uri="{FF2B5EF4-FFF2-40B4-BE49-F238E27FC236}">
                <a16:creationId xmlns:a16="http://schemas.microsoft.com/office/drawing/2014/main" id="{C2ED2D41-915D-430F-856E-25E58527C945}"/>
              </a:ext>
            </a:extLst>
          </p:cNvPr>
          <p:cNvSpPr>
            <a:spLocks noGrp="1"/>
          </p:cNvSpPr>
          <p:nvPr/>
        </p:nvSpPr>
        <p:spPr>
          <a:xfrm>
            <a:off x="1047750" y="3067050"/>
            <a:ext cx="7684770" cy="2609850"/>
          </a:xfrm>
          <a:prstGeom prst="rect">
            <a:avLst/>
          </a:prstGeom>
        </p:spPr>
        <p:txBody>
          <a:bodyPr lIns="0" tIns="0" rIns="0" bIns="0"/>
          <a:lstStyle/>
          <a:p>
            <a:pPr>
              <a:defRPr sz="5700" b="1">
                <a:solidFill>
                  <a:srgbClr val="18212B"/>
                </a:solidFill>
              </a:defRPr>
            </a:pPr>
            <a:r>
              <a:rPr sz="5700" b="1" dirty="0">
                <a:solidFill>
                  <a:srgbClr val="18212B"/>
                </a:solidFill>
              </a:rPr>
              <a:t>Mini Spotify-like</a:t>
            </a:r>
          </a:p>
          <a:p>
            <a:pPr>
              <a:defRPr sz="5700" b="1">
                <a:solidFill>
                  <a:srgbClr val="18212B"/>
                </a:solidFill>
              </a:defRPr>
            </a:pPr>
            <a:r>
              <a:rPr sz="5700" b="1" dirty="0">
                <a:solidFill>
                  <a:srgbClr val="18212B"/>
                </a:solidFill>
              </a:rPr>
              <a:t>Music Recommendation</a:t>
            </a:r>
          </a:p>
          <a:p>
            <a:pPr>
              <a:defRPr sz="5700" b="1">
                <a:solidFill>
                  <a:srgbClr val="18212B"/>
                </a:solidFill>
              </a:defRPr>
            </a:pPr>
            <a:r>
              <a:rPr sz="5700" b="1" dirty="0">
                <a:solidFill>
                  <a:srgbClr val="18212B"/>
                </a:solidFill>
              </a:rPr>
              <a:t>System</a:t>
            </a:r>
          </a:p>
        </p:txBody>
      </p:sp>
      <p:sp>
        <p:nvSpPr>
          <p:cNvPr id="3" name="cover-rule">
            <a:extLst>
              <a:ext uri="{FF2B5EF4-FFF2-40B4-BE49-F238E27FC236}">
                <a16:creationId xmlns:a16="http://schemas.microsoft.com/office/drawing/2014/main" id="{7A8D6E27-EC52-4BB2-A8F1-C455A6C627F3}"/>
              </a:ext>
            </a:extLst>
          </p:cNvPr>
          <p:cNvSpPr>
            <a:spLocks noGrp="1"/>
          </p:cNvSpPr>
          <p:nvPr/>
        </p:nvSpPr>
        <p:spPr>
          <a:xfrm>
            <a:off x="1047750" y="5905500"/>
            <a:ext cx="2667000" cy="57150"/>
          </a:xfrm>
          <a:prstGeom prst="rect">
            <a:avLst/>
          </a:prstGeom>
          <a:solidFill>
            <a:srgbClr val="2F7D6D"/>
          </a:solidFill>
          <a:ln w="0">
            <a:solidFill>
              <a:srgbClr val="2F7D6D"/>
            </a:solidFill>
            <a:prstDash val="solid"/>
          </a:ln>
        </p:spPr>
      </p:sp>
      <p:sp>
        <p:nvSpPr>
          <p:cNvPr id="4" name="cover-promise">
            <a:extLst>
              <a:ext uri="{FF2B5EF4-FFF2-40B4-BE49-F238E27FC236}">
                <a16:creationId xmlns:a16="http://schemas.microsoft.com/office/drawing/2014/main" id="{4BBB0CEE-9A77-431D-B8A1-6EA58350EE01}"/>
              </a:ext>
            </a:extLst>
          </p:cNvPr>
          <p:cNvSpPr>
            <a:spLocks noGrp="1"/>
          </p:cNvSpPr>
          <p:nvPr/>
        </p:nvSpPr>
        <p:spPr>
          <a:xfrm>
            <a:off x="1047750" y="6191250"/>
            <a:ext cx="6648450" cy="685038"/>
          </a:xfrm>
          <a:prstGeom prst="rect">
            <a:avLst/>
          </a:prstGeom>
        </p:spPr>
        <p:txBody>
          <a:bodyPr lIns="0" tIns="0" rIns="0" bIns="0"/>
          <a:lstStyle/>
          <a:p>
            <a:pPr>
              <a:defRPr sz="2175">
                <a:solidFill>
                  <a:srgbClr val="18212B"/>
                </a:solidFill>
              </a:defRPr>
            </a:pPr>
            <a:r>
              <a:rPr lang="en-US" altLang="zh-CN" sz="2175" dirty="0">
                <a:solidFill>
                  <a:srgbClr val="18212B"/>
                </a:solidFill>
              </a:rPr>
              <a:t>Jerry Wu 12 Ne</a:t>
            </a:r>
          </a:p>
          <a:p>
            <a:pPr>
              <a:defRPr sz="2175">
                <a:solidFill>
                  <a:srgbClr val="18212B"/>
                </a:solidFill>
              </a:defRPr>
            </a:pPr>
            <a:endParaRPr lang="en-US" sz="2175" dirty="0">
              <a:solidFill>
                <a:srgbClr val="18212B"/>
              </a:solidFill>
            </a:endParaRPr>
          </a:p>
          <a:p>
            <a:pPr>
              <a:defRPr sz="2175">
                <a:solidFill>
                  <a:srgbClr val="18212B"/>
                </a:solidFill>
              </a:defRPr>
            </a:pPr>
            <a:endParaRPr sz="2175" dirty="0">
              <a:solidFill>
                <a:srgbClr val="18212B"/>
              </a:solidFill>
            </a:endParaRPr>
          </a:p>
        </p:txBody>
      </p:sp>
      <p:sp>
        <p:nvSpPr>
          <p:cNvPr id="5" name="cover-question-text">
            <a:extLst>
              <a:ext uri="{FF2B5EF4-FFF2-40B4-BE49-F238E27FC236}">
                <a16:creationId xmlns:a16="http://schemas.microsoft.com/office/drawing/2014/main" id="{84C17F21-EFAD-44C6-A44B-37D9B0A421CE}"/>
              </a:ext>
            </a:extLst>
          </p:cNvPr>
          <p:cNvSpPr>
            <a:spLocks noGrp="1"/>
          </p:cNvSpPr>
          <p:nvPr/>
        </p:nvSpPr>
        <p:spPr>
          <a:xfrm>
            <a:off x="10153650" y="3581400"/>
            <a:ext cx="7086600" cy="2381250"/>
          </a:xfrm>
          <a:prstGeom prst="rect">
            <a:avLst/>
          </a:prstGeom>
        </p:spPr>
        <p:txBody>
          <a:bodyPr lIns="0" tIns="0" rIns="0" bIns="0"/>
          <a:lstStyle/>
          <a:p>
            <a:pPr>
              <a:defRPr sz="3150" b="1">
                <a:solidFill>
                  <a:srgbClr val="2F7D6D"/>
                </a:solidFill>
              </a:defRPr>
            </a:pPr>
            <a:r>
              <a:rPr lang="en-US" altLang="zh-CN" sz="3150" b="1" dirty="0"/>
              <a:t>Objective:</a:t>
            </a:r>
          </a:p>
          <a:p>
            <a:pPr>
              <a:defRPr sz="3150" b="1">
                <a:solidFill>
                  <a:srgbClr val="2F7D6D"/>
                </a:solidFill>
              </a:defRPr>
            </a:pPr>
            <a:r>
              <a:rPr lang="en-US" altLang="zh-CN" sz="3150" b="1" dirty="0"/>
              <a:t>Which recommendation strategy works best for music recommendation, and what trade-offs does each model have?</a:t>
            </a:r>
            <a:endParaRPr sz="3150" b="1" dirty="0">
              <a:solidFill>
                <a:srgbClr val="2F7D6D"/>
              </a:solidFill>
            </a:endParaRPr>
          </a:p>
        </p:txBody>
      </p:sp>
      <p:sp>
        <p:nvSpPr>
          <p:cNvPr id="6" name="flow-step-1">
            <a:extLst>
              <a:ext uri="{FF2B5EF4-FFF2-40B4-BE49-F238E27FC236}">
                <a16:creationId xmlns:a16="http://schemas.microsoft.com/office/drawing/2014/main" id="{6DB40D1C-9448-4DF2-9A9E-1A258B6D76D1}"/>
              </a:ext>
            </a:extLst>
          </p:cNvPr>
          <p:cNvSpPr>
            <a:spLocks noGrp="1"/>
          </p:cNvSpPr>
          <p:nvPr/>
        </p:nvSpPr>
        <p:spPr>
          <a:xfrm>
            <a:off x="10153650" y="5905500"/>
            <a:ext cx="1695450" cy="1028700"/>
          </a:xfrm>
          <a:prstGeom prst="roundRect">
            <a:avLst>
              <a:gd name="adj" fmla="val 9259"/>
            </a:avLst>
          </a:prstGeom>
          <a:solidFill>
            <a:srgbClr val="FFFFFF"/>
          </a:solidFill>
          <a:ln w="14288">
            <a:solidFill>
              <a:srgbClr val="446B8C"/>
            </a:solidFill>
            <a:prstDash val="solid"/>
          </a:ln>
        </p:spPr>
      </p:sp>
      <p:sp>
        <p:nvSpPr>
          <p:cNvPr id="7" name="矩形 6">
            <a:extLst>
              <a:ext uri="{FF2B5EF4-FFF2-40B4-BE49-F238E27FC236}">
                <a16:creationId xmlns:a16="http://schemas.microsoft.com/office/drawing/2014/main" id="{2AA82303-1F13-4930-AEF3-AA72A1DC92ED}"/>
              </a:ext>
            </a:extLst>
          </p:cNvPr>
          <p:cNvSpPr>
            <a:spLocks noGrp="1"/>
          </p:cNvSpPr>
          <p:nvPr/>
        </p:nvSpPr>
        <p:spPr>
          <a:xfrm>
            <a:off x="10229850" y="6286500"/>
            <a:ext cx="1485900" cy="266700"/>
          </a:xfrm>
          <a:prstGeom prst="rect">
            <a:avLst/>
          </a:prstGeom>
        </p:spPr>
        <p:txBody>
          <a:bodyPr lIns="0" tIns="0" rIns="0" bIns="0"/>
          <a:lstStyle/>
          <a:p>
            <a:pPr algn="ctr">
              <a:defRPr sz="1650" b="1">
                <a:solidFill>
                  <a:srgbClr val="18212B"/>
                </a:solidFill>
              </a:defRPr>
            </a:pPr>
            <a:r>
              <a:rPr sz="1650" b="1">
                <a:solidFill>
                  <a:srgbClr val="18212B"/>
                </a:solidFill>
              </a:rPr>
              <a:t>Popular</a:t>
            </a:r>
          </a:p>
        </p:txBody>
      </p:sp>
      <p:sp>
        <p:nvSpPr>
          <p:cNvPr id="8" name="矩形 7">
            <a:extLst>
              <a:ext uri="{FF2B5EF4-FFF2-40B4-BE49-F238E27FC236}">
                <a16:creationId xmlns:a16="http://schemas.microsoft.com/office/drawing/2014/main" id="{5FD987DA-DAC9-4DAD-A205-4CA628B1804F}"/>
              </a:ext>
            </a:extLst>
          </p:cNvPr>
          <p:cNvSpPr>
            <a:spLocks noGrp="1"/>
          </p:cNvSpPr>
          <p:nvPr/>
        </p:nvSpPr>
        <p:spPr>
          <a:xfrm>
            <a:off x="11887200" y="6267450"/>
            <a:ext cx="28575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9" name="flow-step-2">
            <a:extLst>
              <a:ext uri="{FF2B5EF4-FFF2-40B4-BE49-F238E27FC236}">
                <a16:creationId xmlns:a16="http://schemas.microsoft.com/office/drawing/2014/main" id="{B7B8AD24-FDAF-4A87-9C01-68710F313F41}"/>
              </a:ext>
            </a:extLst>
          </p:cNvPr>
          <p:cNvSpPr>
            <a:spLocks noGrp="1"/>
          </p:cNvSpPr>
          <p:nvPr/>
        </p:nvSpPr>
        <p:spPr>
          <a:xfrm>
            <a:off x="12287250" y="5905500"/>
            <a:ext cx="1695450" cy="1028700"/>
          </a:xfrm>
          <a:prstGeom prst="roundRect">
            <a:avLst>
              <a:gd name="adj" fmla="val 9259"/>
            </a:avLst>
          </a:prstGeom>
          <a:solidFill>
            <a:srgbClr val="FFFFFF"/>
          </a:solidFill>
          <a:ln w="14288">
            <a:solidFill>
              <a:srgbClr val="2F7D6D"/>
            </a:solidFill>
            <a:prstDash val="solid"/>
          </a:ln>
        </p:spPr>
      </p:sp>
      <p:sp>
        <p:nvSpPr>
          <p:cNvPr id="10" name="矩形 9">
            <a:extLst>
              <a:ext uri="{FF2B5EF4-FFF2-40B4-BE49-F238E27FC236}">
                <a16:creationId xmlns:a16="http://schemas.microsoft.com/office/drawing/2014/main" id="{2AE9D3C9-1633-4131-87DA-B3298C12397E}"/>
              </a:ext>
            </a:extLst>
          </p:cNvPr>
          <p:cNvSpPr>
            <a:spLocks noGrp="1"/>
          </p:cNvSpPr>
          <p:nvPr/>
        </p:nvSpPr>
        <p:spPr>
          <a:xfrm>
            <a:off x="12363450" y="6286500"/>
            <a:ext cx="1485900" cy="266700"/>
          </a:xfrm>
          <a:prstGeom prst="rect">
            <a:avLst/>
          </a:prstGeom>
        </p:spPr>
        <p:txBody>
          <a:bodyPr lIns="0" tIns="0" rIns="0" bIns="0"/>
          <a:lstStyle/>
          <a:p>
            <a:pPr algn="ctr">
              <a:defRPr sz="1650" b="1">
                <a:solidFill>
                  <a:srgbClr val="18212B"/>
                </a:solidFill>
              </a:defRPr>
            </a:pPr>
            <a:r>
              <a:rPr sz="1650" b="1">
                <a:solidFill>
                  <a:srgbClr val="18212B"/>
                </a:solidFill>
              </a:rPr>
              <a:t>Similar users</a:t>
            </a:r>
          </a:p>
        </p:txBody>
      </p:sp>
      <p:sp>
        <p:nvSpPr>
          <p:cNvPr id="11" name="矩形 10">
            <a:extLst>
              <a:ext uri="{FF2B5EF4-FFF2-40B4-BE49-F238E27FC236}">
                <a16:creationId xmlns:a16="http://schemas.microsoft.com/office/drawing/2014/main" id="{2D1C6F05-516E-4D01-8575-3A14C6968054}"/>
              </a:ext>
            </a:extLst>
          </p:cNvPr>
          <p:cNvSpPr>
            <a:spLocks noGrp="1"/>
          </p:cNvSpPr>
          <p:nvPr/>
        </p:nvSpPr>
        <p:spPr>
          <a:xfrm>
            <a:off x="14020800" y="6267450"/>
            <a:ext cx="28575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12" name="flow-step-3">
            <a:extLst>
              <a:ext uri="{FF2B5EF4-FFF2-40B4-BE49-F238E27FC236}">
                <a16:creationId xmlns:a16="http://schemas.microsoft.com/office/drawing/2014/main" id="{EA3C6193-0884-488C-A905-BC98DB5B6236}"/>
              </a:ext>
            </a:extLst>
          </p:cNvPr>
          <p:cNvSpPr>
            <a:spLocks noGrp="1"/>
          </p:cNvSpPr>
          <p:nvPr/>
        </p:nvSpPr>
        <p:spPr>
          <a:xfrm>
            <a:off x="14420850" y="5905500"/>
            <a:ext cx="1695450" cy="1028700"/>
          </a:xfrm>
          <a:prstGeom prst="roundRect">
            <a:avLst>
              <a:gd name="adj" fmla="val 9259"/>
            </a:avLst>
          </a:prstGeom>
          <a:solidFill>
            <a:srgbClr val="FFFFFF"/>
          </a:solidFill>
          <a:ln w="14288">
            <a:solidFill>
              <a:srgbClr val="C15D3A"/>
            </a:solidFill>
            <a:prstDash val="solid"/>
          </a:ln>
        </p:spPr>
      </p:sp>
      <p:sp>
        <p:nvSpPr>
          <p:cNvPr id="13" name="矩形 12">
            <a:extLst>
              <a:ext uri="{FF2B5EF4-FFF2-40B4-BE49-F238E27FC236}">
                <a16:creationId xmlns:a16="http://schemas.microsoft.com/office/drawing/2014/main" id="{70A00A28-AE56-4D00-AA3C-B420662E87D3}"/>
              </a:ext>
            </a:extLst>
          </p:cNvPr>
          <p:cNvSpPr>
            <a:spLocks noGrp="1"/>
          </p:cNvSpPr>
          <p:nvPr/>
        </p:nvSpPr>
        <p:spPr>
          <a:xfrm>
            <a:off x="14497050" y="6286500"/>
            <a:ext cx="1485900" cy="266700"/>
          </a:xfrm>
          <a:prstGeom prst="rect">
            <a:avLst/>
          </a:prstGeom>
        </p:spPr>
        <p:txBody>
          <a:bodyPr lIns="0" tIns="0" rIns="0" bIns="0"/>
          <a:lstStyle/>
          <a:p>
            <a:pPr algn="ctr">
              <a:defRPr sz="1650" b="1">
                <a:solidFill>
                  <a:srgbClr val="18212B"/>
                </a:solidFill>
              </a:defRPr>
            </a:pPr>
            <a:r>
              <a:rPr sz="1650" b="1">
                <a:solidFill>
                  <a:srgbClr val="18212B"/>
                </a:solidFill>
              </a:rPr>
              <a:t>Similar songs</a:t>
            </a:r>
          </a:p>
        </p:txBody>
      </p:sp>
    </p:spTree>
    <p:extLst>
      <p:ext uri="{BB962C8B-B14F-4D97-AF65-F5344CB8AC3E}">
        <p14:creationId xmlns:p14="http://schemas.microsoft.com/office/powerpoint/2010/main" val="1985094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1" name="slide-number">
            <a:extLst>
              <a:ext uri="{FF2B5EF4-FFF2-40B4-BE49-F238E27FC236}">
                <a16:creationId xmlns:a16="http://schemas.microsoft.com/office/drawing/2014/main" id="{C0DF575A-D854-4F42-B2D3-0EB28185DB64}"/>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02</a:t>
            </a:r>
          </a:p>
        </p:txBody>
      </p:sp>
      <p:sp>
        <p:nvSpPr>
          <p:cNvPr id="2" name="kicker-rule">
            <a:extLst>
              <a:ext uri="{FF2B5EF4-FFF2-40B4-BE49-F238E27FC236}">
                <a16:creationId xmlns:a16="http://schemas.microsoft.com/office/drawing/2014/main" id="{0BBF0C88-CE1D-4646-9D55-759BDE89B5AC}"/>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72640691-C946-435B-9A8F-3F808DD5A743}"/>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60613A26-EBDF-41B6-916D-853DAD59B3B7}"/>
              </a:ext>
            </a:extLst>
          </p:cNvPr>
          <p:cNvSpPr>
            <a:spLocks noGrp="1"/>
          </p:cNvSpPr>
          <p:nvPr/>
        </p:nvSpPr>
        <p:spPr>
          <a:xfrm>
            <a:off x="964739" y="2076259"/>
            <a:ext cx="16611600" cy="914400"/>
          </a:xfrm>
          <a:prstGeom prst="rect">
            <a:avLst/>
          </a:prstGeom>
        </p:spPr>
        <p:txBody>
          <a:bodyPr lIns="0" tIns="0" rIns="0" bIns="0"/>
          <a:lstStyle/>
          <a:p>
            <a:pPr>
              <a:defRPr sz="4050" b="1">
                <a:solidFill>
                  <a:srgbClr val="18212B"/>
                </a:solidFill>
              </a:defRPr>
            </a:pPr>
            <a:r>
              <a:rPr sz="5400" b="1" dirty="0">
                <a:solidFill>
                  <a:srgbClr val="18212B"/>
                </a:solidFill>
              </a:rPr>
              <a:t>Dataset</a:t>
            </a:r>
          </a:p>
        </p:txBody>
      </p:sp>
      <p:sp>
        <p:nvSpPr>
          <p:cNvPr id="5" name="slide-subtitle">
            <a:extLst>
              <a:ext uri="{FF2B5EF4-FFF2-40B4-BE49-F238E27FC236}">
                <a16:creationId xmlns:a16="http://schemas.microsoft.com/office/drawing/2014/main" id="{CE5C8AEA-4E95-49B1-A564-27B910B8FFB2}"/>
              </a:ext>
            </a:extLst>
          </p:cNvPr>
          <p:cNvSpPr>
            <a:spLocks noGrp="1"/>
          </p:cNvSpPr>
          <p:nvPr/>
        </p:nvSpPr>
        <p:spPr>
          <a:xfrm>
            <a:off x="1117139" y="7372350"/>
            <a:ext cx="13906500" cy="342900"/>
          </a:xfrm>
          <a:prstGeom prst="rect">
            <a:avLst/>
          </a:prstGeom>
        </p:spPr>
        <p:txBody>
          <a:bodyPr lIns="0" tIns="0" rIns="0" bIns="0"/>
          <a:lstStyle/>
          <a:p>
            <a:pPr>
              <a:defRPr sz="2250">
                <a:solidFill>
                  <a:srgbClr val="18212B"/>
                </a:solidFill>
              </a:defRPr>
            </a:pPr>
            <a:r>
              <a:rPr sz="2250" dirty="0" err="1">
                <a:solidFill>
                  <a:srgbClr val="18212B"/>
                </a:solidFill>
              </a:rPr>
              <a:t>KGRec</a:t>
            </a:r>
            <a:r>
              <a:rPr sz="2250" dirty="0">
                <a:solidFill>
                  <a:srgbClr val="18212B"/>
                </a:solidFill>
              </a:rPr>
              <a:t>-music is an implicit-feedback ranking problem</a:t>
            </a:r>
          </a:p>
        </p:txBody>
      </p:sp>
      <p:sp>
        <p:nvSpPr>
          <p:cNvPr id="6" name="stat-value-users">
            <a:extLst>
              <a:ext uri="{FF2B5EF4-FFF2-40B4-BE49-F238E27FC236}">
                <a16:creationId xmlns:a16="http://schemas.microsoft.com/office/drawing/2014/main" id="{E63C65E3-192E-4A14-8119-70E007BCF7AC}"/>
              </a:ext>
            </a:extLst>
          </p:cNvPr>
          <p:cNvSpPr>
            <a:spLocks noGrp="1"/>
          </p:cNvSpPr>
          <p:nvPr/>
        </p:nvSpPr>
        <p:spPr>
          <a:xfrm>
            <a:off x="1050036" y="4228719"/>
            <a:ext cx="2286000" cy="647700"/>
          </a:xfrm>
          <a:prstGeom prst="rect">
            <a:avLst/>
          </a:prstGeom>
        </p:spPr>
        <p:txBody>
          <a:bodyPr lIns="0" tIns="0" rIns="0" bIns="0"/>
          <a:lstStyle/>
          <a:p>
            <a:pPr>
              <a:defRPr sz="4200" b="1">
                <a:solidFill>
                  <a:srgbClr val="2F7D6D"/>
                </a:solidFill>
              </a:defRPr>
            </a:pPr>
            <a:r>
              <a:rPr sz="4200" b="1">
                <a:solidFill>
                  <a:srgbClr val="2F7D6D"/>
                </a:solidFill>
              </a:rPr>
              <a:t>5,199</a:t>
            </a:r>
          </a:p>
        </p:txBody>
      </p:sp>
      <p:sp>
        <p:nvSpPr>
          <p:cNvPr id="7" name="stat-label-users">
            <a:extLst>
              <a:ext uri="{FF2B5EF4-FFF2-40B4-BE49-F238E27FC236}">
                <a16:creationId xmlns:a16="http://schemas.microsoft.com/office/drawing/2014/main" id="{D4C836C6-43BF-439E-A40E-38A247DE8940}"/>
              </a:ext>
            </a:extLst>
          </p:cNvPr>
          <p:cNvSpPr>
            <a:spLocks noGrp="1"/>
          </p:cNvSpPr>
          <p:nvPr/>
        </p:nvSpPr>
        <p:spPr>
          <a:xfrm>
            <a:off x="1050036" y="4933569"/>
            <a:ext cx="2286000" cy="247650"/>
          </a:xfrm>
          <a:prstGeom prst="rect">
            <a:avLst/>
          </a:prstGeom>
        </p:spPr>
        <p:txBody>
          <a:bodyPr lIns="0" tIns="0" rIns="0" bIns="0"/>
          <a:lstStyle/>
          <a:p>
            <a:pPr>
              <a:defRPr sz="1575" b="1">
                <a:solidFill>
                  <a:srgbClr val="18212B"/>
                </a:solidFill>
              </a:defRPr>
            </a:pPr>
            <a:r>
              <a:rPr sz="1575" b="1">
                <a:solidFill>
                  <a:srgbClr val="18212B"/>
                </a:solidFill>
              </a:rPr>
              <a:t>users</a:t>
            </a:r>
          </a:p>
        </p:txBody>
      </p:sp>
      <p:sp>
        <p:nvSpPr>
          <p:cNvPr id="8" name="stat-value-music items">
            <a:extLst>
              <a:ext uri="{FF2B5EF4-FFF2-40B4-BE49-F238E27FC236}">
                <a16:creationId xmlns:a16="http://schemas.microsoft.com/office/drawing/2014/main" id="{DC3B5BE1-60E4-432A-864A-2B25944ACB14}"/>
              </a:ext>
            </a:extLst>
          </p:cNvPr>
          <p:cNvSpPr>
            <a:spLocks noGrp="1"/>
          </p:cNvSpPr>
          <p:nvPr/>
        </p:nvSpPr>
        <p:spPr>
          <a:xfrm>
            <a:off x="3755136" y="4228719"/>
            <a:ext cx="2286000" cy="647700"/>
          </a:xfrm>
          <a:prstGeom prst="rect">
            <a:avLst/>
          </a:prstGeom>
        </p:spPr>
        <p:txBody>
          <a:bodyPr lIns="0" tIns="0" rIns="0" bIns="0"/>
          <a:lstStyle/>
          <a:p>
            <a:pPr>
              <a:defRPr sz="4200" b="1">
                <a:solidFill>
                  <a:srgbClr val="446B8C"/>
                </a:solidFill>
              </a:defRPr>
            </a:pPr>
            <a:r>
              <a:rPr sz="4200" b="1">
                <a:solidFill>
                  <a:srgbClr val="446B8C"/>
                </a:solidFill>
              </a:rPr>
              <a:t>8,640</a:t>
            </a:r>
          </a:p>
        </p:txBody>
      </p:sp>
      <p:sp>
        <p:nvSpPr>
          <p:cNvPr id="9" name="stat-label-music items">
            <a:extLst>
              <a:ext uri="{FF2B5EF4-FFF2-40B4-BE49-F238E27FC236}">
                <a16:creationId xmlns:a16="http://schemas.microsoft.com/office/drawing/2014/main" id="{F7153C41-8D71-41A9-AFB4-3A34819ADF1D}"/>
              </a:ext>
            </a:extLst>
          </p:cNvPr>
          <p:cNvSpPr>
            <a:spLocks noGrp="1"/>
          </p:cNvSpPr>
          <p:nvPr/>
        </p:nvSpPr>
        <p:spPr>
          <a:xfrm>
            <a:off x="3755136" y="4933569"/>
            <a:ext cx="2286000" cy="247650"/>
          </a:xfrm>
          <a:prstGeom prst="rect">
            <a:avLst/>
          </a:prstGeom>
        </p:spPr>
        <p:txBody>
          <a:bodyPr lIns="0" tIns="0" rIns="0" bIns="0"/>
          <a:lstStyle/>
          <a:p>
            <a:pPr>
              <a:defRPr sz="1575" b="1">
                <a:solidFill>
                  <a:srgbClr val="18212B"/>
                </a:solidFill>
              </a:defRPr>
            </a:pPr>
            <a:r>
              <a:rPr sz="1575" b="1">
                <a:solidFill>
                  <a:srgbClr val="18212B"/>
                </a:solidFill>
              </a:rPr>
              <a:t>music items</a:t>
            </a:r>
          </a:p>
        </p:txBody>
      </p:sp>
      <p:sp>
        <p:nvSpPr>
          <p:cNvPr id="10" name="stat-value-interactions">
            <a:extLst>
              <a:ext uri="{FF2B5EF4-FFF2-40B4-BE49-F238E27FC236}">
                <a16:creationId xmlns:a16="http://schemas.microsoft.com/office/drawing/2014/main" id="{A6B72579-1645-49AF-837D-B0BD93087C56}"/>
              </a:ext>
            </a:extLst>
          </p:cNvPr>
          <p:cNvSpPr>
            <a:spLocks noGrp="1"/>
          </p:cNvSpPr>
          <p:nvPr/>
        </p:nvSpPr>
        <p:spPr>
          <a:xfrm>
            <a:off x="6278118" y="4228719"/>
            <a:ext cx="2286000" cy="647700"/>
          </a:xfrm>
          <a:prstGeom prst="rect">
            <a:avLst/>
          </a:prstGeom>
        </p:spPr>
        <p:txBody>
          <a:bodyPr lIns="0" tIns="0" rIns="0" bIns="0"/>
          <a:lstStyle/>
          <a:p>
            <a:pPr>
              <a:defRPr sz="4200" b="1">
                <a:solidFill>
                  <a:srgbClr val="C15D3A"/>
                </a:solidFill>
              </a:defRPr>
            </a:pPr>
            <a:r>
              <a:rPr sz="4200" b="1">
                <a:solidFill>
                  <a:srgbClr val="C15D3A"/>
                </a:solidFill>
              </a:rPr>
              <a:t>751,531</a:t>
            </a:r>
          </a:p>
        </p:txBody>
      </p:sp>
      <p:sp>
        <p:nvSpPr>
          <p:cNvPr id="11" name="stat-label-interactions">
            <a:extLst>
              <a:ext uri="{FF2B5EF4-FFF2-40B4-BE49-F238E27FC236}">
                <a16:creationId xmlns:a16="http://schemas.microsoft.com/office/drawing/2014/main" id="{C9C82755-4DB5-47D1-A6AE-B66A9C96D6F4}"/>
              </a:ext>
            </a:extLst>
          </p:cNvPr>
          <p:cNvSpPr>
            <a:spLocks noGrp="1"/>
          </p:cNvSpPr>
          <p:nvPr/>
        </p:nvSpPr>
        <p:spPr>
          <a:xfrm>
            <a:off x="6479286" y="4933569"/>
            <a:ext cx="2286000" cy="247650"/>
          </a:xfrm>
          <a:prstGeom prst="rect">
            <a:avLst/>
          </a:prstGeom>
        </p:spPr>
        <p:txBody>
          <a:bodyPr lIns="0" tIns="0" rIns="0" bIns="0"/>
          <a:lstStyle/>
          <a:p>
            <a:pPr>
              <a:defRPr sz="1575" b="1">
                <a:solidFill>
                  <a:srgbClr val="18212B"/>
                </a:solidFill>
              </a:defRPr>
            </a:pPr>
            <a:r>
              <a:rPr sz="1575" b="1">
                <a:solidFill>
                  <a:srgbClr val="18212B"/>
                </a:solidFill>
              </a:rPr>
              <a:t>interactions</a:t>
            </a:r>
          </a:p>
        </p:txBody>
      </p:sp>
      <p:sp>
        <p:nvSpPr>
          <p:cNvPr id="12" name="dataset-bullets-1">
            <a:extLst>
              <a:ext uri="{FF2B5EF4-FFF2-40B4-BE49-F238E27FC236}">
                <a16:creationId xmlns:a16="http://schemas.microsoft.com/office/drawing/2014/main" id="{F31BE4A6-B846-4D51-B6D5-36EB500B6156}"/>
              </a:ext>
            </a:extLst>
          </p:cNvPr>
          <p:cNvSpPr>
            <a:spLocks noGrp="1"/>
          </p:cNvSpPr>
          <p:nvPr/>
        </p:nvSpPr>
        <p:spPr>
          <a:xfrm>
            <a:off x="1050036" y="5390769"/>
            <a:ext cx="7715250" cy="323850"/>
          </a:xfrm>
          <a:prstGeom prst="rect">
            <a:avLst/>
          </a:prstGeom>
        </p:spPr>
        <p:txBody>
          <a:bodyPr lIns="0" tIns="0" rIns="0" bIns="0"/>
          <a:lstStyle/>
          <a:p>
            <a:pPr>
              <a:defRPr sz="2025">
                <a:solidFill>
                  <a:srgbClr val="18212B"/>
                </a:solidFill>
              </a:defRPr>
            </a:pPr>
            <a:r>
              <a:rPr sz="2025" dirty="0">
                <a:solidFill>
                  <a:srgbClr val="18212B"/>
                </a:solidFill>
              </a:rPr>
              <a:t>- Each interaction is marked as 1: observed behavior, not satisfaction.</a:t>
            </a:r>
          </a:p>
        </p:txBody>
      </p:sp>
      <p:sp>
        <p:nvSpPr>
          <p:cNvPr id="13" name="dataset-bullets-2">
            <a:extLst>
              <a:ext uri="{FF2B5EF4-FFF2-40B4-BE49-F238E27FC236}">
                <a16:creationId xmlns:a16="http://schemas.microsoft.com/office/drawing/2014/main" id="{BCDCFAA1-282F-4D02-B385-755691B1CF90}"/>
              </a:ext>
            </a:extLst>
          </p:cNvPr>
          <p:cNvSpPr>
            <a:spLocks noGrp="1"/>
          </p:cNvSpPr>
          <p:nvPr/>
        </p:nvSpPr>
        <p:spPr>
          <a:xfrm>
            <a:off x="1117139" y="5924169"/>
            <a:ext cx="7715250" cy="1233279"/>
          </a:xfrm>
          <a:prstGeom prst="rect">
            <a:avLst/>
          </a:prstGeom>
        </p:spPr>
        <p:txBody>
          <a:bodyPr lIns="0" tIns="0" rIns="0" bIns="0"/>
          <a:lstStyle/>
          <a:p>
            <a:pPr>
              <a:defRPr sz="2025">
                <a:solidFill>
                  <a:srgbClr val="18212B"/>
                </a:solidFill>
              </a:defRPr>
            </a:pPr>
            <a:r>
              <a:rPr sz="2025" dirty="0">
                <a:solidFill>
                  <a:srgbClr val="18212B"/>
                </a:solidFill>
              </a:rPr>
              <a:t>- </a:t>
            </a:r>
            <a:r>
              <a:rPr lang="en-US" sz="2025" dirty="0">
                <a:solidFill>
                  <a:srgbClr val="18212B"/>
                </a:solidFill>
              </a:rPr>
              <a:t>Does not tell us whether the user gave it a high rating, disliked it, skipped it, or listened to it many times.</a:t>
            </a:r>
          </a:p>
          <a:p>
            <a:pPr>
              <a:defRPr sz="2025">
                <a:solidFill>
                  <a:srgbClr val="18212B"/>
                </a:solidFill>
              </a:defRPr>
            </a:pPr>
            <a:endParaRPr lang="en-US" sz="2025" dirty="0">
              <a:solidFill>
                <a:srgbClr val="18212B"/>
              </a:solidFill>
            </a:endParaRPr>
          </a:p>
          <a:p>
            <a:pPr>
              <a:defRPr sz="2025">
                <a:solidFill>
                  <a:srgbClr val="18212B"/>
                </a:solidFill>
              </a:defRPr>
            </a:pPr>
            <a:r>
              <a:rPr lang="en-US" sz="2025" dirty="0">
                <a:solidFill>
                  <a:srgbClr val="18212B"/>
                </a:solidFill>
              </a:rPr>
              <a:t>- </a:t>
            </a:r>
            <a:r>
              <a:rPr sz="2025" dirty="0">
                <a:solidFill>
                  <a:srgbClr val="18212B"/>
                </a:solidFill>
              </a:rPr>
              <a:t>The model ranks candidate songs instead of predicting ratings.</a:t>
            </a:r>
          </a:p>
        </p:txBody>
      </p:sp>
      <p:sp>
        <p:nvSpPr>
          <p:cNvPr id="15" name="ranking-visual">
            <a:extLst>
              <a:ext uri="{FF2B5EF4-FFF2-40B4-BE49-F238E27FC236}">
                <a16:creationId xmlns:a16="http://schemas.microsoft.com/office/drawing/2014/main" id="{18C7BD6C-0D75-4C66-B130-103F250E2DEC}"/>
              </a:ext>
            </a:extLst>
          </p:cNvPr>
          <p:cNvSpPr>
            <a:spLocks noGrp="1"/>
          </p:cNvSpPr>
          <p:nvPr/>
        </p:nvSpPr>
        <p:spPr>
          <a:xfrm>
            <a:off x="9270539" y="4611170"/>
            <a:ext cx="8360664" cy="3104080"/>
          </a:xfrm>
          <a:prstGeom prst="roundRect">
            <a:avLst>
              <a:gd name="adj" fmla="val 2857"/>
            </a:avLst>
          </a:prstGeom>
          <a:solidFill>
            <a:srgbClr val="FFFFFF"/>
          </a:solidFill>
          <a:ln w="9525">
            <a:solidFill>
              <a:srgbClr val="C7D1CC"/>
            </a:solidFill>
            <a:prstDash val="solid"/>
          </a:ln>
        </p:spPr>
      </p:sp>
      <p:sp>
        <p:nvSpPr>
          <p:cNvPr id="16" name="矩形 15">
            <a:extLst>
              <a:ext uri="{FF2B5EF4-FFF2-40B4-BE49-F238E27FC236}">
                <a16:creationId xmlns:a16="http://schemas.microsoft.com/office/drawing/2014/main" id="{C13B05B5-C8EC-435F-85B0-06DF448D7BEB}"/>
              </a:ext>
            </a:extLst>
          </p:cNvPr>
          <p:cNvSpPr>
            <a:spLocks noGrp="1"/>
          </p:cNvSpPr>
          <p:nvPr/>
        </p:nvSpPr>
        <p:spPr>
          <a:xfrm>
            <a:off x="9729263" y="5164001"/>
            <a:ext cx="7715250" cy="247650"/>
          </a:xfrm>
          <a:prstGeom prst="rect">
            <a:avLst/>
          </a:prstGeom>
        </p:spPr>
        <p:txBody>
          <a:bodyPr lIns="0" tIns="0" rIns="0" bIns="0"/>
          <a:lstStyle/>
          <a:p>
            <a:pPr>
              <a:defRPr sz="1575" b="1">
                <a:solidFill>
                  <a:srgbClr val="2F7D6D"/>
                </a:solidFill>
              </a:defRPr>
            </a:pPr>
            <a:r>
              <a:rPr sz="1575" b="1" dirty="0">
                <a:solidFill>
                  <a:srgbClr val="2F7D6D"/>
                </a:solidFill>
              </a:rPr>
              <a:t>Top-K ranking protocol</a:t>
            </a:r>
          </a:p>
        </p:txBody>
      </p:sp>
      <p:sp>
        <p:nvSpPr>
          <p:cNvPr id="17" name="矩形: 圆角 16">
            <a:extLst>
              <a:ext uri="{FF2B5EF4-FFF2-40B4-BE49-F238E27FC236}">
                <a16:creationId xmlns:a16="http://schemas.microsoft.com/office/drawing/2014/main" id="{CDFD382C-D207-4B56-B2A3-AECEBA4197D5}"/>
              </a:ext>
            </a:extLst>
          </p:cNvPr>
          <p:cNvSpPr>
            <a:spLocks noGrp="1"/>
          </p:cNvSpPr>
          <p:nvPr/>
        </p:nvSpPr>
        <p:spPr>
          <a:xfrm>
            <a:off x="10263425" y="5773220"/>
            <a:ext cx="1562100" cy="990600"/>
          </a:xfrm>
          <a:prstGeom prst="roundRect">
            <a:avLst>
              <a:gd name="adj" fmla="val 9615"/>
            </a:avLst>
          </a:prstGeom>
          <a:solidFill>
            <a:srgbClr val="FFFFFF"/>
          </a:solidFill>
          <a:ln w="14288">
            <a:solidFill>
              <a:srgbClr val="446B8C"/>
            </a:solidFill>
            <a:prstDash val="solid"/>
          </a:ln>
        </p:spPr>
      </p:sp>
      <p:sp>
        <p:nvSpPr>
          <p:cNvPr id="18" name="矩形 17">
            <a:extLst>
              <a:ext uri="{FF2B5EF4-FFF2-40B4-BE49-F238E27FC236}">
                <a16:creationId xmlns:a16="http://schemas.microsoft.com/office/drawing/2014/main" id="{35F82753-5E08-43DD-9529-A981CB1CD3C0}"/>
              </a:ext>
            </a:extLst>
          </p:cNvPr>
          <p:cNvSpPr>
            <a:spLocks noGrp="1"/>
          </p:cNvSpPr>
          <p:nvPr/>
        </p:nvSpPr>
        <p:spPr>
          <a:xfrm>
            <a:off x="10394489" y="6020870"/>
            <a:ext cx="1295400" cy="495300"/>
          </a:xfrm>
          <a:prstGeom prst="rect">
            <a:avLst/>
          </a:prstGeom>
        </p:spPr>
        <p:txBody>
          <a:bodyPr lIns="0" tIns="0" rIns="0" bIns="0"/>
          <a:lstStyle/>
          <a:p>
            <a:pPr algn="ctr">
              <a:defRPr sz="1575" b="1">
                <a:solidFill>
                  <a:srgbClr val="18212B"/>
                </a:solidFill>
              </a:defRPr>
            </a:pPr>
            <a:r>
              <a:rPr sz="1575" b="1">
                <a:solidFill>
                  <a:srgbClr val="18212B"/>
                </a:solidFill>
              </a:rPr>
              <a:t>Partial user</a:t>
            </a:r>
          </a:p>
          <a:p>
            <a:pPr algn="ctr">
              <a:defRPr sz="1575" b="1">
                <a:solidFill>
                  <a:srgbClr val="18212B"/>
                </a:solidFill>
              </a:defRPr>
            </a:pPr>
            <a:r>
              <a:rPr sz="1575" b="1">
                <a:solidFill>
                  <a:srgbClr val="18212B"/>
                </a:solidFill>
              </a:rPr>
              <a:t>history</a:t>
            </a:r>
          </a:p>
        </p:txBody>
      </p:sp>
      <p:sp>
        <p:nvSpPr>
          <p:cNvPr id="19" name="矩形 18">
            <a:extLst>
              <a:ext uri="{FF2B5EF4-FFF2-40B4-BE49-F238E27FC236}">
                <a16:creationId xmlns:a16="http://schemas.microsoft.com/office/drawing/2014/main" id="{6838CC2B-5FA8-4321-BB2E-10A2DFCA9CBA}"/>
              </a:ext>
            </a:extLst>
          </p:cNvPr>
          <p:cNvSpPr>
            <a:spLocks noGrp="1"/>
          </p:cNvSpPr>
          <p:nvPr/>
        </p:nvSpPr>
        <p:spPr>
          <a:xfrm>
            <a:off x="11956589" y="6116120"/>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20" name="矩形: 圆角 19">
            <a:extLst>
              <a:ext uri="{FF2B5EF4-FFF2-40B4-BE49-F238E27FC236}">
                <a16:creationId xmlns:a16="http://schemas.microsoft.com/office/drawing/2014/main" id="{5B544837-77C6-4BCE-B6C6-C605EEBF71EB}"/>
              </a:ext>
            </a:extLst>
          </p:cNvPr>
          <p:cNvSpPr>
            <a:spLocks noGrp="1"/>
          </p:cNvSpPr>
          <p:nvPr/>
        </p:nvSpPr>
        <p:spPr>
          <a:xfrm>
            <a:off x="12473225" y="5773220"/>
            <a:ext cx="1809750" cy="990600"/>
          </a:xfrm>
          <a:prstGeom prst="roundRect">
            <a:avLst>
              <a:gd name="adj" fmla="val 9615"/>
            </a:avLst>
          </a:prstGeom>
          <a:solidFill>
            <a:srgbClr val="FFFFFF"/>
          </a:solidFill>
          <a:ln w="14288">
            <a:solidFill>
              <a:srgbClr val="2F7D6D"/>
            </a:solidFill>
            <a:prstDash val="solid"/>
          </a:ln>
        </p:spPr>
      </p:sp>
      <p:sp>
        <p:nvSpPr>
          <p:cNvPr id="21" name="矩形 20">
            <a:extLst>
              <a:ext uri="{FF2B5EF4-FFF2-40B4-BE49-F238E27FC236}">
                <a16:creationId xmlns:a16="http://schemas.microsoft.com/office/drawing/2014/main" id="{F98D93B9-75FE-466E-9788-CFDFF94D7703}"/>
              </a:ext>
            </a:extLst>
          </p:cNvPr>
          <p:cNvSpPr>
            <a:spLocks noGrp="1"/>
          </p:cNvSpPr>
          <p:nvPr/>
        </p:nvSpPr>
        <p:spPr>
          <a:xfrm>
            <a:off x="12604289" y="6039920"/>
            <a:ext cx="1562100" cy="457200"/>
          </a:xfrm>
          <a:prstGeom prst="rect">
            <a:avLst/>
          </a:prstGeom>
        </p:spPr>
        <p:txBody>
          <a:bodyPr lIns="0" tIns="0" rIns="0" bIns="0"/>
          <a:lstStyle/>
          <a:p>
            <a:pPr algn="ctr">
              <a:defRPr sz="1500" b="1">
                <a:solidFill>
                  <a:srgbClr val="18212B"/>
                </a:solidFill>
              </a:defRPr>
            </a:pPr>
            <a:r>
              <a:rPr sz="1500" b="1">
                <a:solidFill>
                  <a:srgbClr val="18212B"/>
                </a:solidFill>
              </a:rPr>
              <a:t>Rank unseen</a:t>
            </a:r>
          </a:p>
          <a:p>
            <a:pPr algn="ctr">
              <a:defRPr sz="1500" b="1">
                <a:solidFill>
                  <a:srgbClr val="18212B"/>
                </a:solidFill>
              </a:defRPr>
            </a:pPr>
            <a:r>
              <a:rPr sz="1500" b="1">
                <a:solidFill>
                  <a:srgbClr val="18212B"/>
                </a:solidFill>
              </a:rPr>
              <a:t>candidate songs</a:t>
            </a:r>
          </a:p>
        </p:txBody>
      </p:sp>
      <p:sp>
        <p:nvSpPr>
          <p:cNvPr id="22" name="矩形 21">
            <a:extLst>
              <a:ext uri="{FF2B5EF4-FFF2-40B4-BE49-F238E27FC236}">
                <a16:creationId xmlns:a16="http://schemas.microsoft.com/office/drawing/2014/main" id="{8539CF0F-B911-41EA-86DC-8BA1E9736800}"/>
              </a:ext>
            </a:extLst>
          </p:cNvPr>
          <p:cNvSpPr>
            <a:spLocks noGrp="1"/>
          </p:cNvSpPr>
          <p:nvPr/>
        </p:nvSpPr>
        <p:spPr>
          <a:xfrm>
            <a:off x="14414039" y="6116120"/>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23" name="矩形: 圆角 22">
            <a:extLst>
              <a:ext uri="{FF2B5EF4-FFF2-40B4-BE49-F238E27FC236}">
                <a16:creationId xmlns:a16="http://schemas.microsoft.com/office/drawing/2014/main" id="{6EA888AF-742B-43FB-B266-31BC884E0E34}"/>
              </a:ext>
            </a:extLst>
          </p:cNvPr>
          <p:cNvSpPr>
            <a:spLocks noGrp="1"/>
          </p:cNvSpPr>
          <p:nvPr/>
        </p:nvSpPr>
        <p:spPr>
          <a:xfrm>
            <a:off x="14937914" y="5753789"/>
            <a:ext cx="1695450" cy="990600"/>
          </a:xfrm>
          <a:prstGeom prst="roundRect">
            <a:avLst>
              <a:gd name="adj" fmla="val 9615"/>
            </a:avLst>
          </a:prstGeom>
          <a:solidFill>
            <a:srgbClr val="FFFFFF"/>
          </a:solidFill>
          <a:ln w="14288">
            <a:solidFill>
              <a:srgbClr val="C15D3A"/>
            </a:solidFill>
            <a:prstDash val="solid"/>
          </a:ln>
        </p:spPr>
      </p:sp>
      <p:sp>
        <p:nvSpPr>
          <p:cNvPr id="24" name="矩形 23">
            <a:extLst>
              <a:ext uri="{FF2B5EF4-FFF2-40B4-BE49-F238E27FC236}">
                <a16:creationId xmlns:a16="http://schemas.microsoft.com/office/drawing/2014/main" id="{4294E3E8-D612-4449-849A-DE17C761B8AA}"/>
              </a:ext>
            </a:extLst>
          </p:cNvPr>
          <p:cNvSpPr>
            <a:spLocks noGrp="1"/>
          </p:cNvSpPr>
          <p:nvPr/>
        </p:nvSpPr>
        <p:spPr>
          <a:xfrm>
            <a:off x="15061739" y="6001439"/>
            <a:ext cx="1447800" cy="457200"/>
          </a:xfrm>
          <a:prstGeom prst="rect">
            <a:avLst/>
          </a:prstGeom>
        </p:spPr>
        <p:txBody>
          <a:bodyPr lIns="0" tIns="0" rIns="0" bIns="0"/>
          <a:lstStyle/>
          <a:p>
            <a:pPr algn="ctr">
              <a:defRPr sz="1500" b="1">
                <a:solidFill>
                  <a:srgbClr val="18212B"/>
                </a:solidFill>
              </a:defRPr>
            </a:pPr>
            <a:r>
              <a:rPr sz="1500" b="1" dirty="0">
                <a:solidFill>
                  <a:srgbClr val="18212B"/>
                </a:solidFill>
              </a:rPr>
              <a:t>Top-K</a:t>
            </a:r>
          </a:p>
          <a:p>
            <a:pPr algn="ctr">
              <a:defRPr sz="1500" b="1">
                <a:solidFill>
                  <a:srgbClr val="18212B"/>
                </a:solidFill>
              </a:defRPr>
            </a:pPr>
            <a:r>
              <a:rPr sz="1500" b="1" dirty="0">
                <a:solidFill>
                  <a:srgbClr val="18212B"/>
                </a:solidFill>
              </a:rPr>
              <a:t>recommendations</a:t>
            </a:r>
          </a:p>
        </p:txBody>
      </p:sp>
      <p:sp>
        <p:nvSpPr>
          <p:cNvPr id="29" name="footer-rule">
            <a:extLst>
              <a:ext uri="{FF2B5EF4-FFF2-40B4-BE49-F238E27FC236}">
                <a16:creationId xmlns:a16="http://schemas.microsoft.com/office/drawing/2014/main" id="{BE20F64E-D796-4DE3-A126-D1358462E1F4}"/>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30" name="source-rail">
            <a:extLst>
              <a:ext uri="{FF2B5EF4-FFF2-40B4-BE49-F238E27FC236}">
                <a16:creationId xmlns:a16="http://schemas.microsoft.com/office/drawing/2014/main" id="{AD9235F4-063D-4717-9BBB-2D521CADD49A}"/>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Source: KGRec-music preprocessing summary and final_report.txt</a:t>
            </a:r>
          </a:p>
        </p:txBody>
      </p:sp>
    </p:spTree>
    <p:extLst>
      <p:ext uri="{BB962C8B-B14F-4D97-AF65-F5344CB8AC3E}">
        <p14:creationId xmlns:p14="http://schemas.microsoft.com/office/powerpoint/2010/main" val="1881183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5" name="slide-number">
            <a:extLst>
              <a:ext uri="{FF2B5EF4-FFF2-40B4-BE49-F238E27FC236}">
                <a16:creationId xmlns:a16="http://schemas.microsoft.com/office/drawing/2014/main" id="{9113B64A-993D-412B-B243-4B93A83C2CFA}"/>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03</a:t>
            </a:r>
          </a:p>
        </p:txBody>
      </p:sp>
      <p:sp>
        <p:nvSpPr>
          <p:cNvPr id="2" name="kicker-rule">
            <a:extLst>
              <a:ext uri="{FF2B5EF4-FFF2-40B4-BE49-F238E27FC236}">
                <a16:creationId xmlns:a16="http://schemas.microsoft.com/office/drawing/2014/main" id="{06468BBA-40CE-4083-85D3-E2DC90E87FA3}"/>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A153BF11-4762-49BE-9A51-E952EC5BAEE2}"/>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FB0EA53B-C317-4185-B6BF-931F9456CE8C}"/>
              </a:ext>
            </a:extLst>
          </p:cNvPr>
          <p:cNvSpPr>
            <a:spLocks noGrp="1"/>
          </p:cNvSpPr>
          <p:nvPr/>
        </p:nvSpPr>
        <p:spPr>
          <a:xfrm>
            <a:off x="838200" y="1718310"/>
            <a:ext cx="16611600" cy="914400"/>
          </a:xfrm>
          <a:prstGeom prst="rect">
            <a:avLst/>
          </a:prstGeom>
        </p:spPr>
        <p:txBody>
          <a:bodyPr lIns="0" tIns="0" rIns="0" bIns="0"/>
          <a:lstStyle/>
          <a:p>
            <a:pPr>
              <a:defRPr sz="4050" b="1">
                <a:solidFill>
                  <a:srgbClr val="18212B"/>
                </a:solidFill>
              </a:defRPr>
            </a:pPr>
            <a:r>
              <a:rPr lang="en-US" sz="4050" b="1" dirty="0">
                <a:solidFill>
                  <a:srgbClr val="18212B"/>
                </a:solidFill>
              </a:rPr>
              <a:t>Step 2: Dataset Preprocessing Pipeline</a:t>
            </a:r>
            <a:endParaRPr sz="4050" b="1" dirty="0">
              <a:solidFill>
                <a:srgbClr val="18212B"/>
              </a:solidFill>
            </a:endParaRPr>
          </a:p>
        </p:txBody>
      </p:sp>
      <p:sp>
        <p:nvSpPr>
          <p:cNvPr id="6" name="preprocess-bullets-1">
            <a:extLst>
              <a:ext uri="{FF2B5EF4-FFF2-40B4-BE49-F238E27FC236}">
                <a16:creationId xmlns:a16="http://schemas.microsoft.com/office/drawing/2014/main" id="{79E06562-A8F6-46EC-8F66-9F731796462A}"/>
              </a:ext>
            </a:extLst>
          </p:cNvPr>
          <p:cNvSpPr>
            <a:spLocks noGrp="1"/>
          </p:cNvSpPr>
          <p:nvPr/>
        </p:nvSpPr>
        <p:spPr>
          <a:xfrm>
            <a:off x="838200" y="4316729"/>
            <a:ext cx="7715250" cy="870715"/>
          </a:xfrm>
          <a:prstGeom prst="rect">
            <a:avLst/>
          </a:prstGeom>
        </p:spPr>
        <p:txBody>
          <a:bodyPr lIns="0" tIns="0" rIns="0" bIns="0"/>
          <a:lstStyle/>
          <a:p>
            <a:pPr>
              <a:defRPr sz="2325">
                <a:solidFill>
                  <a:srgbClr val="18212B"/>
                </a:solidFill>
              </a:defRPr>
            </a:pPr>
            <a:r>
              <a:rPr sz="2325" dirty="0">
                <a:solidFill>
                  <a:srgbClr val="18212B"/>
                </a:solidFill>
              </a:rPr>
              <a:t>- Map raw user and item IDs into continuous internal indices</a:t>
            </a:r>
            <a:r>
              <a:rPr lang="en-US" sz="2325" dirty="0">
                <a:solidFill>
                  <a:srgbClr val="18212B"/>
                </a:solidFill>
              </a:rPr>
              <a:t>, which is needed for the content-based model.</a:t>
            </a:r>
            <a:endParaRPr sz="2325" dirty="0">
              <a:solidFill>
                <a:srgbClr val="18212B"/>
              </a:solidFill>
            </a:endParaRPr>
          </a:p>
        </p:txBody>
      </p:sp>
      <p:sp>
        <p:nvSpPr>
          <p:cNvPr id="7" name="preprocess-bullets-2">
            <a:extLst>
              <a:ext uri="{FF2B5EF4-FFF2-40B4-BE49-F238E27FC236}">
                <a16:creationId xmlns:a16="http://schemas.microsoft.com/office/drawing/2014/main" id="{59AEE6BE-17EF-4C11-8C4C-F2C8573C5EA1}"/>
              </a:ext>
            </a:extLst>
          </p:cNvPr>
          <p:cNvSpPr>
            <a:spLocks noGrp="1"/>
          </p:cNvSpPr>
          <p:nvPr/>
        </p:nvSpPr>
        <p:spPr>
          <a:xfrm>
            <a:off x="838200" y="5459730"/>
            <a:ext cx="7715250" cy="723900"/>
          </a:xfrm>
          <a:prstGeom prst="rect">
            <a:avLst/>
          </a:prstGeom>
        </p:spPr>
        <p:txBody>
          <a:bodyPr lIns="0" tIns="0" rIns="0" bIns="0"/>
          <a:lstStyle/>
          <a:p>
            <a:pPr>
              <a:defRPr sz="2325">
                <a:solidFill>
                  <a:srgbClr val="18212B"/>
                </a:solidFill>
              </a:defRPr>
            </a:pPr>
            <a:r>
              <a:rPr lang="en-US" altLang="zh-CN" sz="2400" dirty="0"/>
              <a:t>- For example, users can be mapped from 0 to 5198, and items from 0 to 8639.</a:t>
            </a:r>
            <a:endParaRPr sz="2325" dirty="0">
              <a:solidFill>
                <a:srgbClr val="18212B"/>
              </a:solidFill>
            </a:endParaRPr>
          </a:p>
        </p:txBody>
      </p:sp>
      <p:sp>
        <p:nvSpPr>
          <p:cNvPr id="8" name="preprocess-bullets-3">
            <a:extLst>
              <a:ext uri="{FF2B5EF4-FFF2-40B4-BE49-F238E27FC236}">
                <a16:creationId xmlns:a16="http://schemas.microsoft.com/office/drawing/2014/main" id="{2B653EE8-4581-43BA-BA59-4D70586CCE50}"/>
              </a:ext>
            </a:extLst>
          </p:cNvPr>
          <p:cNvSpPr>
            <a:spLocks noGrp="1"/>
          </p:cNvSpPr>
          <p:nvPr/>
        </p:nvSpPr>
        <p:spPr>
          <a:xfrm>
            <a:off x="838200" y="6560916"/>
            <a:ext cx="7715250" cy="723900"/>
          </a:xfrm>
          <a:prstGeom prst="rect">
            <a:avLst/>
          </a:prstGeom>
        </p:spPr>
        <p:txBody>
          <a:bodyPr lIns="0" tIns="0" rIns="0" bIns="0"/>
          <a:lstStyle/>
          <a:p>
            <a:pPr>
              <a:defRPr sz="2325">
                <a:solidFill>
                  <a:srgbClr val="18212B"/>
                </a:solidFill>
              </a:defRPr>
            </a:pPr>
            <a:r>
              <a:rPr sz="2325" dirty="0">
                <a:solidFill>
                  <a:srgbClr val="18212B"/>
                </a:solidFill>
              </a:rPr>
              <a:t>- Build item feature vectors for both content scoring and diversity evaluation.</a:t>
            </a:r>
          </a:p>
        </p:txBody>
      </p:sp>
      <p:sp>
        <p:nvSpPr>
          <p:cNvPr id="10" name="preprocess-map-panel">
            <a:extLst>
              <a:ext uri="{FF2B5EF4-FFF2-40B4-BE49-F238E27FC236}">
                <a16:creationId xmlns:a16="http://schemas.microsoft.com/office/drawing/2014/main" id="{5FD3AFD3-84BE-4857-9EFB-92C809A1BCCB}"/>
              </a:ext>
            </a:extLst>
          </p:cNvPr>
          <p:cNvSpPr>
            <a:spLocks noGrp="1"/>
          </p:cNvSpPr>
          <p:nvPr/>
        </p:nvSpPr>
        <p:spPr>
          <a:xfrm>
            <a:off x="9089136" y="3409950"/>
            <a:ext cx="8360664" cy="4762500"/>
          </a:xfrm>
          <a:prstGeom prst="roundRect">
            <a:avLst>
              <a:gd name="adj" fmla="val 2400"/>
            </a:avLst>
          </a:prstGeom>
          <a:solidFill>
            <a:srgbClr val="FFFFFF"/>
          </a:solidFill>
          <a:ln w="9525">
            <a:solidFill>
              <a:srgbClr val="C7D1CC"/>
            </a:solidFill>
            <a:prstDash val="solid"/>
          </a:ln>
        </p:spPr>
      </p:sp>
      <p:sp>
        <p:nvSpPr>
          <p:cNvPr id="11" name="矩形 10">
            <a:extLst>
              <a:ext uri="{FF2B5EF4-FFF2-40B4-BE49-F238E27FC236}">
                <a16:creationId xmlns:a16="http://schemas.microsoft.com/office/drawing/2014/main" id="{A9F8F170-DFF5-492C-B46D-A076DE41D423}"/>
              </a:ext>
            </a:extLst>
          </p:cNvPr>
          <p:cNvSpPr>
            <a:spLocks noGrp="1"/>
          </p:cNvSpPr>
          <p:nvPr/>
        </p:nvSpPr>
        <p:spPr>
          <a:xfrm>
            <a:off x="9391650" y="4488180"/>
            <a:ext cx="762000" cy="266700"/>
          </a:xfrm>
          <a:prstGeom prst="rect">
            <a:avLst/>
          </a:prstGeom>
        </p:spPr>
        <p:txBody>
          <a:bodyPr lIns="0" tIns="0" rIns="0" bIns="0"/>
          <a:lstStyle/>
          <a:p>
            <a:pPr>
              <a:defRPr sz="1650" b="1">
                <a:solidFill>
                  <a:srgbClr val="446B8C"/>
                </a:solidFill>
              </a:defRPr>
            </a:pPr>
            <a:r>
              <a:rPr sz="1650" b="1">
                <a:solidFill>
                  <a:srgbClr val="446B8C"/>
                </a:solidFill>
              </a:rPr>
              <a:t>Users</a:t>
            </a:r>
          </a:p>
        </p:txBody>
      </p:sp>
      <p:sp>
        <p:nvSpPr>
          <p:cNvPr id="12" name="矩形: 圆角 11">
            <a:extLst>
              <a:ext uri="{FF2B5EF4-FFF2-40B4-BE49-F238E27FC236}">
                <a16:creationId xmlns:a16="http://schemas.microsoft.com/office/drawing/2014/main" id="{D213739C-96C8-4070-9E44-F537C971EC5F}"/>
              </a:ext>
            </a:extLst>
          </p:cNvPr>
          <p:cNvSpPr>
            <a:spLocks noGrp="1"/>
          </p:cNvSpPr>
          <p:nvPr/>
        </p:nvSpPr>
        <p:spPr>
          <a:xfrm>
            <a:off x="10289286" y="4202430"/>
            <a:ext cx="1504950" cy="838200"/>
          </a:xfrm>
          <a:prstGeom prst="roundRect">
            <a:avLst>
              <a:gd name="adj" fmla="val 11364"/>
            </a:avLst>
          </a:prstGeom>
          <a:solidFill>
            <a:srgbClr val="FFFFFF"/>
          </a:solidFill>
          <a:ln w="14288">
            <a:solidFill>
              <a:srgbClr val="446B8C"/>
            </a:solidFill>
            <a:prstDash val="solid"/>
          </a:ln>
        </p:spPr>
      </p:sp>
      <p:sp>
        <p:nvSpPr>
          <p:cNvPr id="13" name="矩形 12">
            <a:extLst>
              <a:ext uri="{FF2B5EF4-FFF2-40B4-BE49-F238E27FC236}">
                <a16:creationId xmlns:a16="http://schemas.microsoft.com/office/drawing/2014/main" id="{F71F11E0-FA1B-447E-94FB-06108E3C4F0E}"/>
              </a:ext>
            </a:extLst>
          </p:cNvPr>
          <p:cNvSpPr>
            <a:spLocks noGrp="1"/>
          </p:cNvSpPr>
          <p:nvPr/>
        </p:nvSpPr>
        <p:spPr>
          <a:xfrm>
            <a:off x="10420350" y="4507230"/>
            <a:ext cx="1257300" cy="228600"/>
          </a:xfrm>
          <a:prstGeom prst="rect">
            <a:avLst/>
          </a:prstGeom>
        </p:spPr>
        <p:txBody>
          <a:bodyPr lIns="0" tIns="0" rIns="0" bIns="0"/>
          <a:lstStyle/>
          <a:p>
            <a:pPr algn="ctr">
              <a:defRPr sz="1500" b="1">
                <a:solidFill>
                  <a:srgbClr val="18212B"/>
                </a:solidFill>
              </a:defRPr>
            </a:pPr>
            <a:r>
              <a:rPr sz="1500" b="1">
                <a:solidFill>
                  <a:srgbClr val="18212B"/>
                </a:solidFill>
              </a:rPr>
              <a:t>raw user IDs</a:t>
            </a:r>
          </a:p>
        </p:txBody>
      </p:sp>
      <p:sp>
        <p:nvSpPr>
          <p:cNvPr id="14" name="矩形 13">
            <a:extLst>
              <a:ext uri="{FF2B5EF4-FFF2-40B4-BE49-F238E27FC236}">
                <a16:creationId xmlns:a16="http://schemas.microsoft.com/office/drawing/2014/main" id="{C4087809-0A16-4648-817A-32159A9D3062}"/>
              </a:ext>
            </a:extLst>
          </p:cNvPr>
          <p:cNvSpPr>
            <a:spLocks noGrp="1"/>
          </p:cNvSpPr>
          <p:nvPr/>
        </p:nvSpPr>
        <p:spPr>
          <a:xfrm>
            <a:off x="11925300" y="4469130"/>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15" name="矩形: 圆角 14">
            <a:extLst>
              <a:ext uri="{FF2B5EF4-FFF2-40B4-BE49-F238E27FC236}">
                <a16:creationId xmlns:a16="http://schemas.microsoft.com/office/drawing/2014/main" id="{9EBBFD38-27A9-4015-A060-AB6CC8F3761D}"/>
              </a:ext>
            </a:extLst>
          </p:cNvPr>
          <p:cNvSpPr>
            <a:spLocks noGrp="1"/>
          </p:cNvSpPr>
          <p:nvPr/>
        </p:nvSpPr>
        <p:spPr>
          <a:xfrm>
            <a:off x="12441936" y="4202430"/>
            <a:ext cx="1295400" cy="838200"/>
          </a:xfrm>
          <a:prstGeom prst="roundRect">
            <a:avLst>
              <a:gd name="adj" fmla="val 11364"/>
            </a:avLst>
          </a:prstGeom>
          <a:solidFill>
            <a:srgbClr val="FFFFFF"/>
          </a:solidFill>
          <a:ln w="14288">
            <a:solidFill>
              <a:srgbClr val="2F7D6D"/>
            </a:solidFill>
            <a:prstDash val="solid"/>
          </a:ln>
        </p:spPr>
      </p:sp>
      <p:sp>
        <p:nvSpPr>
          <p:cNvPr id="16" name="矩形 15">
            <a:extLst>
              <a:ext uri="{FF2B5EF4-FFF2-40B4-BE49-F238E27FC236}">
                <a16:creationId xmlns:a16="http://schemas.microsoft.com/office/drawing/2014/main" id="{6BE050AD-0D92-40B8-A593-4E30247E051A}"/>
              </a:ext>
            </a:extLst>
          </p:cNvPr>
          <p:cNvSpPr>
            <a:spLocks noGrp="1"/>
          </p:cNvSpPr>
          <p:nvPr/>
        </p:nvSpPr>
        <p:spPr>
          <a:xfrm>
            <a:off x="12573000" y="4488180"/>
            <a:ext cx="1028700" cy="266700"/>
          </a:xfrm>
          <a:prstGeom prst="rect">
            <a:avLst/>
          </a:prstGeom>
        </p:spPr>
        <p:txBody>
          <a:bodyPr lIns="0" tIns="0" rIns="0" bIns="0"/>
          <a:lstStyle/>
          <a:p>
            <a:pPr algn="ctr">
              <a:defRPr sz="1650" b="1">
                <a:solidFill>
                  <a:srgbClr val="18212B"/>
                </a:solidFill>
              </a:defRPr>
            </a:pPr>
            <a:r>
              <a:rPr sz="1650" b="1" dirty="0">
                <a:solidFill>
                  <a:srgbClr val="18212B"/>
                </a:solidFill>
              </a:rPr>
              <a:t>0</a:t>
            </a:r>
            <a:r>
              <a:rPr lang="en-US" sz="1650" b="1" dirty="0">
                <a:solidFill>
                  <a:srgbClr val="18212B"/>
                </a:solidFill>
              </a:rPr>
              <a:t>-</a:t>
            </a:r>
            <a:r>
              <a:rPr sz="1650" b="1" dirty="0">
                <a:solidFill>
                  <a:srgbClr val="18212B"/>
                </a:solidFill>
              </a:rPr>
              <a:t>5198</a:t>
            </a:r>
          </a:p>
        </p:txBody>
      </p:sp>
      <p:sp>
        <p:nvSpPr>
          <p:cNvPr id="17" name="矩形 16">
            <a:extLst>
              <a:ext uri="{FF2B5EF4-FFF2-40B4-BE49-F238E27FC236}">
                <a16:creationId xmlns:a16="http://schemas.microsoft.com/office/drawing/2014/main" id="{5E147D13-3AB3-431D-9C87-EECD4F231B96}"/>
              </a:ext>
            </a:extLst>
          </p:cNvPr>
          <p:cNvSpPr>
            <a:spLocks noGrp="1"/>
          </p:cNvSpPr>
          <p:nvPr/>
        </p:nvSpPr>
        <p:spPr>
          <a:xfrm>
            <a:off x="13868400" y="4469130"/>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18" name="矩形: 圆角 17">
            <a:extLst>
              <a:ext uri="{FF2B5EF4-FFF2-40B4-BE49-F238E27FC236}">
                <a16:creationId xmlns:a16="http://schemas.microsoft.com/office/drawing/2014/main" id="{2D9B8BF5-81B6-43E8-9420-59F3FBCCDC74}"/>
              </a:ext>
            </a:extLst>
          </p:cNvPr>
          <p:cNvSpPr>
            <a:spLocks noGrp="1"/>
          </p:cNvSpPr>
          <p:nvPr/>
        </p:nvSpPr>
        <p:spPr>
          <a:xfrm>
            <a:off x="14385036" y="4202430"/>
            <a:ext cx="1504950" cy="838200"/>
          </a:xfrm>
          <a:prstGeom prst="roundRect">
            <a:avLst>
              <a:gd name="adj" fmla="val 11364"/>
            </a:avLst>
          </a:prstGeom>
          <a:solidFill>
            <a:srgbClr val="FFFFFF"/>
          </a:solidFill>
          <a:ln w="14288">
            <a:solidFill>
              <a:srgbClr val="C15D3A"/>
            </a:solidFill>
            <a:prstDash val="solid"/>
          </a:ln>
        </p:spPr>
      </p:sp>
      <p:sp>
        <p:nvSpPr>
          <p:cNvPr id="19" name="矩形 18">
            <a:extLst>
              <a:ext uri="{FF2B5EF4-FFF2-40B4-BE49-F238E27FC236}">
                <a16:creationId xmlns:a16="http://schemas.microsoft.com/office/drawing/2014/main" id="{09F254A1-B180-48C5-A563-60A26A920D78}"/>
              </a:ext>
            </a:extLst>
          </p:cNvPr>
          <p:cNvSpPr>
            <a:spLocks noGrp="1"/>
          </p:cNvSpPr>
          <p:nvPr/>
        </p:nvSpPr>
        <p:spPr>
          <a:xfrm>
            <a:off x="14516100" y="4507230"/>
            <a:ext cx="1257300" cy="228600"/>
          </a:xfrm>
          <a:prstGeom prst="rect">
            <a:avLst/>
          </a:prstGeom>
        </p:spPr>
        <p:txBody>
          <a:bodyPr lIns="0" tIns="0" rIns="0" bIns="0"/>
          <a:lstStyle/>
          <a:p>
            <a:pPr algn="ctr">
              <a:defRPr sz="1500" b="1">
                <a:solidFill>
                  <a:srgbClr val="18212B"/>
                </a:solidFill>
              </a:defRPr>
            </a:pPr>
            <a:r>
              <a:rPr sz="1500" b="1">
                <a:solidFill>
                  <a:srgbClr val="18212B"/>
                </a:solidFill>
              </a:rPr>
              <a:t>matrix rows</a:t>
            </a:r>
          </a:p>
        </p:txBody>
      </p:sp>
      <p:sp>
        <p:nvSpPr>
          <p:cNvPr id="20" name="矩形 19">
            <a:extLst>
              <a:ext uri="{FF2B5EF4-FFF2-40B4-BE49-F238E27FC236}">
                <a16:creationId xmlns:a16="http://schemas.microsoft.com/office/drawing/2014/main" id="{534EB29E-7F6E-467D-84AF-79148F1BFC97}"/>
              </a:ext>
            </a:extLst>
          </p:cNvPr>
          <p:cNvSpPr>
            <a:spLocks noGrp="1"/>
          </p:cNvSpPr>
          <p:nvPr/>
        </p:nvSpPr>
        <p:spPr>
          <a:xfrm>
            <a:off x="9391650" y="5554980"/>
            <a:ext cx="762000" cy="266700"/>
          </a:xfrm>
          <a:prstGeom prst="rect">
            <a:avLst/>
          </a:prstGeom>
        </p:spPr>
        <p:txBody>
          <a:bodyPr lIns="0" tIns="0" rIns="0" bIns="0"/>
          <a:lstStyle/>
          <a:p>
            <a:pPr>
              <a:defRPr sz="1650" b="1">
                <a:solidFill>
                  <a:srgbClr val="446B8C"/>
                </a:solidFill>
              </a:defRPr>
            </a:pPr>
            <a:r>
              <a:rPr sz="1650" b="1">
                <a:solidFill>
                  <a:srgbClr val="446B8C"/>
                </a:solidFill>
              </a:rPr>
              <a:t>Items</a:t>
            </a:r>
          </a:p>
        </p:txBody>
      </p:sp>
      <p:sp>
        <p:nvSpPr>
          <p:cNvPr id="21" name="矩形: 圆角 20">
            <a:extLst>
              <a:ext uri="{FF2B5EF4-FFF2-40B4-BE49-F238E27FC236}">
                <a16:creationId xmlns:a16="http://schemas.microsoft.com/office/drawing/2014/main" id="{AE59F130-3D27-443C-B910-A15CD88D472F}"/>
              </a:ext>
            </a:extLst>
          </p:cNvPr>
          <p:cNvSpPr>
            <a:spLocks noGrp="1"/>
          </p:cNvSpPr>
          <p:nvPr/>
        </p:nvSpPr>
        <p:spPr>
          <a:xfrm>
            <a:off x="10289286" y="5269230"/>
            <a:ext cx="1504950" cy="838200"/>
          </a:xfrm>
          <a:prstGeom prst="roundRect">
            <a:avLst>
              <a:gd name="adj" fmla="val 11364"/>
            </a:avLst>
          </a:prstGeom>
          <a:solidFill>
            <a:srgbClr val="FFFFFF"/>
          </a:solidFill>
          <a:ln w="14288">
            <a:solidFill>
              <a:srgbClr val="446B8C"/>
            </a:solidFill>
            <a:prstDash val="solid"/>
          </a:ln>
        </p:spPr>
      </p:sp>
      <p:sp>
        <p:nvSpPr>
          <p:cNvPr id="22" name="矩形 21">
            <a:extLst>
              <a:ext uri="{FF2B5EF4-FFF2-40B4-BE49-F238E27FC236}">
                <a16:creationId xmlns:a16="http://schemas.microsoft.com/office/drawing/2014/main" id="{58376D5B-2133-479F-AFD6-9AE2486631D5}"/>
              </a:ext>
            </a:extLst>
          </p:cNvPr>
          <p:cNvSpPr>
            <a:spLocks noGrp="1"/>
          </p:cNvSpPr>
          <p:nvPr/>
        </p:nvSpPr>
        <p:spPr>
          <a:xfrm>
            <a:off x="10420350" y="5574030"/>
            <a:ext cx="1257300" cy="228600"/>
          </a:xfrm>
          <a:prstGeom prst="rect">
            <a:avLst/>
          </a:prstGeom>
        </p:spPr>
        <p:txBody>
          <a:bodyPr lIns="0" tIns="0" rIns="0" bIns="0"/>
          <a:lstStyle/>
          <a:p>
            <a:pPr algn="ctr">
              <a:defRPr sz="1500" b="1">
                <a:solidFill>
                  <a:srgbClr val="18212B"/>
                </a:solidFill>
              </a:defRPr>
            </a:pPr>
            <a:r>
              <a:rPr sz="1500" b="1">
                <a:solidFill>
                  <a:srgbClr val="18212B"/>
                </a:solidFill>
              </a:rPr>
              <a:t>raw item IDs</a:t>
            </a:r>
          </a:p>
        </p:txBody>
      </p:sp>
      <p:sp>
        <p:nvSpPr>
          <p:cNvPr id="23" name="矩形 22">
            <a:extLst>
              <a:ext uri="{FF2B5EF4-FFF2-40B4-BE49-F238E27FC236}">
                <a16:creationId xmlns:a16="http://schemas.microsoft.com/office/drawing/2014/main" id="{985C2A72-7FED-44F8-A4C7-60D93A6A1073}"/>
              </a:ext>
            </a:extLst>
          </p:cNvPr>
          <p:cNvSpPr>
            <a:spLocks noGrp="1"/>
          </p:cNvSpPr>
          <p:nvPr/>
        </p:nvSpPr>
        <p:spPr>
          <a:xfrm>
            <a:off x="11925300" y="5535930"/>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24" name="矩形: 圆角 23">
            <a:extLst>
              <a:ext uri="{FF2B5EF4-FFF2-40B4-BE49-F238E27FC236}">
                <a16:creationId xmlns:a16="http://schemas.microsoft.com/office/drawing/2014/main" id="{C82FF25C-4974-4A86-A2F5-7F3F66326DE3}"/>
              </a:ext>
            </a:extLst>
          </p:cNvPr>
          <p:cNvSpPr>
            <a:spLocks noGrp="1"/>
          </p:cNvSpPr>
          <p:nvPr/>
        </p:nvSpPr>
        <p:spPr>
          <a:xfrm>
            <a:off x="12441936" y="5269230"/>
            <a:ext cx="1295400" cy="838200"/>
          </a:xfrm>
          <a:prstGeom prst="roundRect">
            <a:avLst>
              <a:gd name="adj" fmla="val 11364"/>
            </a:avLst>
          </a:prstGeom>
          <a:solidFill>
            <a:srgbClr val="FFFFFF"/>
          </a:solidFill>
          <a:ln w="14288">
            <a:solidFill>
              <a:srgbClr val="2F7D6D"/>
            </a:solidFill>
            <a:prstDash val="solid"/>
          </a:ln>
        </p:spPr>
      </p:sp>
      <p:sp>
        <p:nvSpPr>
          <p:cNvPr id="25" name="矩形 24">
            <a:extLst>
              <a:ext uri="{FF2B5EF4-FFF2-40B4-BE49-F238E27FC236}">
                <a16:creationId xmlns:a16="http://schemas.microsoft.com/office/drawing/2014/main" id="{AD57F142-C63E-4CFF-A7A1-8AFC6F49740C}"/>
              </a:ext>
            </a:extLst>
          </p:cNvPr>
          <p:cNvSpPr>
            <a:spLocks noGrp="1"/>
          </p:cNvSpPr>
          <p:nvPr/>
        </p:nvSpPr>
        <p:spPr>
          <a:xfrm>
            <a:off x="12573000" y="5554980"/>
            <a:ext cx="1028700" cy="266700"/>
          </a:xfrm>
          <a:prstGeom prst="rect">
            <a:avLst/>
          </a:prstGeom>
        </p:spPr>
        <p:txBody>
          <a:bodyPr lIns="0" tIns="0" rIns="0" bIns="0"/>
          <a:lstStyle/>
          <a:p>
            <a:pPr algn="ctr">
              <a:defRPr sz="1650" b="1">
                <a:solidFill>
                  <a:srgbClr val="18212B"/>
                </a:solidFill>
              </a:defRPr>
            </a:pPr>
            <a:r>
              <a:rPr sz="1650" b="1" dirty="0">
                <a:solidFill>
                  <a:srgbClr val="18212B"/>
                </a:solidFill>
              </a:rPr>
              <a:t>0</a:t>
            </a:r>
            <a:r>
              <a:rPr lang="en-US" sz="1650" b="1" dirty="0">
                <a:solidFill>
                  <a:srgbClr val="18212B"/>
                </a:solidFill>
              </a:rPr>
              <a:t>-</a:t>
            </a:r>
            <a:r>
              <a:rPr sz="1650" b="1" dirty="0">
                <a:solidFill>
                  <a:srgbClr val="18212B"/>
                </a:solidFill>
              </a:rPr>
              <a:t>8639</a:t>
            </a:r>
          </a:p>
        </p:txBody>
      </p:sp>
      <p:sp>
        <p:nvSpPr>
          <p:cNvPr id="26" name="矩形 25">
            <a:extLst>
              <a:ext uri="{FF2B5EF4-FFF2-40B4-BE49-F238E27FC236}">
                <a16:creationId xmlns:a16="http://schemas.microsoft.com/office/drawing/2014/main" id="{56FFF489-3947-4F2A-B47F-A21EFBF54EAF}"/>
              </a:ext>
            </a:extLst>
          </p:cNvPr>
          <p:cNvSpPr>
            <a:spLocks noGrp="1"/>
          </p:cNvSpPr>
          <p:nvPr/>
        </p:nvSpPr>
        <p:spPr>
          <a:xfrm>
            <a:off x="13868400" y="5535930"/>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27" name="矩形: 圆角 26">
            <a:extLst>
              <a:ext uri="{FF2B5EF4-FFF2-40B4-BE49-F238E27FC236}">
                <a16:creationId xmlns:a16="http://schemas.microsoft.com/office/drawing/2014/main" id="{0A2C418F-D280-4F5C-B020-7639E46E7314}"/>
              </a:ext>
            </a:extLst>
          </p:cNvPr>
          <p:cNvSpPr>
            <a:spLocks noGrp="1"/>
          </p:cNvSpPr>
          <p:nvPr/>
        </p:nvSpPr>
        <p:spPr>
          <a:xfrm>
            <a:off x="14385036" y="5269230"/>
            <a:ext cx="1504950" cy="838200"/>
          </a:xfrm>
          <a:prstGeom prst="roundRect">
            <a:avLst>
              <a:gd name="adj" fmla="val 11364"/>
            </a:avLst>
          </a:prstGeom>
          <a:solidFill>
            <a:srgbClr val="FFFFFF"/>
          </a:solidFill>
          <a:ln w="14288">
            <a:solidFill>
              <a:srgbClr val="C15D3A"/>
            </a:solidFill>
            <a:prstDash val="solid"/>
          </a:ln>
        </p:spPr>
      </p:sp>
      <p:sp>
        <p:nvSpPr>
          <p:cNvPr id="28" name="矩形 27">
            <a:extLst>
              <a:ext uri="{FF2B5EF4-FFF2-40B4-BE49-F238E27FC236}">
                <a16:creationId xmlns:a16="http://schemas.microsoft.com/office/drawing/2014/main" id="{AD1243AF-6202-4F8E-ADC7-5F1A9934980F}"/>
              </a:ext>
            </a:extLst>
          </p:cNvPr>
          <p:cNvSpPr>
            <a:spLocks noGrp="1"/>
          </p:cNvSpPr>
          <p:nvPr/>
        </p:nvSpPr>
        <p:spPr>
          <a:xfrm>
            <a:off x="14516100" y="5574030"/>
            <a:ext cx="1257300" cy="228600"/>
          </a:xfrm>
          <a:prstGeom prst="rect">
            <a:avLst/>
          </a:prstGeom>
        </p:spPr>
        <p:txBody>
          <a:bodyPr lIns="0" tIns="0" rIns="0" bIns="0"/>
          <a:lstStyle/>
          <a:p>
            <a:pPr algn="ctr">
              <a:defRPr sz="1500" b="1">
                <a:solidFill>
                  <a:srgbClr val="18212B"/>
                </a:solidFill>
              </a:defRPr>
            </a:pPr>
            <a:r>
              <a:rPr sz="1500" b="1">
                <a:solidFill>
                  <a:srgbClr val="18212B"/>
                </a:solidFill>
              </a:rPr>
              <a:t>matrix columns</a:t>
            </a:r>
          </a:p>
        </p:txBody>
      </p:sp>
      <p:sp>
        <p:nvSpPr>
          <p:cNvPr id="29" name="矩形 28">
            <a:extLst>
              <a:ext uri="{FF2B5EF4-FFF2-40B4-BE49-F238E27FC236}">
                <a16:creationId xmlns:a16="http://schemas.microsoft.com/office/drawing/2014/main" id="{FCBE01EB-99C0-4B13-A7C0-A878D024DAEC}"/>
              </a:ext>
            </a:extLst>
          </p:cNvPr>
          <p:cNvSpPr>
            <a:spLocks noGrp="1"/>
          </p:cNvSpPr>
          <p:nvPr/>
        </p:nvSpPr>
        <p:spPr>
          <a:xfrm>
            <a:off x="9391650" y="6336030"/>
            <a:ext cx="7753350" cy="9525"/>
          </a:xfrm>
          <a:prstGeom prst="rect">
            <a:avLst/>
          </a:prstGeom>
          <a:solidFill>
            <a:srgbClr val="C7D1CC"/>
          </a:solidFill>
          <a:ln w="0">
            <a:solidFill>
              <a:srgbClr val="C7D1CC"/>
            </a:solidFill>
            <a:prstDash val="solid"/>
          </a:ln>
        </p:spPr>
      </p:sp>
      <p:sp>
        <p:nvSpPr>
          <p:cNvPr id="30" name="矩形: 圆角 29">
            <a:extLst>
              <a:ext uri="{FF2B5EF4-FFF2-40B4-BE49-F238E27FC236}">
                <a16:creationId xmlns:a16="http://schemas.microsoft.com/office/drawing/2014/main" id="{D431BB8B-8913-43F5-AFC9-452500145EDF}"/>
              </a:ext>
            </a:extLst>
          </p:cNvPr>
          <p:cNvSpPr>
            <a:spLocks noGrp="1"/>
          </p:cNvSpPr>
          <p:nvPr/>
        </p:nvSpPr>
        <p:spPr>
          <a:xfrm>
            <a:off x="9393936" y="6564630"/>
            <a:ext cx="1600200" cy="819150"/>
          </a:xfrm>
          <a:prstGeom prst="roundRect">
            <a:avLst>
              <a:gd name="adj" fmla="val 11628"/>
            </a:avLst>
          </a:prstGeom>
          <a:solidFill>
            <a:srgbClr val="EEF3EF"/>
          </a:solidFill>
          <a:ln w="14288">
            <a:solidFill>
              <a:srgbClr val="2F7D6D"/>
            </a:solidFill>
            <a:prstDash val="solid"/>
          </a:ln>
        </p:spPr>
      </p:sp>
      <p:sp>
        <p:nvSpPr>
          <p:cNvPr id="31" name="矩形 30">
            <a:extLst>
              <a:ext uri="{FF2B5EF4-FFF2-40B4-BE49-F238E27FC236}">
                <a16:creationId xmlns:a16="http://schemas.microsoft.com/office/drawing/2014/main" id="{8A586F56-2913-42B8-A257-3EB0B1A29036}"/>
              </a:ext>
            </a:extLst>
          </p:cNvPr>
          <p:cNvSpPr>
            <a:spLocks noGrp="1"/>
          </p:cNvSpPr>
          <p:nvPr/>
        </p:nvSpPr>
        <p:spPr>
          <a:xfrm>
            <a:off x="9525000" y="6850380"/>
            <a:ext cx="1333500" cy="266700"/>
          </a:xfrm>
          <a:prstGeom prst="rect">
            <a:avLst/>
          </a:prstGeom>
        </p:spPr>
        <p:txBody>
          <a:bodyPr lIns="0" tIns="0" rIns="0" bIns="0"/>
          <a:lstStyle/>
          <a:p>
            <a:pPr algn="ctr">
              <a:defRPr sz="1650" b="1">
                <a:solidFill>
                  <a:srgbClr val="18212B"/>
                </a:solidFill>
              </a:defRPr>
            </a:pPr>
            <a:r>
              <a:rPr sz="1650" b="1">
                <a:solidFill>
                  <a:srgbClr val="18212B"/>
                </a:solidFill>
              </a:rPr>
              <a:t>ID maps</a:t>
            </a:r>
          </a:p>
        </p:txBody>
      </p:sp>
      <p:sp>
        <p:nvSpPr>
          <p:cNvPr id="32" name="preprocess-caption">
            <a:extLst>
              <a:ext uri="{FF2B5EF4-FFF2-40B4-BE49-F238E27FC236}">
                <a16:creationId xmlns:a16="http://schemas.microsoft.com/office/drawing/2014/main" id="{34F0BDB9-BEBE-4D78-B8D3-7699FA111170}"/>
              </a:ext>
            </a:extLst>
          </p:cNvPr>
          <p:cNvSpPr>
            <a:spLocks noGrp="1"/>
          </p:cNvSpPr>
          <p:nvPr/>
        </p:nvSpPr>
        <p:spPr>
          <a:xfrm>
            <a:off x="11163300" y="6678930"/>
            <a:ext cx="4781550" cy="609600"/>
          </a:xfrm>
          <a:prstGeom prst="rect">
            <a:avLst/>
          </a:prstGeom>
        </p:spPr>
        <p:txBody>
          <a:bodyPr lIns="0" tIns="0" rIns="0" bIns="0"/>
          <a:lstStyle/>
          <a:p>
            <a:pPr>
              <a:defRPr sz="2025">
                <a:solidFill>
                  <a:srgbClr val="18212B"/>
                </a:solidFill>
              </a:defRPr>
            </a:pPr>
            <a:r>
              <a:rPr sz="2025">
                <a:solidFill>
                  <a:srgbClr val="18212B"/>
                </a:solidFill>
              </a:rPr>
              <a:t>Forward maps make training efficient; reverse maps make outputs explainable and usable.</a:t>
            </a:r>
          </a:p>
        </p:txBody>
      </p:sp>
      <p:sp>
        <p:nvSpPr>
          <p:cNvPr id="33" name="footer-rule">
            <a:extLst>
              <a:ext uri="{FF2B5EF4-FFF2-40B4-BE49-F238E27FC236}">
                <a16:creationId xmlns:a16="http://schemas.microsoft.com/office/drawing/2014/main" id="{CAF4D34E-722E-43D7-9D65-3B4FA9E31DC8}"/>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34" name="source-rail">
            <a:extLst>
              <a:ext uri="{FF2B5EF4-FFF2-40B4-BE49-F238E27FC236}">
                <a16:creationId xmlns:a16="http://schemas.microsoft.com/office/drawing/2014/main" id="{66EFB578-9EC0-4DD0-9E85-AC52590435A5}"/>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1675096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9" name="slide-number">
            <a:extLst>
              <a:ext uri="{FF2B5EF4-FFF2-40B4-BE49-F238E27FC236}">
                <a16:creationId xmlns:a16="http://schemas.microsoft.com/office/drawing/2014/main" id="{CFCC8005-5A47-4BCC-8774-1A9437D5EF3C}"/>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04</a:t>
            </a:r>
          </a:p>
        </p:txBody>
      </p:sp>
      <p:sp>
        <p:nvSpPr>
          <p:cNvPr id="2" name="kicker-rule">
            <a:extLst>
              <a:ext uri="{FF2B5EF4-FFF2-40B4-BE49-F238E27FC236}">
                <a16:creationId xmlns:a16="http://schemas.microsoft.com/office/drawing/2014/main" id="{EE8AE4B0-DFDE-4A39-9499-DAE50AA8803C}"/>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7408F98C-086E-4644-9BC5-C82F1FCF5745}"/>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E6B4D23E-EEA0-40D8-9B22-2F5DC2F46E02}"/>
              </a:ext>
            </a:extLst>
          </p:cNvPr>
          <p:cNvSpPr>
            <a:spLocks noGrp="1"/>
          </p:cNvSpPr>
          <p:nvPr/>
        </p:nvSpPr>
        <p:spPr>
          <a:xfrm>
            <a:off x="838200" y="3020779"/>
            <a:ext cx="16611600" cy="914400"/>
          </a:xfrm>
          <a:prstGeom prst="rect">
            <a:avLst/>
          </a:prstGeom>
        </p:spPr>
        <p:txBody>
          <a:bodyPr lIns="0" tIns="0" rIns="0" bIns="0"/>
          <a:lstStyle/>
          <a:p>
            <a:pPr>
              <a:defRPr sz="4050" b="1">
                <a:solidFill>
                  <a:srgbClr val="18212B"/>
                </a:solidFill>
              </a:defRPr>
            </a:pPr>
            <a:r>
              <a:rPr sz="4800" b="1" dirty="0">
                <a:solidFill>
                  <a:srgbClr val="18212B"/>
                </a:solidFill>
              </a:rPr>
              <a:t>A fair per-user split</a:t>
            </a:r>
          </a:p>
        </p:txBody>
      </p:sp>
      <p:sp>
        <p:nvSpPr>
          <p:cNvPr id="6" name="split-bullets-1">
            <a:extLst>
              <a:ext uri="{FF2B5EF4-FFF2-40B4-BE49-F238E27FC236}">
                <a16:creationId xmlns:a16="http://schemas.microsoft.com/office/drawing/2014/main" id="{AE1387E9-BACF-4C6B-BEA3-94A3404BCFF4}"/>
              </a:ext>
            </a:extLst>
          </p:cNvPr>
          <p:cNvSpPr>
            <a:spLocks noGrp="1"/>
          </p:cNvSpPr>
          <p:nvPr/>
        </p:nvSpPr>
        <p:spPr>
          <a:xfrm>
            <a:off x="838200" y="4636537"/>
            <a:ext cx="8143922" cy="378185"/>
          </a:xfrm>
          <a:prstGeom prst="rect">
            <a:avLst/>
          </a:prstGeom>
        </p:spPr>
        <p:txBody>
          <a:bodyPr lIns="0" tIns="0" rIns="0" bIns="0"/>
          <a:lstStyle/>
          <a:p>
            <a:pPr>
              <a:defRPr sz="2025">
                <a:solidFill>
                  <a:srgbClr val="18212B"/>
                </a:solidFill>
              </a:defRPr>
            </a:pPr>
            <a:r>
              <a:rPr sz="2800" dirty="0">
                <a:solidFill>
                  <a:srgbClr val="18212B"/>
                </a:solidFill>
              </a:rPr>
              <a:t>- Train: 80% of each user's interactions.</a:t>
            </a:r>
          </a:p>
        </p:txBody>
      </p:sp>
      <p:sp>
        <p:nvSpPr>
          <p:cNvPr id="7" name="split-bullets-2">
            <a:extLst>
              <a:ext uri="{FF2B5EF4-FFF2-40B4-BE49-F238E27FC236}">
                <a16:creationId xmlns:a16="http://schemas.microsoft.com/office/drawing/2014/main" id="{619B1449-AEEC-4373-9BA4-553CE74D466F}"/>
              </a:ext>
            </a:extLst>
          </p:cNvPr>
          <p:cNvSpPr>
            <a:spLocks noGrp="1"/>
          </p:cNvSpPr>
          <p:nvPr/>
        </p:nvSpPr>
        <p:spPr>
          <a:xfrm>
            <a:off x="838200" y="5131837"/>
            <a:ext cx="8143922" cy="378185"/>
          </a:xfrm>
          <a:prstGeom prst="rect">
            <a:avLst/>
          </a:prstGeom>
        </p:spPr>
        <p:txBody>
          <a:bodyPr lIns="0" tIns="0" rIns="0" bIns="0"/>
          <a:lstStyle/>
          <a:p>
            <a:pPr>
              <a:defRPr sz="2025">
                <a:solidFill>
                  <a:srgbClr val="18212B"/>
                </a:solidFill>
              </a:defRPr>
            </a:pPr>
            <a:r>
              <a:rPr sz="2800" dirty="0">
                <a:solidFill>
                  <a:srgbClr val="18212B"/>
                </a:solidFill>
              </a:rPr>
              <a:t>- Validation: 10% for model development and reporting.</a:t>
            </a:r>
          </a:p>
        </p:txBody>
      </p:sp>
      <p:sp>
        <p:nvSpPr>
          <p:cNvPr id="8" name="split-bullets-3">
            <a:extLst>
              <a:ext uri="{FF2B5EF4-FFF2-40B4-BE49-F238E27FC236}">
                <a16:creationId xmlns:a16="http://schemas.microsoft.com/office/drawing/2014/main" id="{A34F23C1-1935-4F5F-BD46-FA404179E1C4}"/>
              </a:ext>
            </a:extLst>
          </p:cNvPr>
          <p:cNvSpPr>
            <a:spLocks noGrp="1"/>
          </p:cNvSpPr>
          <p:nvPr/>
        </p:nvSpPr>
        <p:spPr>
          <a:xfrm>
            <a:off x="838200" y="5608087"/>
            <a:ext cx="8143922" cy="378185"/>
          </a:xfrm>
          <a:prstGeom prst="rect">
            <a:avLst/>
          </a:prstGeom>
        </p:spPr>
        <p:txBody>
          <a:bodyPr lIns="0" tIns="0" rIns="0" bIns="0"/>
          <a:lstStyle/>
          <a:p>
            <a:pPr>
              <a:defRPr sz="2025">
                <a:solidFill>
                  <a:srgbClr val="18212B"/>
                </a:solidFill>
              </a:defRPr>
            </a:pPr>
            <a:r>
              <a:rPr sz="2800" dirty="0">
                <a:solidFill>
                  <a:srgbClr val="18212B"/>
                </a:solidFill>
              </a:rPr>
              <a:t>- Test: 10% reserved for final evaluation.</a:t>
            </a:r>
          </a:p>
        </p:txBody>
      </p:sp>
      <p:sp>
        <p:nvSpPr>
          <p:cNvPr id="9" name="split-bullets-4">
            <a:extLst>
              <a:ext uri="{FF2B5EF4-FFF2-40B4-BE49-F238E27FC236}">
                <a16:creationId xmlns:a16="http://schemas.microsoft.com/office/drawing/2014/main" id="{7DF353A7-E728-49A3-9260-B532D47E1452}"/>
              </a:ext>
            </a:extLst>
          </p:cNvPr>
          <p:cNvSpPr>
            <a:spLocks noGrp="1"/>
          </p:cNvSpPr>
          <p:nvPr/>
        </p:nvSpPr>
        <p:spPr>
          <a:xfrm>
            <a:off x="838200" y="6084337"/>
            <a:ext cx="8143922" cy="378185"/>
          </a:xfrm>
          <a:prstGeom prst="rect">
            <a:avLst/>
          </a:prstGeom>
        </p:spPr>
        <p:txBody>
          <a:bodyPr lIns="0" tIns="0" rIns="0" bIns="0"/>
          <a:lstStyle/>
          <a:p>
            <a:pPr>
              <a:defRPr sz="2025">
                <a:solidFill>
                  <a:srgbClr val="18212B"/>
                </a:solidFill>
              </a:defRPr>
            </a:pPr>
            <a:r>
              <a:rPr sz="2800" dirty="0">
                <a:solidFill>
                  <a:srgbClr val="18212B"/>
                </a:solidFill>
              </a:rPr>
              <a:t>- All three models share the same split and candidate rules.</a:t>
            </a:r>
          </a:p>
        </p:txBody>
      </p:sp>
      <p:sp>
        <p:nvSpPr>
          <p:cNvPr id="10" name="矩形 9">
            <a:extLst>
              <a:ext uri="{FF2B5EF4-FFF2-40B4-BE49-F238E27FC236}">
                <a16:creationId xmlns:a16="http://schemas.microsoft.com/office/drawing/2014/main" id="{E28046C1-BD73-4E02-9E1A-7B8C8628DD2C}"/>
              </a:ext>
            </a:extLst>
          </p:cNvPr>
          <p:cNvSpPr>
            <a:spLocks noGrp="1"/>
          </p:cNvSpPr>
          <p:nvPr/>
        </p:nvSpPr>
        <p:spPr>
          <a:xfrm>
            <a:off x="9305880" y="5801615"/>
            <a:ext cx="7060157" cy="978831"/>
          </a:xfrm>
          <a:prstGeom prst="rect">
            <a:avLst/>
          </a:prstGeom>
          <a:solidFill>
            <a:srgbClr val="2F7D6D"/>
          </a:solidFill>
        </p:spPr>
      </p:sp>
      <p:sp>
        <p:nvSpPr>
          <p:cNvPr id="11" name="矩形 10">
            <a:extLst>
              <a:ext uri="{FF2B5EF4-FFF2-40B4-BE49-F238E27FC236}">
                <a16:creationId xmlns:a16="http://schemas.microsoft.com/office/drawing/2014/main" id="{60F50BCC-21A6-40C9-8D61-BD2149672BF8}"/>
              </a:ext>
            </a:extLst>
          </p:cNvPr>
          <p:cNvSpPr>
            <a:spLocks noGrp="1"/>
          </p:cNvSpPr>
          <p:nvPr/>
        </p:nvSpPr>
        <p:spPr>
          <a:xfrm>
            <a:off x="9303594" y="6150187"/>
            <a:ext cx="7078174" cy="355939"/>
          </a:xfrm>
          <a:prstGeom prst="rect">
            <a:avLst/>
          </a:prstGeom>
        </p:spPr>
        <p:txBody>
          <a:bodyPr lIns="0" tIns="0" rIns="0" bIns="0"/>
          <a:lstStyle/>
          <a:p>
            <a:pPr algn="ctr">
              <a:defRPr sz="2100" b="1">
                <a:solidFill>
                  <a:srgbClr val="FFFFFF"/>
                </a:solidFill>
              </a:defRPr>
            </a:pPr>
            <a:r>
              <a:rPr sz="2100" b="1">
                <a:solidFill>
                  <a:srgbClr val="FFFFFF"/>
                </a:solidFill>
              </a:rPr>
              <a:t>80% train</a:t>
            </a:r>
          </a:p>
        </p:txBody>
      </p:sp>
      <p:sp>
        <p:nvSpPr>
          <p:cNvPr id="12" name="矩形 11">
            <a:extLst>
              <a:ext uri="{FF2B5EF4-FFF2-40B4-BE49-F238E27FC236}">
                <a16:creationId xmlns:a16="http://schemas.microsoft.com/office/drawing/2014/main" id="{661ACA8A-D07E-4BEB-A1E2-8A1CD5AFDC52}"/>
              </a:ext>
            </a:extLst>
          </p:cNvPr>
          <p:cNvSpPr>
            <a:spLocks noGrp="1"/>
          </p:cNvSpPr>
          <p:nvPr/>
        </p:nvSpPr>
        <p:spPr>
          <a:xfrm>
            <a:off x="15994410" y="5801615"/>
            <a:ext cx="882519" cy="978831"/>
          </a:xfrm>
          <a:prstGeom prst="rect">
            <a:avLst/>
          </a:prstGeom>
          <a:solidFill>
            <a:srgbClr val="446B8C"/>
          </a:solidFill>
        </p:spPr>
      </p:sp>
      <p:sp>
        <p:nvSpPr>
          <p:cNvPr id="13" name="矩形 12">
            <a:extLst>
              <a:ext uri="{FF2B5EF4-FFF2-40B4-BE49-F238E27FC236}">
                <a16:creationId xmlns:a16="http://schemas.microsoft.com/office/drawing/2014/main" id="{D958EF92-824F-4FD1-A930-77644E62B806}"/>
              </a:ext>
            </a:extLst>
          </p:cNvPr>
          <p:cNvSpPr>
            <a:spLocks noGrp="1"/>
          </p:cNvSpPr>
          <p:nvPr/>
        </p:nvSpPr>
        <p:spPr>
          <a:xfrm>
            <a:off x="15990144" y="6175630"/>
            <a:ext cx="884772" cy="311446"/>
          </a:xfrm>
          <a:prstGeom prst="rect">
            <a:avLst/>
          </a:prstGeom>
        </p:spPr>
        <p:txBody>
          <a:bodyPr lIns="0" tIns="0" rIns="0" bIns="0"/>
          <a:lstStyle/>
          <a:p>
            <a:pPr algn="ctr">
              <a:defRPr sz="1725" b="1">
                <a:solidFill>
                  <a:srgbClr val="FFFFFF"/>
                </a:solidFill>
              </a:defRPr>
            </a:pPr>
            <a:r>
              <a:rPr sz="1725" b="1">
                <a:solidFill>
                  <a:srgbClr val="FFFFFF"/>
                </a:solidFill>
              </a:rPr>
              <a:t>10% val</a:t>
            </a:r>
          </a:p>
        </p:txBody>
      </p:sp>
      <p:sp>
        <p:nvSpPr>
          <p:cNvPr id="14" name="矩形 13">
            <a:extLst>
              <a:ext uri="{FF2B5EF4-FFF2-40B4-BE49-F238E27FC236}">
                <a16:creationId xmlns:a16="http://schemas.microsoft.com/office/drawing/2014/main" id="{E441C9C9-73E3-4F56-A060-97D695ABC175}"/>
              </a:ext>
            </a:extLst>
          </p:cNvPr>
          <p:cNvSpPr>
            <a:spLocks noGrp="1"/>
          </p:cNvSpPr>
          <p:nvPr/>
        </p:nvSpPr>
        <p:spPr>
          <a:xfrm>
            <a:off x="16830477" y="5801615"/>
            <a:ext cx="882519" cy="978831"/>
          </a:xfrm>
          <a:prstGeom prst="rect">
            <a:avLst/>
          </a:prstGeom>
          <a:solidFill>
            <a:srgbClr val="C15D3A"/>
          </a:solidFill>
        </p:spPr>
      </p:sp>
      <p:sp>
        <p:nvSpPr>
          <p:cNvPr id="15" name="矩形 14">
            <a:extLst>
              <a:ext uri="{FF2B5EF4-FFF2-40B4-BE49-F238E27FC236}">
                <a16:creationId xmlns:a16="http://schemas.microsoft.com/office/drawing/2014/main" id="{35382B90-1FA3-4535-96F0-3B42972C7E84}"/>
              </a:ext>
            </a:extLst>
          </p:cNvPr>
          <p:cNvSpPr>
            <a:spLocks noGrp="1"/>
          </p:cNvSpPr>
          <p:nvPr/>
        </p:nvSpPr>
        <p:spPr>
          <a:xfrm>
            <a:off x="16828344" y="6175630"/>
            <a:ext cx="884772" cy="311446"/>
          </a:xfrm>
          <a:prstGeom prst="rect">
            <a:avLst/>
          </a:prstGeom>
        </p:spPr>
        <p:txBody>
          <a:bodyPr lIns="0" tIns="0" rIns="0" bIns="0"/>
          <a:lstStyle/>
          <a:p>
            <a:pPr algn="ctr">
              <a:defRPr sz="1725" b="1">
                <a:solidFill>
                  <a:srgbClr val="FFFFFF"/>
                </a:solidFill>
              </a:defRPr>
            </a:pPr>
            <a:r>
              <a:rPr sz="1725" b="1">
                <a:solidFill>
                  <a:srgbClr val="FFFFFF"/>
                </a:solidFill>
              </a:rPr>
              <a:t>10% test</a:t>
            </a:r>
          </a:p>
        </p:txBody>
      </p:sp>
      <p:sp>
        <p:nvSpPr>
          <p:cNvPr id="16" name="矩形 15">
            <a:extLst>
              <a:ext uri="{FF2B5EF4-FFF2-40B4-BE49-F238E27FC236}">
                <a16:creationId xmlns:a16="http://schemas.microsoft.com/office/drawing/2014/main" id="{1F038A1A-4E29-47C6-A7BE-B967A0787933}"/>
              </a:ext>
            </a:extLst>
          </p:cNvPr>
          <p:cNvSpPr>
            <a:spLocks noGrp="1"/>
          </p:cNvSpPr>
          <p:nvPr/>
        </p:nvSpPr>
        <p:spPr>
          <a:xfrm>
            <a:off x="838200" y="7276338"/>
            <a:ext cx="7017849" cy="800862"/>
          </a:xfrm>
          <a:prstGeom prst="rect">
            <a:avLst/>
          </a:prstGeom>
        </p:spPr>
        <p:txBody>
          <a:bodyPr lIns="0" tIns="0" rIns="0" bIns="0"/>
          <a:lstStyle/>
          <a:p>
            <a:pPr>
              <a:defRPr sz="2250" b="1">
                <a:solidFill>
                  <a:srgbClr val="18212B"/>
                </a:solidFill>
              </a:defRPr>
            </a:pPr>
            <a:r>
              <a:rPr sz="2250" b="1" dirty="0">
                <a:solidFill>
                  <a:srgbClr val="18212B"/>
                </a:solidFill>
              </a:rPr>
              <a:t>Evaluation asks how well the model understands known users from partial histories.</a:t>
            </a:r>
          </a:p>
        </p:txBody>
      </p:sp>
      <p:sp>
        <p:nvSpPr>
          <p:cNvPr id="17" name="footer-rule">
            <a:extLst>
              <a:ext uri="{FF2B5EF4-FFF2-40B4-BE49-F238E27FC236}">
                <a16:creationId xmlns:a16="http://schemas.microsoft.com/office/drawing/2014/main" id="{1264D0DE-7A65-48F8-A44B-0A2D137BE5F7}"/>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18" name="source-rail">
            <a:extLst>
              <a:ext uri="{FF2B5EF4-FFF2-40B4-BE49-F238E27FC236}">
                <a16:creationId xmlns:a16="http://schemas.microsoft.com/office/drawing/2014/main" id="{8706DA23-7026-4232-BA4D-D18F879C871A}"/>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88178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7" name="slide-number">
            <a:extLst>
              <a:ext uri="{FF2B5EF4-FFF2-40B4-BE49-F238E27FC236}">
                <a16:creationId xmlns:a16="http://schemas.microsoft.com/office/drawing/2014/main" id="{4AE6C541-CEFB-4892-B457-113EF020341A}"/>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05</a:t>
            </a:r>
          </a:p>
        </p:txBody>
      </p:sp>
      <p:sp>
        <p:nvSpPr>
          <p:cNvPr id="2" name="kicker-rule">
            <a:extLst>
              <a:ext uri="{FF2B5EF4-FFF2-40B4-BE49-F238E27FC236}">
                <a16:creationId xmlns:a16="http://schemas.microsoft.com/office/drawing/2014/main" id="{C38605AE-EE4F-4BC5-B634-0F0E5F9937CC}"/>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5FF30002-08C8-4821-A823-EEF16339B827}"/>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BF2759D0-48C4-47D0-81A8-1AAD3D421BA3}"/>
              </a:ext>
            </a:extLst>
          </p:cNvPr>
          <p:cNvSpPr>
            <a:spLocks noGrp="1"/>
          </p:cNvSpPr>
          <p:nvPr/>
        </p:nvSpPr>
        <p:spPr>
          <a:xfrm>
            <a:off x="838200" y="2428113"/>
            <a:ext cx="16611600" cy="914400"/>
          </a:xfrm>
          <a:prstGeom prst="rect">
            <a:avLst/>
          </a:prstGeom>
        </p:spPr>
        <p:txBody>
          <a:bodyPr lIns="0" tIns="0" rIns="0" bIns="0"/>
          <a:lstStyle/>
          <a:p>
            <a:pPr>
              <a:defRPr sz="4050" b="1">
                <a:solidFill>
                  <a:srgbClr val="18212B"/>
                </a:solidFill>
              </a:defRPr>
            </a:pPr>
            <a:r>
              <a:rPr sz="4050" b="1" dirty="0">
                <a:solidFill>
                  <a:srgbClr val="18212B"/>
                </a:solidFill>
              </a:rPr>
              <a:t>Leakage control keeps the results honest</a:t>
            </a:r>
          </a:p>
        </p:txBody>
      </p:sp>
      <p:sp>
        <p:nvSpPr>
          <p:cNvPr id="5" name="slide-subtitle">
            <a:extLst>
              <a:ext uri="{FF2B5EF4-FFF2-40B4-BE49-F238E27FC236}">
                <a16:creationId xmlns:a16="http://schemas.microsoft.com/office/drawing/2014/main" id="{AC07D802-D8FC-437C-BC7B-42784BEA2DAA}"/>
              </a:ext>
            </a:extLst>
          </p:cNvPr>
          <p:cNvSpPr>
            <a:spLocks noGrp="1"/>
          </p:cNvSpPr>
          <p:nvPr/>
        </p:nvSpPr>
        <p:spPr>
          <a:xfrm>
            <a:off x="838200" y="8124825"/>
            <a:ext cx="9209926" cy="846252"/>
          </a:xfrm>
          <a:prstGeom prst="rect">
            <a:avLst/>
          </a:prstGeom>
        </p:spPr>
        <p:txBody>
          <a:bodyPr lIns="0" tIns="0" rIns="0" bIns="0"/>
          <a:lstStyle/>
          <a:p>
            <a:pPr>
              <a:defRPr sz="2250">
                <a:solidFill>
                  <a:srgbClr val="18212B"/>
                </a:solidFill>
              </a:defRPr>
            </a:pPr>
            <a:r>
              <a:rPr lang="en-US" sz="2250" dirty="0">
                <a:solidFill>
                  <a:srgbClr val="18212B"/>
                </a:solidFill>
              </a:rPr>
              <a:t>TF-IDF is </a:t>
            </a:r>
            <a:r>
              <a:rPr lang="en-US" altLang="zh-CN" sz="2250" dirty="0"/>
              <a:t>a numerical statistic used in information retrieval to measure a word's importance to a document within a collection.</a:t>
            </a:r>
            <a:endParaRPr sz="2250" dirty="0">
              <a:solidFill>
                <a:srgbClr val="18212B"/>
              </a:solidFill>
            </a:endParaRPr>
          </a:p>
        </p:txBody>
      </p:sp>
      <p:sp>
        <p:nvSpPr>
          <p:cNvPr id="6" name="leakage-bullets-1">
            <a:extLst>
              <a:ext uri="{FF2B5EF4-FFF2-40B4-BE49-F238E27FC236}">
                <a16:creationId xmlns:a16="http://schemas.microsoft.com/office/drawing/2014/main" id="{C5641DDC-B958-496B-AC5A-C7D00DA9CE20}"/>
              </a:ext>
            </a:extLst>
          </p:cNvPr>
          <p:cNvSpPr>
            <a:spLocks noGrp="1"/>
          </p:cNvSpPr>
          <p:nvPr/>
        </p:nvSpPr>
        <p:spPr>
          <a:xfrm>
            <a:off x="956114" y="4618101"/>
            <a:ext cx="8802247" cy="628650"/>
          </a:xfrm>
          <a:prstGeom prst="rect">
            <a:avLst/>
          </a:prstGeom>
        </p:spPr>
        <p:txBody>
          <a:bodyPr lIns="0" tIns="0" rIns="0" bIns="0"/>
          <a:lstStyle/>
          <a:p>
            <a:pPr>
              <a:defRPr sz="2025">
                <a:solidFill>
                  <a:srgbClr val="18212B"/>
                </a:solidFill>
              </a:defRPr>
            </a:pPr>
            <a:r>
              <a:rPr sz="2400" dirty="0">
                <a:solidFill>
                  <a:srgbClr val="18212B"/>
                </a:solidFill>
              </a:rPr>
              <a:t>- </a:t>
            </a:r>
            <a:r>
              <a:rPr lang="en-US" altLang="zh-CN" sz="2400" dirty="0"/>
              <a:t>In recommendation systems, leakage can make a model look better than it really is because it has indirectly seen information that should have been hidden.</a:t>
            </a:r>
            <a:endParaRPr sz="2400" dirty="0">
              <a:solidFill>
                <a:srgbClr val="18212B"/>
              </a:solidFill>
            </a:endParaRPr>
          </a:p>
        </p:txBody>
      </p:sp>
      <p:sp>
        <p:nvSpPr>
          <p:cNvPr id="7" name="leakage-bullets-2">
            <a:extLst>
              <a:ext uri="{FF2B5EF4-FFF2-40B4-BE49-F238E27FC236}">
                <a16:creationId xmlns:a16="http://schemas.microsoft.com/office/drawing/2014/main" id="{5093FBEE-65A7-4297-BB40-8B72A1AF6BB1}"/>
              </a:ext>
            </a:extLst>
          </p:cNvPr>
          <p:cNvSpPr>
            <a:spLocks noGrp="1"/>
          </p:cNvSpPr>
          <p:nvPr/>
        </p:nvSpPr>
        <p:spPr>
          <a:xfrm>
            <a:off x="956115" y="6016535"/>
            <a:ext cx="8802246" cy="846252"/>
          </a:xfrm>
          <a:prstGeom prst="rect">
            <a:avLst/>
          </a:prstGeom>
        </p:spPr>
        <p:txBody>
          <a:bodyPr lIns="0" tIns="0" rIns="0" bIns="0"/>
          <a:lstStyle/>
          <a:p>
            <a:pPr>
              <a:defRPr sz="2025">
                <a:solidFill>
                  <a:srgbClr val="18212B"/>
                </a:solidFill>
              </a:defRPr>
            </a:pPr>
            <a:r>
              <a:rPr sz="2400" dirty="0">
                <a:solidFill>
                  <a:srgbClr val="18212B"/>
                </a:solidFill>
              </a:rPr>
              <a:t>- TF-IDF</a:t>
            </a:r>
            <a:r>
              <a:rPr lang="en-US" sz="2400" dirty="0">
                <a:solidFill>
                  <a:srgbClr val="18212B"/>
                </a:solidFill>
              </a:rPr>
              <a:t> (</a:t>
            </a:r>
            <a:r>
              <a:rPr lang="en-US" altLang="zh-CN" sz="2025" dirty="0"/>
              <a:t>Term Frequency-Inverse Document Frequency)</a:t>
            </a:r>
            <a:r>
              <a:rPr sz="2400" dirty="0">
                <a:solidFill>
                  <a:srgbClr val="18212B"/>
                </a:solidFill>
              </a:rPr>
              <a:t> vocabulary and tag weights are fitted without using held-out interactions.</a:t>
            </a:r>
          </a:p>
        </p:txBody>
      </p:sp>
      <p:sp>
        <p:nvSpPr>
          <p:cNvPr id="8" name="leakage-bullets-3">
            <a:extLst>
              <a:ext uri="{FF2B5EF4-FFF2-40B4-BE49-F238E27FC236}">
                <a16:creationId xmlns:a16="http://schemas.microsoft.com/office/drawing/2014/main" id="{40FEA4E8-357E-4E11-9D6D-71C5A1762F45}"/>
              </a:ext>
            </a:extLst>
          </p:cNvPr>
          <p:cNvSpPr>
            <a:spLocks noGrp="1"/>
          </p:cNvSpPr>
          <p:nvPr/>
        </p:nvSpPr>
        <p:spPr>
          <a:xfrm>
            <a:off x="956114" y="7239711"/>
            <a:ext cx="7715250" cy="846252"/>
          </a:xfrm>
          <a:prstGeom prst="rect">
            <a:avLst/>
          </a:prstGeom>
        </p:spPr>
        <p:txBody>
          <a:bodyPr lIns="0" tIns="0" rIns="0" bIns="0"/>
          <a:lstStyle/>
          <a:p>
            <a:pPr>
              <a:defRPr sz="2025">
                <a:solidFill>
                  <a:srgbClr val="18212B"/>
                </a:solidFill>
              </a:defRPr>
            </a:pPr>
            <a:r>
              <a:rPr sz="2400" dirty="0">
                <a:solidFill>
                  <a:srgbClr val="18212B"/>
                </a:solidFill>
              </a:rPr>
              <a:t>- Validation/test data are used only as ground truth during evaluation.</a:t>
            </a:r>
          </a:p>
        </p:txBody>
      </p:sp>
      <p:sp>
        <p:nvSpPr>
          <p:cNvPr id="9" name="矩形: 圆角 8">
            <a:extLst>
              <a:ext uri="{FF2B5EF4-FFF2-40B4-BE49-F238E27FC236}">
                <a16:creationId xmlns:a16="http://schemas.microsoft.com/office/drawing/2014/main" id="{5CEEBE74-1EF0-46D6-9361-A09CA4832462}"/>
              </a:ext>
            </a:extLst>
          </p:cNvPr>
          <p:cNvSpPr>
            <a:spLocks noGrp="1"/>
          </p:cNvSpPr>
          <p:nvPr/>
        </p:nvSpPr>
        <p:spPr>
          <a:xfrm>
            <a:off x="10661904" y="4462271"/>
            <a:ext cx="3280410" cy="1308354"/>
          </a:xfrm>
          <a:prstGeom prst="roundRect">
            <a:avLst>
              <a:gd name="adj" fmla="val 7813"/>
            </a:avLst>
          </a:prstGeom>
          <a:solidFill>
            <a:srgbClr val="FFFFFF"/>
          </a:solidFill>
          <a:ln w="19050">
            <a:solidFill>
              <a:srgbClr val="2F7D6D"/>
            </a:solidFill>
            <a:prstDash val="solid"/>
          </a:ln>
        </p:spPr>
      </p:sp>
      <p:sp>
        <p:nvSpPr>
          <p:cNvPr id="10" name="矩形 9">
            <a:extLst>
              <a:ext uri="{FF2B5EF4-FFF2-40B4-BE49-F238E27FC236}">
                <a16:creationId xmlns:a16="http://schemas.microsoft.com/office/drawing/2014/main" id="{E54F0D21-8DEE-420A-9D62-B26C70592670}"/>
              </a:ext>
            </a:extLst>
          </p:cNvPr>
          <p:cNvSpPr>
            <a:spLocks noGrp="1"/>
          </p:cNvSpPr>
          <p:nvPr/>
        </p:nvSpPr>
        <p:spPr>
          <a:xfrm>
            <a:off x="10855207" y="4811648"/>
            <a:ext cx="2886761" cy="654177"/>
          </a:xfrm>
          <a:prstGeom prst="rect">
            <a:avLst/>
          </a:prstGeom>
        </p:spPr>
        <p:txBody>
          <a:bodyPr lIns="0" tIns="0" rIns="0" bIns="0"/>
          <a:lstStyle/>
          <a:p>
            <a:pPr algn="ctr">
              <a:defRPr sz="1950" b="1">
                <a:solidFill>
                  <a:srgbClr val="18212B"/>
                </a:solidFill>
              </a:defRPr>
            </a:pPr>
            <a:r>
              <a:rPr sz="1950" b="1">
                <a:solidFill>
                  <a:srgbClr val="18212B"/>
                </a:solidFill>
              </a:rPr>
              <a:t>Training data</a:t>
            </a:r>
          </a:p>
          <a:p>
            <a:pPr algn="ctr">
              <a:defRPr sz="1950" b="1">
                <a:solidFill>
                  <a:srgbClr val="18212B"/>
                </a:solidFill>
              </a:defRPr>
            </a:pPr>
            <a:r>
              <a:rPr sz="1950" b="1">
                <a:solidFill>
                  <a:srgbClr val="18212B"/>
                </a:solidFill>
              </a:rPr>
              <a:t>fit models + TF-IDF</a:t>
            </a:r>
          </a:p>
        </p:txBody>
      </p:sp>
      <p:sp>
        <p:nvSpPr>
          <p:cNvPr id="11" name="矩形 10">
            <a:extLst>
              <a:ext uri="{FF2B5EF4-FFF2-40B4-BE49-F238E27FC236}">
                <a16:creationId xmlns:a16="http://schemas.microsoft.com/office/drawing/2014/main" id="{31BA91BB-97BD-4CEE-81C1-4220D1F320D2}"/>
              </a:ext>
            </a:extLst>
          </p:cNvPr>
          <p:cNvSpPr>
            <a:spLocks noGrp="1"/>
          </p:cNvSpPr>
          <p:nvPr/>
        </p:nvSpPr>
        <p:spPr>
          <a:xfrm>
            <a:off x="13853526" y="4877156"/>
            <a:ext cx="590474" cy="531519"/>
          </a:xfrm>
          <a:prstGeom prst="rect">
            <a:avLst/>
          </a:prstGeom>
        </p:spPr>
        <p:txBody>
          <a:bodyPr lIns="0" tIns="0" rIns="0" bIns="0"/>
          <a:lstStyle/>
          <a:p>
            <a:pPr algn="ctr">
              <a:defRPr sz="3300" b="1">
                <a:solidFill>
                  <a:srgbClr val="C15D3A"/>
                </a:solidFill>
              </a:defRPr>
            </a:pPr>
            <a:r>
              <a:rPr sz="3300" b="1" dirty="0">
                <a:solidFill>
                  <a:srgbClr val="C15D3A"/>
                </a:solidFill>
              </a:rPr>
              <a:t>||</a:t>
            </a:r>
          </a:p>
        </p:txBody>
      </p:sp>
      <p:sp>
        <p:nvSpPr>
          <p:cNvPr id="12" name="矩形: 圆角 11">
            <a:extLst>
              <a:ext uri="{FF2B5EF4-FFF2-40B4-BE49-F238E27FC236}">
                <a16:creationId xmlns:a16="http://schemas.microsoft.com/office/drawing/2014/main" id="{64834C6A-DEED-470C-A3D6-DE2DB3C87E8C}"/>
              </a:ext>
            </a:extLst>
          </p:cNvPr>
          <p:cNvSpPr>
            <a:spLocks noGrp="1"/>
          </p:cNvSpPr>
          <p:nvPr/>
        </p:nvSpPr>
        <p:spPr>
          <a:xfrm>
            <a:off x="14376654" y="4462271"/>
            <a:ext cx="3280410" cy="1308354"/>
          </a:xfrm>
          <a:prstGeom prst="roundRect">
            <a:avLst>
              <a:gd name="adj" fmla="val 7813"/>
            </a:avLst>
          </a:prstGeom>
          <a:solidFill>
            <a:srgbClr val="FFFFFF"/>
          </a:solidFill>
          <a:ln w="19050">
            <a:solidFill>
              <a:srgbClr val="C15D3A"/>
            </a:solidFill>
            <a:prstDash val="solid"/>
          </a:ln>
        </p:spPr>
      </p:sp>
      <p:sp>
        <p:nvSpPr>
          <p:cNvPr id="13" name="矩形 12">
            <a:extLst>
              <a:ext uri="{FF2B5EF4-FFF2-40B4-BE49-F238E27FC236}">
                <a16:creationId xmlns:a16="http://schemas.microsoft.com/office/drawing/2014/main" id="{3E327777-EAF8-4486-A02E-3D398F8CBFCB}"/>
              </a:ext>
            </a:extLst>
          </p:cNvPr>
          <p:cNvSpPr>
            <a:spLocks noGrp="1"/>
          </p:cNvSpPr>
          <p:nvPr/>
        </p:nvSpPr>
        <p:spPr>
          <a:xfrm>
            <a:off x="14569957" y="4811648"/>
            <a:ext cx="2886761" cy="654177"/>
          </a:xfrm>
          <a:prstGeom prst="rect">
            <a:avLst/>
          </a:prstGeom>
        </p:spPr>
        <p:txBody>
          <a:bodyPr lIns="0" tIns="0" rIns="0" bIns="0"/>
          <a:lstStyle/>
          <a:p>
            <a:pPr algn="ctr">
              <a:defRPr sz="1950" b="1">
                <a:solidFill>
                  <a:srgbClr val="18212B"/>
                </a:solidFill>
              </a:defRPr>
            </a:pPr>
            <a:r>
              <a:rPr sz="1950" b="1">
                <a:solidFill>
                  <a:srgbClr val="18212B"/>
                </a:solidFill>
              </a:rPr>
              <a:t>Held-out data</a:t>
            </a:r>
          </a:p>
          <a:p>
            <a:pPr algn="ctr">
              <a:defRPr sz="1950" b="1">
                <a:solidFill>
                  <a:srgbClr val="18212B"/>
                </a:solidFill>
              </a:defRPr>
            </a:pPr>
            <a:r>
              <a:rPr sz="1950" b="1">
                <a:solidFill>
                  <a:srgbClr val="18212B"/>
                </a:solidFill>
              </a:rPr>
              <a:t>evaluate only</a:t>
            </a:r>
          </a:p>
        </p:txBody>
      </p:sp>
      <p:sp>
        <p:nvSpPr>
          <p:cNvPr id="14" name="矩形 13">
            <a:extLst>
              <a:ext uri="{FF2B5EF4-FFF2-40B4-BE49-F238E27FC236}">
                <a16:creationId xmlns:a16="http://schemas.microsoft.com/office/drawing/2014/main" id="{5EC1E8DE-008E-4670-A38C-EAD93FFC1544}"/>
              </a:ext>
            </a:extLst>
          </p:cNvPr>
          <p:cNvSpPr>
            <a:spLocks noGrp="1"/>
          </p:cNvSpPr>
          <p:nvPr/>
        </p:nvSpPr>
        <p:spPr>
          <a:xfrm>
            <a:off x="10699073" y="6120002"/>
            <a:ext cx="7741767" cy="715506"/>
          </a:xfrm>
          <a:prstGeom prst="rect">
            <a:avLst/>
          </a:prstGeom>
        </p:spPr>
        <p:txBody>
          <a:bodyPr lIns="0" tIns="0" rIns="0" bIns="0"/>
          <a:lstStyle/>
          <a:p>
            <a:pPr>
              <a:defRPr sz="2175">
                <a:solidFill>
                  <a:srgbClr val="18212B"/>
                </a:solidFill>
              </a:defRPr>
            </a:pPr>
            <a:r>
              <a:rPr sz="2175" dirty="0">
                <a:solidFill>
                  <a:srgbClr val="18212B"/>
                </a:solidFill>
              </a:rPr>
              <a:t>The boundary prevents the model from indirectly seeing the answers.</a:t>
            </a:r>
          </a:p>
        </p:txBody>
      </p:sp>
      <p:sp>
        <p:nvSpPr>
          <p:cNvPr id="15" name="footer-rule">
            <a:extLst>
              <a:ext uri="{FF2B5EF4-FFF2-40B4-BE49-F238E27FC236}">
                <a16:creationId xmlns:a16="http://schemas.microsoft.com/office/drawing/2014/main" id="{976101C7-4270-47DF-BD30-17F2CBB89505}"/>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16" name="source-rail">
            <a:extLst>
              <a:ext uri="{FF2B5EF4-FFF2-40B4-BE49-F238E27FC236}">
                <a16:creationId xmlns:a16="http://schemas.microsoft.com/office/drawing/2014/main" id="{94F03FEB-ADF3-4846-ACEA-6E5D127BB826}"/>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141990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5" name="slide-number">
            <a:extLst>
              <a:ext uri="{FF2B5EF4-FFF2-40B4-BE49-F238E27FC236}">
                <a16:creationId xmlns:a16="http://schemas.microsoft.com/office/drawing/2014/main" id="{FBFE5A54-62CD-4A2D-83BA-AC7BD2F98DAE}"/>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06</a:t>
            </a:r>
          </a:p>
        </p:txBody>
      </p:sp>
      <p:sp>
        <p:nvSpPr>
          <p:cNvPr id="2" name="kicker-rule">
            <a:extLst>
              <a:ext uri="{FF2B5EF4-FFF2-40B4-BE49-F238E27FC236}">
                <a16:creationId xmlns:a16="http://schemas.microsoft.com/office/drawing/2014/main" id="{2ADF6C91-0C2E-4DFC-B66E-1B9E519593D3}"/>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B65403DE-AD38-471D-B807-11ADDDA0AFC5}"/>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F60EE896-DC90-4FBD-9554-7A787653A094}"/>
              </a:ext>
            </a:extLst>
          </p:cNvPr>
          <p:cNvSpPr>
            <a:spLocks noGrp="1"/>
          </p:cNvSpPr>
          <p:nvPr/>
        </p:nvSpPr>
        <p:spPr>
          <a:xfrm>
            <a:off x="778482" y="2375364"/>
            <a:ext cx="16611600" cy="914400"/>
          </a:xfrm>
          <a:prstGeom prst="rect">
            <a:avLst/>
          </a:prstGeom>
        </p:spPr>
        <p:txBody>
          <a:bodyPr lIns="0" tIns="0" rIns="0" bIns="0"/>
          <a:lstStyle/>
          <a:p>
            <a:pPr>
              <a:defRPr sz="4050" b="1">
                <a:solidFill>
                  <a:srgbClr val="18212B"/>
                </a:solidFill>
              </a:defRPr>
            </a:pPr>
            <a:r>
              <a:rPr sz="4050" b="1" dirty="0">
                <a:solidFill>
                  <a:srgbClr val="18212B"/>
                </a:solidFill>
              </a:rPr>
              <a:t>Candidate pool and top-K evaluation</a:t>
            </a:r>
          </a:p>
        </p:txBody>
      </p:sp>
      <p:sp>
        <p:nvSpPr>
          <p:cNvPr id="5" name="slide-subtitle">
            <a:extLst>
              <a:ext uri="{FF2B5EF4-FFF2-40B4-BE49-F238E27FC236}">
                <a16:creationId xmlns:a16="http://schemas.microsoft.com/office/drawing/2014/main" id="{1CCB3105-4848-4DC2-9954-3C3342948334}"/>
              </a:ext>
            </a:extLst>
          </p:cNvPr>
          <p:cNvSpPr>
            <a:spLocks noGrp="1"/>
          </p:cNvSpPr>
          <p:nvPr/>
        </p:nvSpPr>
        <p:spPr>
          <a:xfrm>
            <a:off x="767249" y="6972300"/>
            <a:ext cx="8194351" cy="996486"/>
          </a:xfrm>
          <a:prstGeom prst="rect">
            <a:avLst/>
          </a:prstGeom>
        </p:spPr>
        <p:txBody>
          <a:bodyPr lIns="0" tIns="0" rIns="0" bIns="0"/>
          <a:lstStyle/>
          <a:p>
            <a:pPr>
              <a:defRPr sz="2250">
                <a:solidFill>
                  <a:srgbClr val="18212B"/>
                </a:solidFill>
              </a:defRPr>
            </a:pPr>
            <a:r>
              <a:rPr sz="2250" dirty="0">
                <a:solidFill>
                  <a:srgbClr val="18212B"/>
                </a:solidFill>
              </a:rPr>
              <a:t>The system ranks unseen candidate items, then checks whether held-out interactions appear in the top K.</a:t>
            </a:r>
          </a:p>
        </p:txBody>
      </p:sp>
      <p:sp>
        <p:nvSpPr>
          <p:cNvPr id="6" name="candidate-bullets-1">
            <a:extLst>
              <a:ext uri="{FF2B5EF4-FFF2-40B4-BE49-F238E27FC236}">
                <a16:creationId xmlns:a16="http://schemas.microsoft.com/office/drawing/2014/main" id="{B664FA0E-9E55-4BD8-9D98-9C3C3F3B8BF3}"/>
              </a:ext>
            </a:extLst>
          </p:cNvPr>
          <p:cNvSpPr>
            <a:spLocks noGrp="1"/>
          </p:cNvSpPr>
          <p:nvPr/>
        </p:nvSpPr>
        <p:spPr>
          <a:xfrm>
            <a:off x="886685" y="4876522"/>
            <a:ext cx="7715250" cy="323850"/>
          </a:xfrm>
          <a:prstGeom prst="rect">
            <a:avLst/>
          </a:prstGeom>
        </p:spPr>
        <p:txBody>
          <a:bodyPr lIns="0" tIns="0" rIns="0" bIns="0"/>
          <a:lstStyle/>
          <a:p>
            <a:pPr>
              <a:defRPr sz="2025">
                <a:solidFill>
                  <a:srgbClr val="18212B"/>
                </a:solidFill>
              </a:defRPr>
            </a:pPr>
            <a:r>
              <a:rPr sz="2025" dirty="0">
                <a:solidFill>
                  <a:srgbClr val="18212B"/>
                </a:solidFill>
              </a:rPr>
              <a:t>- Start from the training catalog.</a:t>
            </a:r>
          </a:p>
        </p:txBody>
      </p:sp>
      <p:sp>
        <p:nvSpPr>
          <p:cNvPr id="7" name="candidate-bullets-2">
            <a:extLst>
              <a:ext uri="{FF2B5EF4-FFF2-40B4-BE49-F238E27FC236}">
                <a16:creationId xmlns:a16="http://schemas.microsoft.com/office/drawing/2014/main" id="{670FA3B4-88A5-41F3-AFD5-C0281A076D4F}"/>
              </a:ext>
            </a:extLst>
          </p:cNvPr>
          <p:cNvSpPr>
            <a:spLocks noGrp="1"/>
          </p:cNvSpPr>
          <p:nvPr/>
        </p:nvSpPr>
        <p:spPr>
          <a:xfrm>
            <a:off x="886685" y="5351316"/>
            <a:ext cx="7715250" cy="323850"/>
          </a:xfrm>
          <a:prstGeom prst="rect">
            <a:avLst/>
          </a:prstGeom>
        </p:spPr>
        <p:txBody>
          <a:bodyPr lIns="0" tIns="0" rIns="0" bIns="0"/>
          <a:lstStyle/>
          <a:p>
            <a:pPr>
              <a:defRPr sz="2025">
                <a:solidFill>
                  <a:srgbClr val="18212B"/>
                </a:solidFill>
              </a:defRPr>
            </a:pPr>
            <a:r>
              <a:rPr sz="2025" dirty="0">
                <a:solidFill>
                  <a:srgbClr val="18212B"/>
                </a:solidFill>
              </a:rPr>
              <a:t>- Remove items the user already interacted with in training</a:t>
            </a:r>
            <a:r>
              <a:rPr lang="en-US" sz="2025" dirty="0">
                <a:solidFill>
                  <a:srgbClr val="18212B"/>
                </a:solidFill>
              </a:rPr>
              <a:t> to the pool</a:t>
            </a:r>
            <a:r>
              <a:rPr sz="2025" dirty="0">
                <a:solidFill>
                  <a:srgbClr val="18212B"/>
                </a:solidFill>
              </a:rPr>
              <a:t>.</a:t>
            </a:r>
          </a:p>
        </p:txBody>
      </p:sp>
      <p:sp>
        <p:nvSpPr>
          <p:cNvPr id="8" name="candidate-bullets-3">
            <a:extLst>
              <a:ext uri="{FF2B5EF4-FFF2-40B4-BE49-F238E27FC236}">
                <a16:creationId xmlns:a16="http://schemas.microsoft.com/office/drawing/2014/main" id="{F91DBD91-F600-40E2-ABBA-461AE12F01C4}"/>
              </a:ext>
            </a:extLst>
          </p:cNvPr>
          <p:cNvSpPr>
            <a:spLocks noGrp="1"/>
          </p:cNvSpPr>
          <p:nvPr/>
        </p:nvSpPr>
        <p:spPr>
          <a:xfrm>
            <a:off x="886685" y="5863483"/>
            <a:ext cx="7715250" cy="323850"/>
          </a:xfrm>
          <a:prstGeom prst="rect">
            <a:avLst/>
          </a:prstGeom>
        </p:spPr>
        <p:txBody>
          <a:bodyPr lIns="0" tIns="0" rIns="0" bIns="0"/>
          <a:lstStyle/>
          <a:p>
            <a:pPr>
              <a:defRPr sz="2025">
                <a:solidFill>
                  <a:srgbClr val="18212B"/>
                </a:solidFill>
              </a:defRPr>
            </a:pPr>
            <a:r>
              <a:rPr sz="2025" dirty="0">
                <a:solidFill>
                  <a:srgbClr val="18212B"/>
                </a:solidFill>
              </a:rPr>
              <a:t>- Rank the remaining candidates for K = 5, 10, and 20.</a:t>
            </a:r>
          </a:p>
        </p:txBody>
      </p:sp>
      <p:sp>
        <p:nvSpPr>
          <p:cNvPr id="9" name="candidate-bullets-4">
            <a:extLst>
              <a:ext uri="{FF2B5EF4-FFF2-40B4-BE49-F238E27FC236}">
                <a16:creationId xmlns:a16="http://schemas.microsoft.com/office/drawing/2014/main" id="{A204C475-1321-4349-B83D-7BC015A921BC}"/>
              </a:ext>
            </a:extLst>
          </p:cNvPr>
          <p:cNvSpPr>
            <a:spLocks noGrp="1"/>
          </p:cNvSpPr>
          <p:nvPr/>
        </p:nvSpPr>
        <p:spPr>
          <a:xfrm>
            <a:off x="886685" y="6384392"/>
            <a:ext cx="7715250" cy="323850"/>
          </a:xfrm>
          <a:prstGeom prst="rect">
            <a:avLst/>
          </a:prstGeom>
        </p:spPr>
        <p:txBody>
          <a:bodyPr lIns="0" tIns="0" rIns="0" bIns="0"/>
          <a:lstStyle/>
          <a:p>
            <a:pPr>
              <a:defRPr sz="2025">
                <a:solidFill>
                  <a:srgbClr val="18212B"/>
                </a:solidFill>
              </a:defRPr>
            </a:pPr>
            <a:r>
              <a:rPr sz="2025" dirty="0">
                <a:solidFill>
                  <a:srgbClr val="18212B"/>
                </a:solidFill>
              </a:rPr>
              <a:t>- Compare the recommendation list with validation or test ground truth.</a:t>
            </a:r>
          </a:p>
        </p:txBody>
      </p:sp>
      <p:sp>
        <p:nvSpPr>
          <p:cNvPr id="10" name="candidate-eval-panel">
            <a:extLst>
              <a:ext uri="{FF2B5EF4-FFF2-40B4-BE49-F238E27FC236}">
                <a16:creationId xmlns:a16="http://schemas.microsoft.com/office/drawing/2014/main" id="{B0E82D12-B9DD-4308-969E-E899104D80AA}"/>
              </a:ext>
            </a:extLst>
          </p:cNvPr>
          <p:cNvSpPr>
            <a:spLocks noGrp="1"/>
          </p:cNvSpPr>
          <p:nvPr/>
        </p:nvSpPr>
        <p:spPr>
          <a:xfrm>
            <a:off x="9315168" y="4229100"/>
            <a:ext cx="8360664" cy="3969678"/>
          </a:xfrm>
          <a:prstGeom prst="roundRect">
            <a:avLst>
              <a:gd name="adj" fmla="val 2400"/>
            </a:avLst>
          </a:prstGeom>
          <a:solidFill>
            <a:srgbClr val="FFFFFF"/>
          </a:solidFill>
          <a:ln w="9525">
            <a:solidFill>
              <a:srgbClr val="C7D1CC"/>
            </a:solidFill>
            <a:prstDash val="solid"/>
          </a:ln>
        </p:spPr>
      </p:sp>
      <p:sp>
        <p:nvSpPr>
          <p:cNvPr id="11" name="矩形: 圆角 10">
            <a:extLst>
              <a:ext uri="{FF2B5EF4-FFF2-40B4-BE49-F238E27FC236}">
                <a16:creationId xmlns:a16="http://schemas.microsoft.com/office/drawing/2014/main" id="{A07BB9C1-4F54-468E-8DEF-4ADFBD5B28FE}"/>
              </a:ext>
            </a:extLst>
          </p:cNvPr>
          <p:cNvSpPr>
            <a:spLocks noGrp="1"/>
          </p:cNvSpPr>
          <p:nvPr/>
        </p:nvSpPr>
        <p:spPr>
          <a:xfrm>
            <a:off x="9600918" y="4876800"/>
            <a:ext cx="1466850" cy="876300"/>
          </a:xfrm>
          <a:prstGeom prst="roundRect">
            <a:avLst>
              <a:gd name="adj" fmla="val 10870"/>
            </a:avLst>
          </a:prstGeom>
          <a:solidFill>
            <a:srgbClr val="FFFFFF"/>
          </a:solidFill>
          <a:ln w="14288">
            <a:solidFill>
              <a:srgbClr val="446B8C"/>
            </a:solidFill>
            <a:prstDash val="solid"/>
          </a:ln>
        </p:spPr>
      </p:sp>
      <p:sp>
        <p:nvSpPr>
          <p:cNvPr id="12" name="矩形 11">
            <a:extLst>
              <a:ext uri="{FF2B5EF4-FFF2-40B4-BE49-F238E27FC236}">
                <a16:creationId xmlns:a16="http://schemas.microsoft.com/office/drawing/2014/main" id="{3C739203-6361-467E-A2B3-D27A5CEDCEDD}"/>
              </a:ext>
            </a:extLst>
          </p:cNvPr>
          <p:cNvSpPr>
            <a:spLocks noGrp="1"/>
          </p:cNvSpPr>
          <p:nvPr/>
        </p:nvSpPr>
        <p:spPr>
          <a:xfrm>
            <a:off x="9731982" y="5086350"/>
            <a:ext cx="1219200" cy="457200"/>
          </a:xfrm>
          <a:prstGeom prst="rect">
            <a:avLst/>
          </a:prstGeom>
        </p:spPr>
        <p:txBody>
          <a:bodyPr lIns="0" tIns="0" rIns="0" bIns="0"/>
          <a:lstStyle/>
          <a:p>
            <a:pPr algn="ctr">
              <a:defRPr sz="1500" b="1">
                <a:solidFill>
                  <a:srgbClr val="18212B"/>
                </a:solidFill>
              </a:defRPr>
            </a:pPr>
            <a:r>
              <a:rPr sz="1500" b="1">
                <a:solidFill>
                  <a:srgbClr val="18212B"/>
                </a:solidFill>
              </a:rPr>
              <a:t>Training</a:t>
            </a:r>
          </a:p>
          <a:p>
            <a:pPr algn="ctr">
              <a:defRPr sz="1500" b="1">
                <a:solidFill>
                  <a:srgbClr val="18212B"/>
                </a:solidFill>
              </a:defRPr>
            </a:pPr>
            <a:r>
              <a:rPr sz="1500" b="1">
                <a:solidFill>
                  <a:srgbClr val="18212B"/>
                </a:solidFill>
              </a:rPr>
              <a:t>catalog</a:t>
            </a:r>
          </a:p>
        </p:txBody>
      </p:sp>
      <p:sp>
        <p:nvSpPr>
          <p:cNvPr id="13" name="矩形 12">
            <a:extLst>
              <a:ext uri="{FF2B5EF4-FFF2-40B4-BE49-F238E27FC236}">
                <a16:creationId xmlns:a16="http://schemas.microsoft.com/office/drawing/2014/main" id="{C13E82C1-3DB8-429F-9331-78F460D048E9}"/>
              </a:ext>
            </a:extLst>
          </p:cNvPr>
          <p:cNvSpPr>
            <a:spLocks noGrp="1"/>
          </p:cNvSpPr>
          <p:nvPr/>
        </p:nvSpPr>
        <p:spPr>
          <a:xfrm>
            <a:off x="11198832" y="5162550"/>
            <a:ext cx="704850" cy="304800"/>
          </a:xfrm>
          <a:prstGeom prst="rect">
            <a:avLst/>
          </a:prstGeom>
        </p:spPr>
        <p:txBody>
          <a:bodyPr lIns="0" tIns="0" rIns="0" bIns="0"/>
          <a:lstStyle/>
          <a:p>
            <a:pPr algn="ctr">
              <a:defRPr sz="1950" b="1">
                <a:solidFill>
                  <a:srgbClr val="18212B"/>
                </a:solidFill>
              </a:defRPr>
            </a:pPr>
            <a:r>
              <a:rPr sz="1950" b="1">
                <a:solidFill>
                  <a:srgbClr val="18212B"/>
                </a:solidFill>
              </a:rPr>
              <a:t>- seen</a:t>
            </a:r>
          </a:p>
        </p:txBody>
      </p:sp>
      <p:sp>
        <p:nvSpPr>
          <p:cNvPr id="14" name="矩形: 圆角 13">
            <a:extLst>
              <a:ext uri="{FF2B5EF4-FFF2-40B4-BE49-F238E27FC236}">
                <a16:creationId xmlns:a16="http://schemas.microsoft.com/office/drawing/2014/main" id="{7FEB2DD2-30C6-4A03-B86C-9354965A62F2}"/>
              </a:ext>
            </a:extLst>
          </p:cNvPr>
          <p:cNvSpPr>
            <a:spLocks noGrp="1"/>
          </p:cNvSpPr>
          <p:nvPr/>
        </p:nvSpPr>
        <p:spPr>
          <a:xfrm>
            <a:off x="12039318" y="4876800"/>
            <a:ext cx="1466850" cy="876300"/>
          </a:xfrm>
          <a:prstGeom prst="roundRect">
            <a:avLst>
              <a:gd name="adj" fmla="val 10870"/>
            </a:avLst>
          </a:prstGeom>
          <a:solidFill>
            <a:srgbClr val="FFFFFF"/>
          </a:solidFill>
          <a:ln w="14288">
            <a:solidFill>
              <a:srgbClr val="2F7D6D"/>
            </a:solidFill>
            <a:prstDash val="solid"/>
          </a:ln>
        </p:spPr>
      </p:sp>
      <p:sp>
        <p:nvSpPr>
          <p:cNvPr id="15" name="矩形 14">
            <a:extLst>
              <a:ext uri="{FF2B5EF4-FFF2-40B4-BE49-F238E27FC236}">
                <a16:creationId xmlns:a16="http://schemas.microsoft.com/office/drawing/2014/main" id="{0FD0C66E-2804-4621-8B70-BC19B69799B0}"/>
              </a:ext>
            </a:extLst>
          </p:cNvPr>
          <p:cNvSpPr>
            <a:spLocks noGrp="1"/>
          </p:cNvSpPr>
          <p:nvPr/>
        </p:nvSpPr>
        <p:spPr>
          <a:xfrm>
            <a:off x="12170382" y="5086350"/>
            <a:ext cx="1219200" cy="457200"/>
          </a:xfrm>
          <a:prstGeom prst="rect">
            <a:avLst/>
          </a:prstGeom>
        </p:spPr>
        <p:txBody>
          <a:bodyPr lIns="0" tIns="0" rIns="0" bIns="0"/>
          <a:lstStyle/>
          <a:p>
            <a:pPr algn="ctr">
              <a:defRPr sz="1500" b="1">
                <a:solidFill>
                  <a:srgbClr val="18212B"/>
                </a:solidFill>
              </a:defRPr>
            </a:pPr>
            <a:r>
              <a:rPr sz="1500" b="1">
                <a:solidFill>
                  <a:srgbClr val="18212B"/>
                </a:solidFill>
              </a:rPr>
              <a:t>Candidate</a:t>
            </a:r>
          </a:p>
          <a:p>
            <a:pPr algn="ctr">
              <a:defRPr sz="1500" b="1">
                <a:solidFill>
                  <a:srgbClr val="18212B"/>
                </a:solidFill>
              </a:defRPr>
            </a:pPr>
            <a:r>
              <a:rPr sz="1500" b="1">
                <a:solidFill>
                  <a:srgbClr val="18212B"/>
                </a:solidFill>
              </a:rPr>
              <a:t>pool</a:t>
            </a:r>
          </a:p>
        </p:txBody>
      </p:sp>
      <p:sp>
        <p:nvSpPr>
          <p:cNvPr id="16" name="矩形 15">
            <a:extLst>
              <a:ext uri="{FF2B5EF4-FFF2-40B4-BE49-F238E27FC236}">
                <a16:creationId xmlns:a16="http://schemas.microsoft.com/office/drawing/2014/main" id="{5BA33608-F36B-4C76-BA27-C86E24C28435}"/>
              </a:ext>
            </a:extLst>
          </p:cNvPr>
          <p:cNvSpPr>
            <a:spLocks noGrp="1"/>
          </p:cNvSpPr>
          <p:nvPr/>
        </p:nvSpPr>
        <p:spPr>
          <a:xfrm>
            <a:off x="13637232" y="5162550"/>
            <a:ext cx="571500" cy="304800"/>
          </a:xfrm>
          <a:prstGeom prst="rect">
            <a:avLst/>
          </a:prstGeom>
        </p:spPr>
        <p:txBody>
          <a:bodyPr lIns="0" tIns="0" rIns="0" bIns="0"/>
          <a:lstStyle/>
          <a:p>
            <a:pPr algn="ctr">
              <a:defRPr sz="1950" b="1">
                <a:solidFill>
                  <a:srgbClr val="18212B"/>
                </a:solidFill>
              </a:defRPr>
            </a:pPr>
            <a:r>
              <a:rPr sz="1950" b="1">
                <a:solidFill>
                  <a:srgbClr val="18212B"/>
                </a:solidFill>
              </a:rPr>
              <a:t>rank</a:t>
            </a:r>
          </a:p>
        </p:txBody>
      </p:sp>
      <p:sp>
        <p:nvSpPr>
          <p:cNvPr id="17" name="矩形: 圆角 16">
            <a:extLst>
              <a:ext uri="{FF2B5EF4-FFF2-40B4-BE49-F238E27FC236}">
                <a16:creationId xmlns:a16="http://schemas.microsoft.com/office/drawing/2014/main" id="{BBBF349A-D451-4A59-9DDB-6CEE204391EF}"/>
              </a:ext>
            </a:extLst>
          </p:cNvPr>
          <p:cNvSpPr>
            <a:spLocks noGrp="1"/>
          </p:cNvSpPr>
          <p:nvPr/>
        </p:nvSpPr>
        <p:spPr>
          <a:xfrm>
            <a:off x="14344368" y="4876800"/>
            <a:ext cx="1314450" cy="876300"/>
          </a:xfrm>
          <a:prstGeom prst="roundRect">
            <a:avLst>
              <a:gd name="adj" fmla="val 10870"/>
            </a:avLst>
          </a:prstGeom>
          <a:solidFill>
            <a:srgbClr val="FFFFFF"/>
          </a:solidFill>
          <a:ln w="14288">
            <a:solidFill>
              <a:srgbClr val="C15D3A"/>
            </a:solidFill>
            <a:prstDash val="solid"/>
          </a:ln>
        </p:spPr>
      </p:sp>
      <p:sp>
        <p:nvSpPr>
          <p:cNvPr id="18" name="矩形 17">
            <a:extLst>
              <a:ext uri="{FF2B5EF4-FFF2-40B4-BE49-F238E27FC236}">
                <a16:creationId xmlns:a16="http://schemas.microsoft.com/office/drawing/2014/main" id="{F2DD6B1E-5EBA-4EF2-980C-B814353B1142}"/>
              </a:ext>
            </a:extLst>
          </p:cNvPr>
          <p:cNvSpPr>
            <a:spLocks noGrp="1"/>
          </p:cNvSpPr>
          <p:nvPr/>
        </p:nvSpPr>
        <p:spPr>
          <a:xfrm>
            <a:off x="14475432" y="5086350"/>
            <a:ext cx="1066800" cy="457200"/>
          </a:xfrm>
          <a:prstGeom prst="rect">
            <a:avLst/>
          </a:prstGeom>
        </p:spPr>
        <p:txBody>
          <a:bodyPr lIns="0" tIns="0" rIns="0" bIns="0"/>
          <a:lstStyle/>
          <a:p>
            <a:pPr algn="ctr">
              <a:defRPr sz="1500" b="1">
                <a:solidFill>
                  <a:srgbClr val="18212B"/>
                </a:solidFill>
              </a:defRPr>
            </a:pPr>
            <a:r>
              <a:rPr sz="1500" b="1">
                <a:solidFill>
                  <a:srgbClr val="18212B"/>
                </a:solidFill>
              </a:rPr>
              <a:t>Top-K</a:t>
            </a:r>
          </a:p>
          <a:p>
            <a:pPr algn="ctr">
              <a:defRPr sz="1500" b="1">
                <a:solidFill>
                  <a:srgbClr val="18212B"/>
                </a:solidFill>
              </a:defRPr>
            </a:pPr>
            <a:r>
              <a:rPr sz="1500" b="1">
                <a:solidFill>
                  <a:srgbClr val="18212B"/>
                </a:solidFill>
              </a:rPr>
              <a:t>list</a:t>
            </a:r>
          </a:p>
        </p:txBody>
      </p:sp>
      <p:sp>
        <p:nvSpPr>
          <p:cNvPr id="19" name="矩形: 圆角 18">
            <a:extLst>
              <a:ext uri="{FF2B5EF4-FFF2-40B4-BE49-F238E27FC236}">
                <a16:creationId xmlns:a16="http://schemas.microsoft.com/office/drawing/2014/main" id="{6BB58D8F-7C0E-48F6-BAAB-5A2A32480001}"/>
              </a:ext>
            </a:extLst>
          </p:cNvPr>
          <p:cNvSpPr>
            <a:spLocks noGrp="1"/>
          </p:cNvSpPr>
          <p:nvPr/>
        </p:nvSpPr>
        <p:spPr>
          <a:xfrm>
            <a:off x="9600918" y="5979795"/>
            <a:ext cx="1481633" cy="495300"/>
          </a:xfrm>
          <a:prstGeom prst="roundRect">
            <a:avLst>
              <a:gd name="adj" fmla="val 13462"/>
            </a:avLst>
          </a:prstGeom>
          <a:solidFill>
            <a:srgbClr val="E4F1EC"/>
          </a:solidFill>
          <a:ln w="7620">
            <a:solidFill>
              <a:srgbClr val="2F7D6D"/>
            </a:solidFill>
            <a:prstDash val="solid"/>
          </a:ln>
        </p:spPr>
      </p:sp>
      <p:sp>
        <p:nvSpPr>
          <p:cNvPr id="20" name="矩形 19">
            <a:extLst>
              <a:ext uri="{FF2B5EF4-FFF2-40B4-BE49-F238E27FC236}">
                <a16:creationId xmlns:a16="http://schemas.microsoft.com/office/drawing/2014/main" id="{A6C615DB-87E4-46E9-8A5C-35A811335EBE}"/>
              </a:ext>
            </a:extLst>
          </p:cNvPr>
          <p:cNvSpPr>
            <a:spLocks noGrp="1"/>
          </p:cNvSpPr>
          <p:nvPr/>
        </p:nvSpPr>
        <p:spPr>
          <a:xfrm>
            <a:off x="9693882" y="6115050"/>
            <a:ext cx="1295400" cy="228600"/>
          </a:xfrm>
          <a:prstGeom prst="rect">
            <a:avLst/>
          </a:prstGeom>
        </p:spPr>
        <p:txBody>
          <a:bodyPr lIns="0" tIns="0" rIns="0" bIns="0"/>
          <a:lstStyle/>
          <a:p>
            <a:pPr algn="ctr">
              <a:defRPr sz="1500" b="1">
                <a:solidFill>
                  <a:srgbClr val="2F7D6D"/>
                </a:solidFill>
              </a:defRPr>
            </a:pPr>
            <a:r>
              <a:rPr sz="1500" b="1">
                <a:solidFill>
                  <a:srgbClr val="2F7D6D"/>
                </a:solidFill>
              </a:rPr>
              <a:t>#1</a:t>
            </a:r>
          </a:p>
        </p:txBody>
      </p:sp>
      <p:sp>
        <p:nvSpPr>
          <p:cNvPr id="21" name="矩形: 圆角 20">
            <a:extLst>
              <a:ext uri="{FF2B5EF4-FFF2-40B4-BE49-F238E27FC236}">
                <a16:creationId xmlns:a16="http://schemas.microsoft.com/office/drawing/2014/main" id="{BDCBFA58-57CE-47EE-A06D-BA2CC9A1C1C1}"/>
              </a:ext>
            </a:extLst>
          </p:cNvPr>
          <p:cNvSpPr>
            <a:spLocks noGrp="1"/>
          </p:cNvSpPr>
          <p:nvPr/>
        </p:nvSpPr>
        <p:spPr>
          <a:xfrm>
            <a:off x="11177801" y="5979795"/>
            <a:ext cx="1481633" cy="495300"/>
          </a:xfrm>
          <a:prstGeom prst="roundRect">
            <a:avLst>
              <a:gd name="adj" fmla="val 13462"/>
            </a:avLst>
          </a:prstGeom>
          <a:solidFill>
            <a:srgbClr val="E4F1EC"/>
          </a:solidFill>
          <a:ln w="7620">
            <a:solidFill>
              <a:srgbClr val="2F7D6D"/>
            </a:solidFill>
            <a:prstDash val="solid"/>
          </a:ln>
        </p:spPr>
      </p:sp>
      <p:sp>
        <p:nvSpPr>
          <p:cNvPr id="22" name="矩形 21">
            <a:extLst>
              <a:ext uri="{FF2B5EF4-FFF2-40B4-BE49-F238E27FC236}">
                <a16:creationId xmlns:a16="http://schemas.microsoft.com/office/drawing/2014/main" id="{91CF01FC-613C-4FFD-B39C-9E5FFEBA1B15}"/>
              </a:ext>
            </a:extLst>
          </p:cNvPr>
          <p:cNvSpPr>
            <a:spLocks noGrp="1"/>
          </p:cNvSpPr>
          <p:nvPr/>
        </p:nvSpPr>
        <p:spPr>
          <a:xfrm>
            <a:off x="11275032" y="6115050"/>
            <a:ext cx="1295400" cy="228600"/>
          </a:xfrm>
          <a:prstGeom prst="rect">
            <a:avLst/>
          </a:prstGeom>
        </p:spPr>
        <p:txBody>
          <a:bodyPr lIns="0" tIns="0" rIns="0" bIns="0"/>
          <a:lstStyle/>
          <a:p>
            <a:pPr algn="ctr">
              <a:defRPr sz="1500" b="1">
                <a:solidFill>
                  <a:srgbClr val="2F7D6D"/>
                </a:solidFill>
              </a:defRPr>
            </a:pPr>
            <a:r>
              <a:rPr sz="1500" b="1">
                <a:solidFill>
                  <a:srgbClr val="2F7D6D"/>
                </a:solidFill>
              </a:rPr>
              <a:t>#2</a:t>
            </a:r>
          </a:p>
        </p:txBody>
      </p:sp>
      <p:sp>
        <p:nvSpPr>
          <p:cNvPr id="23" name="矩形: 圆角 22">
            <a:extLst>
              <a:ext uri="{FF2B5EF4-FFF2-40B4-BE49-F238E27FC236}">
                <a16:creationId xmlns:a16="http://schemas.microsoft.com/office/drawing/2014/main" id="{36341394-B92A-4E02-A5AB-48889BA86D75}"/>
              </a:ext>
            </a:extLst>
          </p:cNvPr>
          <p:cNvSpPr>
            <a:spLocks noGrp="1"/>
          </p:cNvSpPr>
          <p:nvPr/>
        </p:nvSpPr>
        <p:spPr>
          <a:xfrm>
            <a:off x="12754684" y="5979795"/>
            <a:ext cx="1481633" cy="495300"/>
          </a:xfrm>
          <a:prstGeom prst="roundRect">
            <a:avLst>
              <a:gd name="adj" fmla="val 13462"/>
            </a:avLst>
          </a:prstGeom>
          <a:solidFill>
            <a:srgbClr val="E4F1EC"/>
          </a:solidFill>
          <a:ln w="7620">
            <a:solidFill>
              <a:srgbClr val="2F7D6D"/>
            </a:solidFill>
            <a:prstDash val="solid"/>
          </a:ln>
        </p:spPr>
      </p:sp>
      <p:sp>
        <p:nvSpPr>
          <p:cNvPr id="24" name="矩形 23">
            <a:extLst>
              <a:ext uri="{FF2B5EF4-FFF2-40B4-BE49-F238E27FC236}">
                <a16:creationId xmlns:a16="http://schemas.microsoft.com/office/drawing/2014/main" id="{BBEB821B-8AF5-4AED-ABAC-9893F7E52D1F}"/>
              </a:ext>
            </a:extLst>
          </p:cNvPr>
          <p:cNvSpPr>
            <a:spLocks noGrp="1"/>
          </p:cNvSpPr>
          <p:nvPr/>
        </p:nvSpPr>
        <p:spPr>
          <a:xfrm>
            <a:off x="12856182" y="6115050"/>
            <a:ext cx="1295400" cy="228600"/>
          </a:xfrm>
          <a:prstGeom prst="rect">
            <a:avLst/>
          </a:prstGeom>
        </p:spPr>
        <p:txBody>
          <a:bodyPr lIns="0" tIns="0" rIns="0" bIns="0"/>
          <a:lstStyle/>
          <a:p>
            <a:pPr algn="ctr">
              <a:defRPr sz="1500" b="1">
                <a:solidFill>
                  <a:srgbClr val="2F7D6D"/>
                </a:solidFill>
              </a:defRPr>
            </a:pPr>
            <a:r>
              <a:rPr sz="1500" b="1">
                <a:solidFill>
                  <a:srgbClr val="2F7D6D"/>
                </a:solidFill>
              </a:rPr>
              <a:t>#3</a:t>
            </a:r>
          </a:p>
        </p:txBody>
      </p:sp>
      <p:sp>
        <p:nvSpPr>
          <p:cNvPr id="25" name="矩形: 圆角 24">
            <a:extLst>
              <a:ext uri="{FF2B5EF4-FFF2-40B4-BE49-F238E27FC236}">
                <a16:creationId xmlns:a16="http://schemas.microsoft.com/office/drawing/2014/main" id="{C114D8FA-8BF1-4F62-B11A-D47BCB702715}"/>
              </a:ext>
            </a:extLst>
          </p:cNvPr>
          <p:cNvSpPr>
            <a:spLocks noGrp="1"/>
          </p:cNvSpPr>
          <p:nvPr/>
        </p:nvSpPr>
        <p:spPr>
          <a:xfrm>
            <a:off x="14331566" y="5979795"/>
            <a:ext cx="1481633" cy="495300"/>
          </a:xfrm>
          <a:prstGeom prst="roundRect">
            <a:avLst>
              <a:gd name="adj" fmla="val 13462"/>
            </a:avLst>
          </a:prstGeom>
          <a:solidFill>
            <a:srgbClr val="EEF3EF"/>
          </a:solidFill>
          <a:ln w="7620">
            <a:solidFill>
              <a:srgbClr val="C7D1CC"/>
            </a:solidFill>
            <a:prstDash val="solid"/>
          </a:ln>
        </p:spPr>
      </p:sp>
      <p:sp>
        <p:nvSpPr>
          <p:cNvPr id="26" name="矩形 25">
            <a:extLst>
              <a:ext uri="{FF2B5EF4-FFF2-40B4-BE49-F238E27FC236}">
                <a16:creationId xmlns:a16="http://schemas.microsoft.com/office/drawing/2014/main" id="{05279F55-E04E-490A-8B56-3206B25A9727}"/>
              </a:ext>
            </a:extLst>
          </p:cNvPr>
          <p:cNvSpPr>
            <a:spLocks noGrp="1"/>
          </p:cNvSpPr>
          <p:nvPr/>
        </p:nvSpPr>
        <p:spPr>
          <a:xfrm>
            <a:off x="14418282" y="6115050"/>
            <a:ext cx="1295400" cy="228600"/>
          </a:xfrm>
          <a:prstGeom prst="rect">
            <a:avLst/>
          </a:prstGeom>
        </p:spPr>
        <p:txBody>
          <a:bodyPr lIns="0" tIns="0" rIns="0" bIns="0"/>
          <a:lstStyle/>
          <a:p>
            <a:pPr algn="ctr">
              <a:defRPr sz="1500" b="1">
                <a:solidFill>
                  <a:srgbClr val="18212B"/>
                </a:solidFill>
              </a:defRPr>
            </a:pPr>
            <a:r>
              <a:rPr sz="1500" b="1">
                <a:solidFill>
                  <a:srgbClr val="18212B"/>
                </a:solidFill>
              </a:rPr>
              <a:t>...</a:t>
            </a:r>
          </a:p>
        </p:txBody>
      </p:sp>
      <p:sp>
        <p:nvSpPr>
          <p:cNvPr id="27" name="矩形: 圆角 26">
            <a:extLst>
              <a:ext uri="{FF2B5EF4-FFF2-40B4-BE49-F238E27FC236}">
                <a16:creationId xmlns:a16="http://schemas.microsoft.com/office/drawing/2014/main" id="{358D503C-4D82-4CD8-A0FB-834D161B2442}"/>
              </a:ext>
            </a:extLst>
          </p:cNvPr>
          <p:cNvSpPr>
            <a:spLocks noGrp="1"/>
          </p:cNvSpPr>
          <p:nvPr/>
        </p:nvSpPr>
        <p:spPr>
          <a:xfrm>
            <a:off x="15908449" y="5979795"/>
            <a:ext cx="1481633" cy="495300"/>
          </a:xfrm>
          <a:prstGeom prst="roundRect">
            <a:avLst>
              <a:gd name="adj" fmla="val 13462"/>
            </a:avLst>
          </a:prstGeom>
          <a:solidFill>
            <a:srgbClr val="EEF3EF"/>
          </a:solidFill>
          <a:ln w="7620">
            <a:solidFill>
              <a:srgbClr val="C7D1CC"/>
            </a:solidFill>
            <a:prstDash val="solid"/>
          </a:ln>
        </p:spPr>
      </p:sp>
      <p:sp>
        <p:nvSpPr>
          <p:cNvPr id="28" name="矩形 27">
            <a:extLst>
              <a:ext uri="{FF2B5EF4-FFF2-40B4-BE49-F238E27FC236}">
                <a16:creationId xmlns:a16="http://schemas.microsoft.com/office/drawing/2014/main" id="{D4CC8D0F-BF18-4178-9A49-3AF4FEEA0DDA}"/>
              </a:ext>
            </a:extLst>
          </p:cNvPr>
          <p:cNvSpPr>
            <a:spLocks noGrp="1"/>
          </p:cNvSpPr>
          <p:nvPr/>
        </p:nvSpPr>
        <p:spPr>
          <a:xfrm>
            <a:off x="15999432" y="6115050"/>
            <a:ext cx="1295400" cy="228600"/>
          </a:xfrm>
          <a:prstGeom prst="rect">
            <a:avLst/>
          </a:prstGeom>
        </p:spPr>
        <p:txBody>
          <a:bodyPr lIns="0" tIns="0" rIns="0" bIns="0"/>
          <a:lstStyle/>
          <a:p>
            <a:pPr algn="ctr">
              <a:defRPr sz="1500" b="1">
                <a:solidFill>
                  <a:srgbClr val="18212B"/>
                </a:solidFill>
              </a:defRPr>
            </a:pPr>
            <a:r>
              <a:rPr sz="1500" b="1">
                <a:solidFill>
                  <a:srgbClr val="18212B"/>
                </a:solidFill>
              </a:rPr>
              <a:t>#K</a:t>
            </a:r>
          </a:p>
        </p:txBody>
      </p:sp>
      <p:sp>
        <p:nvSpPr>
          <p:cNvPr id="29" name="矩形: 圆角 28">
            <a:extLst>
              <a:ext uri="{FF2B5EF4-FFF2-40B4-BE49-F238E27FC236}">
                <a16:creationId xmlns:a16="http://schemas.microsoft.com/office/drawing/2014/main" id="{15551BF7-5AB3-434E-BE36-277E5F961147}"/>
              </a:ext>
            </a:extLst>
          </p:cNvPr>
          <p:cNvSpPr>
            <a:spLocks noGrp="1"/>
          </p:cNvSpPr>
          <p:nvPr/>
        </p:nvSpPr>
        <p:spPr>
          <a:xfrm>
            <a:off x="9600918" y="6705600"/>
            <a:ext cx="2247900" cy="857250"/>
          </a:xfrm>
          <a:prstGeom prst="roundRect">
            <a:avLst>
              <a:gd name="adj" fmla="val 11111"/>
            </a:avLst>
          </a:prstGeom>
          <a:solidFill>
            <a:srgbClr val="FFF8F3"/>
          </a:solidFill>
          <a:ln w="14288">
            <a:solidFill>
              <a:srgbClr val="C15D3A"/>
            </a:solidFill>
            <a:prstDash val="solid"/>
          </a:ln>
        </p:spPr>
      </p:sp>
      <p:sp>
        <p:nvSpPr>
          <p:cNvPr id="30" name="矩形 29">
            <a:extLst>
              <a:ext uri="{FF2B5EF4-FFF2-40B4-BE49-F238E27FC236}">
                <a16:creationId xmlns:a16="http://schemas.microsoft.com/office/drawing/2014/main" id="{BC3A71F5-3A90-45E7-85A1-34D2062B320C}"/>
              </a:ext>
            </a:extLst>
          </p:cNvPr>
          <p:cNvSpPr>
            <a:spLocks noGrp="1"/>
          </p:cNvSpPr>
          <p:nvPr/>
        </p:nvSpPr>
        <p:spPr>
          <a:xfrm>
            <a:off x="9731982" y="6915150"/>
            <a:ext cx="1981200" cy="457200"/>
          </a:xfrm>
          <a:prstGeom prst="rect">
            <a:avLst/>
          </a:prstGeom>
        </p:spPr>
        <p:txBody>
          <a:bodyPr lIns="0" tIns="0" rIns="0" bIns="0"/>
          <a:lstStyle/>
          <a:p>
            <a:pPr algn="ctr">
              <a:defRPr sz="1500" b="1">
                <a:solidFill>
                  <a:srgbClr val="18212B"/>
                </a:solidFill>
              </a:defRPr>
            </a:pPr>
            <a:r>
              <a:rPr sz="1500" b="1">
                <a:solidFill>
                  <a:srgbClr val="18212B"/>
                </a:solidFill>
              </a:rPr>
              <a:t>Validation / test</a:t>
            </a:r>
          </a:p>
          <a:p>
            <a:pPr algn="ctr">
              <a:defRPr sz="1500" b="1">
                <a:solidFill>
                  <a:srgbClr val="18212B"/>
                </a:solidFill>
              </a:defRPr>
            </a:pPr>
            <a:r>
              <a:rPr sz="1500" b="1">
                <a:solidFill>
                  <a:srgbClr val="18212B"/>
                </a:solidFill>
              </a:rPr>
              <a:t>held-out items</a:t>
            </a:r>
          </a:p>
        </p:txBody>
      </p:sp>
      <p:sp>
        <p:nvSpPr>
          <p:cNvPr id="31" name="矩形 30">
            <a:extLst>
              <a:ext uri="{FF2B5EF4-FFF2-40B4-BE49-F238E27FC236}">
                <a16:creationId xmlns:a16="http://schemas.microsoft.com/office/drawing/2014/main" id="{F0EAF0AC-B2E3-46C1-9304-F88609A9BF26}"/>
              </a:ext>
            </a:extLst>
          </p:cNvPr>
          <p:cNvSpPr>
            <a:spLocks noGrp="1"/>
          </p:cNvSpPr>
          <p:nvPr/>
        </p:nvSpPr>
        <p:spPr>
          <a:xfrm>
            <a:off x="12154609" y="6972300"/>
            <a:ext cx="1009650" cy="495300"/>
          </a:xfrm>
          <a:prstGeom prst="rect">
            <a:avLst/>
          </a:prstGeom>
        </p:spPr>
        <p:txBody>
          <a:bodyPr lIns="0" tIns="0" rIns="0" bIns="0"/>
          <a:lstStyle/>
          <a:p>
            <a:pPr algn="ctr">
              <a:defRPr sz="1950" b="1">
                <a:solidFill>
                  <a:srgbClr val="18212B"/>
                </a:solidFill>
              </a:defRPr>
            </a:pPr>
            <a:r>
              <a:rPr sz="1950" b="1" dirty="0">
                <a:solidFill>
                  <a:srgbClr val="18212B"/>
                </a:solidFill>
              </a:rPr>
              <a:t>compare</a:t>
            </a:r>
          </a:p>
        </p:txBody>
      </p:sp>
      <p:sp>
        <p:nvSpPr>
          <p:cNvPr id="32" name="矩形 31">
            <a:extLst>
              <a:ext uri="{FF2B5EF4-FFF2-40B4-BE49-F238E27FC236}">
                <a16:creationId xmlns:a16="http://schemas.microsoft.com/office/drawing/2014/main" id="{E7F58826-3D1B-40B2-864A-4A48CB9E7E22}"/>
              </a:ext>
            </a:extLst>
          </p:cNvPr>
          <p:cNvSpPr>
            <a:spLocks noGrp="1"/>
          </p:cNvSpPr>
          <p:nvPr/>
        </p:nvSpPr>
        <p:spPr>
          <a:xfrm>
            <a:off x="13389582" y="6858000"/>
            <a:ext cx="4076700" cy="609600"/>
          </a:xfrm>
          <a:prstGeom prst="rect">
            <a:avLst/>
          </a:prstGeom>
        </p:spPr>
        <p:txBody>
          <a:bodyPr lIns="0" tIns="0" rIns="0" bIns="0"/>
          <a:lstStyle/>
          <a:p>
            <a:pPr>
              <a:defRPr sz="1950" b="1">
                <a:solidFill>
                  <a:srgbClr val="18212B"/>
                </a:solidFill>
              </a:defRPr>
            </a:pPr>
            <a:r>
              <a:rPr sz="1950" b="1" dirty="0">
                <a:solidFill>
                  <a:srgbClr val="18212B"/>
                </a:solidFill>
              </a:rPr>
              <a:t>Credit only comes from retrieving songs hidden from the model.</a:t>
            </a:r>
          </a:p>
        </p:txBody>
      </p:sp>
      <p:sp>
        <p:nvSpPr>
          <p:cNvPr id="33" name="footer-rule">
            <a:extLst>
              <a:ext uri="{FF2B5EF4-FFF2-40B4-BE49-F238E27FC236}">
                <a16:creationId xmlns:a16="http://schemas.microsoft.com/office/drawing/2014/main" id="{38DE11D7-7665-47F4-98D1-00A3FCD7AA81}"/>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34" name="source-rail">
            <a:extLst>
              <a:ext uri="{FF2B5EF4-FFF2-40B4-BE49-F238E27FC236}">
                <a16:creationId xmlns:a16="http://schemas.microsoft.com/office/drawing/2014/main" id="{EBB9E6EB-D54B-4F87-BA49-C5479BCDCC4D}"/>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
        <p:nvSpPr>
          <p:cNvPr id="36" name="candidate-bullets-1">
            <a:extLst>
              <a:ext uri="{FF2B5EF4-FFF2-40B4-BE49-F238E27FC236}">
                <a16:creationId xmlns:a16="http://schemas.microsoft.com/office/drawing/2014/main" id="{1738632C-802F-62E5-E619-7735AD54F80A}"/>
              </a:ext>
            </a:extLst>
          </p:cNvPr>
          <p:cNvSpPr>
            <a:spLocks noGrp="1"/>
          </p:cNvSpPr>
          <p:nvPr/>
        </p:nvSpPr>
        <p:spPr>
          <a:xfrm>
            <a:off x="886685" y="4099538"/>
            <a:ext cx="7715250" cy="323850"/>
          </a:xfrm>
          <a:prstGeom prst="rect">
            <a:avLst/>
          </a:prstGeom>
        </p:spPr>
        <p:txBody>
          <a:bodyPr lIns="0" tIns="0" rIns="0" bIns="0"/>
          <a:lstStyle/>
          <a:p>
            <a:pPr>
              <a:defRPr sz="2025">
                <a:solidFill>
                  <a:srgbClr val="18212B"/>
                </a:solidFill>
              </a:defRPr>
            </a:pPr>
            <a:r>
              <a:rPr lang="en-US" sz="2025" dirty="0">
                <a:solidFill>
                  <a:srgbClr val="18212B"/>
                </a:solidFill>
              </a:rPr>
              <a:t>- For each user, the recommender should not recommend items the user already interacted with in the training set.</a:t>
            </a:r>
            <a:endParaRPr sz="2025" dirty="0">
              <a:solidFill>
                <a:srgbClr val="18212B"/>
              </a:solidFill>
            </a:endParaRPr>
          </a:p>
        </p:txBody>
      </p:sp>
    </p:spTree>
    <p:extLst>
      <p:ext uri="{BB962C8B-B14F-4D97-AF65-F5344CB8AC3E}">
        <p14:creationId xmlns:p14="http://schemas.microsoft.com/office/powerpoint/2010/main" val="1534909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0" name="slide-number">
            <a:extLst>
              <a:ext uri="{FF2B5EF4-FFF2-40B4-BE49-F238E27FC236}">
                <a16:creationId xmlns:a16="http://schemas.microsoft.com/office/drawing/2014/main" id="{75C4EA32-3F37-41D4-951A-F3D846C6E7D0}"/>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07</a:t>
            </a:r>
          </a:p>
        </p:txBody>
      </p:sp>
      <p:sp>
        <p:nvSpPr>
          <p:cNvPr id="2" name="kicker-rule">
            <a:extLst>
              <a:ext uri="{FF2B5EF4-FFF2-40B4-BE49-F238E27FC236}">
                <a16:creationId xmlns:a16="http://schemas.microsoft.com/office/drawing/2014/main" id="{2F649D7F-F664-4196-9ECF-3FEF5FF1BC84}"/>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F448E1D8-E73C-42B7-8EBF-307FF534BBF0}"/>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4C90D41E-F05C-47E1-B5BC-96F8920A8767}"/>
              </a:ext>
            </a:extLst>
          </p:cNvPr>
          <p:cNvSpPr>
            <a:spLocks noGrp="1"/>
          </p:cNvSpPr>
          <p:nvPr/>
        </p:nvSpPr>
        <p:spPr>
          <a:xfrm>
            <a:off x="1002586" y="2281238"/>
            <a:ext cx="16611600" cy="914400"/>
          </a:xfrm>
          <a:prstGeom prst="rect">
            <a:avLst/>
          </a:prstGeom>
        </p:spPr>
        <p:txBody>
          <a:bodyPr lIns="0" tIns="0" rIns="0" bIns="0"/>
          <a:lstStyle/>
          <a:p>
            <a:pPr>
              <a:defRPr sz="4050" b="1">
                <a:solidFill>
                  <a:srgbClr val="18212B"/>
                </a:solidFill>
              </a:defRPr>
            </a:pPr>
            <a:r>
              <a:rPr sz="4050" b="1" dirty="0">
                <a:solidFill>
                  <a:srgbClr val="18212B"/>
                </a:solidFill>
              </a:rPr>
              <a:t>Model 1: Popularity baseline</a:t>
            </a:r>
          </a:p>
        </p:txBody>
      </p:sp>
      <p:sp>
        <p:nvSpPr>
          <p:cNvPr id="5" name="slide-subtitle">
            <a:extLst>
              <a:ext uri="{FF2B5EF4-FFF2-40B4-BE49-F238E27FC236}">
                <a16:creationId xmlns:a16="http://schemas.microsoft.com/office/drawing/2014/main" id="{C83727DB-183E-4ED1-AB36-CFA3B1BC6D03}"/>
              </a:ext>
            </a:extLst>
          </p:cNvPr>
          <p:cNvSpPr>
            <a:spLocks noGrp="1"/>
          </p:cNvSpPr>
          <p:nvPr/>
        </p:nvSpPr>
        <p:spPr>
          <a:xfrm>
            <a:off x="838200" y="7153275"/>
            <a:ext cx="13906500" cy="342900"/>
          </a:xfrm>
          <a:prstGeom prst="rect">
            <a:avLst/>
          </a:prstGeom>
        </p:spPr>
        <p:txBody>
          <a:bodyPr lIns="0" tIns="0" rIns="0" bIns="0"/>
          <a:lstStyle/>
          <a:p>
            <a:pPr>
              <a:defRPr sz="2250">
                <a:solidFill>
                  <a:srgbClr val="18212B"/>
                </a:solidFill>
              </a:defRPr>
            </a:pPr>
            <a:r>
              <a:rPr sz="2250" dirty="0">
                <a:solidFill>
                  <a:srgbClr val="18212B"/>
                </a:solidFill>
              </a:rPr>
              <a:t>A simple deterministic floor: recommend what received the most training interactions.</a:t>
            </a:r>
          </a:p>
        </p:txBody>
      </p:sp>
      <p:sp>
        <p:nvSpPr>
          <p:cNvPr id="6" name="pop-bullets-1">
            <a:extLst>
              <a:ext uri="{FF2B5EF4-FFF2-40B4-BE49-F238E27FC236}">
                <a16:creationId xmlns:a16="http://schemas.microsoft.com/office/drawing/2014/main" id="{AC2071DC-EFFD-4354-AED6-42A713B57804}"/>
              </a:ext>
            </a:extLst>
          </p:cNvPr>
          <p:cNvSpPr>
            <a:spLocks noGrp="1"/>
          </p:cNvSpPr>
          <p:nvPr/>
        </p:nvSpPr>
        <p:spPr>
          <a:xfrm>
            <a:off x="1002586" y="4210050"/>
            <a:ext cx="8418816" cy="533400"/>
          </a:xfrm>
          <a:prstGeom prst="rect">
            <a:avLst/>
          </a:prstGeom>
        </p:spPr>
        <p:txBody>
          <a:bodyPr lIns="0" tIns="0" rIns="0" bIns="0"/>
          <a:lstStyle/>
          <a:p>
            <a:pPr>
              <a:defRPr sz="2025">
                <a:solidFill>
                  <a:srgbClr val="18212B"/>
                </a:solidFill>
              </a:defRPr>
            </a:pPr>
            <a:r>
              <a:rPr sz="2400" dirty="0">
                <a:solidFill>
                  <a:srgbClr val="18212B"/>
                </a:solidFill>
              </a:rPr>
              <a:t>- </a:t>
            </a:r>
            <a:r>
              <a:rPr lang="en-US" sz="2400" dirty="0">
                <a:solidFill>
                  <a:srgbClr val="18212B"/>
                </a:solidFill>
              </a:rPr>
              <a:t>simply counts how many times each item appears in the training set and ranks items by global popularity. </a:t>
            </a:r>
            <a:endParaRPr sz="2400" dirty="0">
              <a:solidFill>
                <a:srgbClr val="18212B"/>
              </a:solidFill>
            </a:endParaRPr>
          </a:p>
        </p:txBody>
      </p:sp>
      <p:sp>
        <p:nvSpPr>
          <p:cNvPr id="7" name="pop-bullets-2">
            <a:extLst>
              <a:ext uri="{FF2B5EF4-FFF2-40B4-BE49-F238E27FC236}">
                <a16:creationId xmlns:a16="http://schemas.microsoft.com/office/drawing/2014/main" id="{6BE08A06-7F7D-4305-9BEF-14481D5AA2C8}"/>
              </a:ext>
            </a:extLst>
          </p:cNvPr>
          <p:cNvSpPr>
            <a:spLocks noGrp="1"/>
          </p:cNvSpPr>
          <p:nvPr/>
        </p:nvSpPr>
        <p:spPr>
          <a:xfrm>
            <a:off x="1002586" y="5095768"/>
            <a:ext cx="8418816" cy="533400"/>
          </a:xfrm>
          <a:prstGeom prst="rect">
            <a:avLst/>
          </a:prstGeom>
        </p:spPr>
        <p:txBody>
          <a:bodyPr lIns="0" tIns="0" rIns="0" bIns="0"/>
          <a:lstStyle/>
          <a:p>
            <a:pPr>
              <a:defRPr sz="2025">
                <a:solidFill>
                  <a:srgbClr val="18212B"/>
                </a:solidFill>
              </a:defRPr>
            </a:pPr>
            <a:r>
              <a:rPr sz="2400" dirty="0">
                <a:solidFill>
                  <a:srgbClr val="18212B"/>
                </a:solidFill>
              </a:rPr>
              <a:t>- Filter each user's already-seen training items.</a:t>
            </a:r>
          </a:p>
        </p:txBody>
      </p:sp>
      <p:sp>
        <p:nvSpPr>
          <p:cNvPr id="8" name="pop-bullets-3">
            <a:extLst>
              <a:ext uri="{FF2B5EF4-FFF2-40B4-BE49-F238E27FC236}">
                <a16:creationId xmlns:a16="http://schemas.microsoft.com/office/drawing/2014/main" id="{724E6D1E-E6A3-4C55-BE39-81EE83438634}"/>
              </a:ext>
            </a:extLst>
          </p:cNvPr>
          <p:cNvSpPr>
            <a:spLocks noGrp="1"/>
          </p:cNvSpPr>
          <p:nvPr/>
        </p:nvSpPr>
        <p:spPr>
          <a:xfrm>
            <a:off x="1002586" y="5800725"/>
            <a:ext cx="8418816" cy="533400"/>
          </a:xfrm>
          <a:prstGeom prst="rect">
            <a:avLst/>
          </a:prstGeom>
        </p:spPr>
        <p:txBody>
          <a:bodyPr lIns="0" tIns="0" rIns="0" bIns="0"/>
          <a:lstStyle/>
          <a:p>
            <a:pPr>
              <a:defRPr sz="2025">
                <a:solidFill>
                  <a:srgbClr val="18212B"/>
                </a:solidFill>
              </a:defRPr>
            </a:pPr>
            <a:r>
              <a:rPr sz="2400" dirty="0">
                <a:solidFill>
                  <a:srgbClr val="18212B"/>
                </a:solidFill>
              </a:rPr>
              <a:t>- Almost the same ranking for every user</a:t>
            </a:r>
            <a:r>
              <a:rPr lang="en-US" sz="2400" dirty="0">
                <a:solidFill>
                  <a:srgbClr val="18212B"/>
                </a:solidFill>
              </a:rPr>
              <a:t>, so not personalized</a:t>
            </a:r>
            <a:r>
              <a:rPr sz="2400" dirty="0">
                <a:solidFill>
                  <a:srgbClr val="18212B"/>
                </a:solidFill>
              </a:rPr>
              <a:t>.</a:t>
            </a:r>
          </a:p>
        </p:txBody>
      </p:sp>
      <p:sp>
        <p:nvSpPr>
          <p:cNvPr id="9" name="pop-bullets-4">
            <a:extLst>
              <a:ext uri="{FF2B5EF4-FFF2-40B4-BE49-F238E27FC236}">
                <a16:creationId xmlns:a16="http://schemas.microsoft.com/office/drawing/2014/main" id="{FEAF28AA-BDF3-482F-8E23-056BEACFCB17}"/>
              </a:ext>
            </a:extLst>
          </p:cNvPr>
          <p:cNvSpPr>
            <a:spLocks noGrp="1"/>
          </p:cNvSpPr>
          <p:nvPr/>
        </p:nvSpPr>
        <p:spPr>
          <a:xfrm>
            <a:off x="1002586" y="6419850"/>
            <a:ext cx="8418816" cy="533400"/>
          </a:xfrm>
          <a:prstGeom prst="rect">
            <a:avLst/>
          </a:prstGeom>
        </p:spPr>
        <p:txBody>
          <a:bodyPr lIns="0" tIns="0" rIns="0" bIns="0"/>
          <a:lstStyle/>
          <a:p>
            <a:pPr>
              <a:defRPr sz="2025">
                <a:solidFill>
                  <a:srgbClr val="18212B"/>
                </a:solidFill>
              </a:defRPr>
            </a:pPr>
            <a:r>
              <a:rPr sz="2400" dirty="0">
                <a:solidFill>
                  <a:srgbClr val="18212B"/>
                </a:solidFill>
              </a:rPr>
              <a:t>- Useful baseline, but weak personalization and narrow exposure.</a:t>
            </a:r>
          </a:p>
        </p:txBody>
      </p:sp>
      <p:sp>
        <p:nvSpPr>
          <p:cNvPr id="10" name="矩形 9">
            <a:extLst>
              <a:ext uri="{FF2B5EF4-FFF2-40B4-BE49-F238E27FC236}">
                <a16:creationId xmlns:a16="http://schemas.microsoft.com/office/drawing/2014/main" id="{D12A52A1-D5C4-4CFC-8B6C-04FBE0C309BF}"/>
              </a:ext>
            </a:extLst>
          </p:cNvPr>
          <p:cNvSpPr>
            <a:spLocks noGrp="1"/>
          </p:cNvSpPr>
          <p:nvPr/>
        </p:nvSpPr>
        <p:spPr>
          <a:xfrm>
            <a:off x="10165637" y="3912634"/>
            <a:ext cx="3365428" cy="747231"/>
          </a:xfrm>
          <a:prstGeom prst="rect">
            <a:avLst/>
          </a:prstGeom>
        </p:spPr>
        <p:txBody>
          <a:bodyPr lIns="0" tIns="0" rIns="0" bIns="0"/>
          <a:lstStyle/>
          <a:p>
            <a:pPr>
              <a:defRPr sz="1575" b="1">
                <a:solidFill>
                  <a:srgbClr val="18212B"/>
                </a:solidFill>
              </a:defRPr>
            </a:pPr>
            <a:r>
              <a:rPr sz="3000" b="1" dirty="0">
                <a:solidFill>
                  <a:srgbClr val="18212B"/>
                </a:solidFill>
              </a:rPr>
              <a:t>Mental model</a:t>
            </a:r>
          </a:p>
        </p:txBody>
      </p:sp>
      <p:sp>
        <p:nvSpPr>
          <p:cNvPr id="11" name="pop-quote">
            <a:extLst>
              <a:ext uri="{FF2B5EF4-FFF2-40B4-BE49-F238E27FC236}">
                <a16:creationId xmlns:a16="http://schemas.microsoft.com/office/drawing/2014/main" id="{641C9A28-7F96-4245-8100-2AD6D91B5C7E}"/>
              </a:ext>
            </a:extLst>
          </p:cNvPr>
          <p:cNvSpPr>
            <a:spLocks noGrp="1"/>
          </p:cNvSpPr>
          <p:nvPr/>
        </p:nvSpPr>
        <p:spPr>
          <a:xfrm>
            <a:off x="10165637" y="4648200"/>
            <a:ext cx="6915150" cy="1200150"/>
          </a:xfrm>
          <a:prstGeom prst="rect">
            <a:avLst/>
          </a:prstGeom>
        </p:spPr>
        <p:txBody>
          <a:bodyPr lIns="0" tIns="0" rIns="0" bIns="0"/>
          <a:lstStyle/>
          <a:p>
            <a:pPr>
              <a:defRPr sz="2625" b="1">
                <a:solidFill>
                  <a:srgbClr val="2F7D6D"/>
                </a:solidFill>
              </a:defRPr>
            </a:pPr>
            <a:r>
              <a:rPr sz="2625" b="1" dirty="0">
                <a:solidFill>
                  <a:srgbClr val="2F7D6D"/>
                </a:solidFill>
              </a:rPr>
              <a:t>"I do not know your specific taste, so I will recommend what many people already interacted with."</a:t>
            </a:r>
          </a:p>
        </p:txBody>
      </p:sp>
      <p:sp>
        <p:nvSpPr>
          <p:cNvPr id="12" name="chip-simple">
            <a:extLst>
              <a:ext uri="{FF2B5EF4-FFF2-40B4-BE49-F238E27FC236}">
                <a16:creationId xmlns:a16="http://schemas.microsoft.com/office/drawing/2014/main" id="{1AC2E4D4-08F4-48F3-A748-A118E3E721B3}"/>
              </a:ext>
            </a:extLst>
          </p:cNvPr>
          <p:cNvSpPr>
            <a:spLocks noGrp="1"/>
          </p:cNvSpPr>
          <p:nvPr/>
        </p:nvSpPr>
        <p:spPr>
          <a:xfrm>
            <a:off x="10167923" y="6019800"/>
            <a:ext cx="1714500" cy="533400"/>
          </a:xfrm>
          <a:prstGeom prst="roundRect">
            <a:avLst>
              <a:gd name="adj" fmla="val 50000"/>
            </a:avLst>
          </a:prstGeom>
          <a:solidFill>
            <a:srgbClr val="FFFFFF"/>
          </a:solidFill>
          <a:ln w="14288">
            <a:solidFill>
              <a:srgbClr val="446B8C"/>
            </a:solidFill>
            <a:prstDash val="solid"/>
          </a:ln>
        </p:spPr>
      </p:sp>
      <p:sp>
        <p:nvSpPr>
          <p:cNvPr id="13" name="矩形 12">
            <a:extLst>
              <a:ext uri="{FF2B5EF4-FFF2-40B4-BE49-F238E27FC236}">
                <a16:creationId xmlns:a16="http://schemas.microsoft.com/office/drawing/2014/main" id="{207B237D-E596-4A66-A1C9-4F56AED1B0AC}"/>
              </a:ext>
            </a:extLst>
          </p:cNvPr>
          <p:cNvSpPr>
            <a:spLocks noGrp="1"/>
          </p:cNvSpPr>
          <p:nvPr/>
        </p:nvSpPr>
        <p:spPr>
          <a:xfrm>
            <a:off x="10356137" y="6191250"/>
            <a:ext cx="1333500" cy="190500"/>
          </a:xfrm>
          <a:prstGeom prst="rect">
            <a:avLst/>
          </a:prstGeom>
        </p:spPr>
        <p:txBody>
          <a:bodyPr lIns="0" tIns="0" rIns="0" bIns="0"/>
          <a:lstStyle/>
          <a:p>
            <a:pPr algn="ctr">
              <a:defRPr sz="1350" b="1">
                <a:solidFill>
                  <a:srgbClr val="446B8C"/>
                </a:solidFill>
              </a:defRPr>
            </a:pPr>
            <a:r>
              <a:rPr sz="1350" b="1">
                <a:solidFill>
                  <a:srgbClr val="446B8C"/>
                </a:solidFill>
              </a:rPr>
              <a:t>simple</a:t>
            </a:r>
          </a:p>
        </p:txBody>
      </p:sp>
      <p:sp>
        <p:nvSpPr>
          <p:cNvPr id="14" name="chip-deterministic">
            <a:extLst>
              <a:ext uri="{FF2B5EF4-FFF2-40B4-BE49-F238E27FC236}">
                <a16:creationId xmlns:a16="http://schemas.microsoft.com/office/drawing/2014/main" id="{C6FCA5EF-21EF-449C-B996-F7CFD3E9D009}"/>
              </a:ext>
            </a:extLst>
          </p:cNvPr>
          <p:cNvSpPr>
            <a:spLocks noGrp="1"/>
          </p:cNvSpPr>
          <p:nvPr/>
        </p:nvSpPr>
        <p:spPr>
          <a:xfrm>
            <a:off x="11996723" y="6019800"/>
            <a:ext cx="2190750" cy="533400"/>
          </a:xfrm>
          <a:prstGeom prst="roundRect">
            <a:avLst>
              <a:gd name="adj" fmla="val 50000"/>
            </a:avLst>
          </a:prstGeom>
          <a:solidFill>
            <a:srgbClr val="FFFFFF"/>
          </a:solidFill>
          <a:ln w="14288">
            <a:solidFill>
              <a:srgbClr val="2F7D6D"/>
            </a:solidFill>
            <a:prstDash val="solid"/>
          </a:ln>
        </p:spPr>
      </p:sp>
      <p:sp>
        <p:nvSpPr>
          <p:cNvPr id="15" name="矩形 14">
            <a:extLst>
              <a:ext uri="{FF2B5EF4-FFF2-40B4-BE49-F238E27FC236}">
                <a16:creationId xmlns:a16="http://schemas.microsoft.com/office/drawing/2014/main" id="{8DB1E388-1CD7-4F02-82FA-951DE71D5D02}"/>
              </a:ext>
            </a:extLst>
          </p:cNvPr>
          <p:cNvSpPr>
            <a:spLocks noGrp="1"/>
          </p:cNvSpPr>
          <p:nvPr/>
        </p:nvSpPr>
        <p:spPr>
          <a:xfrm>
            <a:off x="12184937" y="6191250"/>
            <a:ext cx="1828800" cy="190500"/>
          </a:xfrm>
          <a:prstGeom prst="rect">
            <a:avLst/>
          </a:prstGeom>
        </p:spPr>
        <p:txBody>
          <a:bodyPr lIns="0" tIns="0" rIns="0" bIns="0"/>
          <a:lstStyle/>
          <a:p>
            <a:pPr algn="ctr">
              <a:defRPr sz="1350" b="1">
                <a:solidFill>
                  <a:srgbClr val="2F7D6D"/>
                </a:solidFill>
              </a:defRPr>
            </a:pPr>
            <a:r>
              <a:rPr sz="1350" b="1">
                <a:solidFill>
                  <a:srgbClr val="2F7D6D"/>
                </a:solidFill>
              </a:rPr>
              <a:t>deterministic</a:t>
            </a:r>
          </a:p>
        </p:txBody>
      </p:sp>
      <p:sp>
        <p:nvSpPr>
          <p:cNvPr id="16" name="chip-low-novelty">
            <a:extLst>
              <a:ext uri="{FF2B5EF4-FFF2-40B4-BE49-F238E27FC236}">
                <a16:creationId xmlns:a16="http://schemas.microsoft.com/office/drawing/2014/main" id="{F20FBB86-66D1-4098-9A47-9A486D957C72}"/>
              </a:ext>
            </a:extLst>
          </p:cNvPr>
          <p:cNvSpPr>
            <a:spLocks noGrp="1"/>
          </p:cNvSpPr>
          <p:nvPr/>
        </p:nvSpPr>
        <p:spPr>
          <a:xfrm>
            <a:off x="14301773" y="6019800"/>
            <a:ext cx="2095500" cy="533400"/>
          </a:xfrm>
          <a:prstGeom prst="roundRect">
            <a:avLst>
              <a:gd name="adj" fmla="val 50000"/>
            </a:avLst>
          </a:prstGeom>
          <a:solidFill>
            <a:srgbClr val="FFFFFF"/>
          </a:solidFill>
          <a:ln w="14288">
            <a:solidFill>
              <a:srgbClr val="C15D3A"/>
            </a:solidFill>
            <a:prstDash val="solid"/>
          </a:ln>
        </p:spPr>
      </p:sp>
      <p:sp>
        <p:nvSpPr>
          <p:cNvPr id="17" name="矩形 16">
            <a:extLst>
              <a:ext uri="{FF2B5EF4-FFF2-40B4-BE49-F238E27FC236}">
                <a16:creationId xmlns:a16="http://schemas.microsoft.com/office/drawing/2014/main" id="{1A455DF3-451F-4E3D-AFA7-E25EAEBFB2D3}"/>
              </a:ext>
            </a:extLst>
          </p:cNvPr>
          <p:cNvSpPr>
            <a:spLocks noGrp="1"/>
          </p:cNvSpPr>
          <p:nvPr/>
        </p:nvSpPr>
        <p:spPr>
          <a:xfrm>
            <a:off x="14489987" y="6191250"/>
            <a:ext cx="1714500" cy="190500"/>
          </a:xfrm>
          <a:prstGeom prst="rect">
            <a:avLst/>
          </a:prstGeom>
        </p:spPr>
        <p:txBody>
          <a:bodyPr lIns="0" tIns="0" rIns="0" bIns="0"/>
          <a:lstStyle/>
          <a:p>
            <a:pPr algn="ctr">
              <a:defRPr sz="1350" b="1">
                <a:solidFill>
                  <a:srgbClr val="C15D3A"/>
                </a:solidFill>
              </a:defRPr>
            </a:pPr>
            <a:r>
              <a:rPr sz="1350" b="1">
                <a:solidFill>
                  <a:srgbClr val="C15D3A"/>
                </a:solidFill>
              </a:rPr>
              <a:t>low novelty</a:t>
            </a:r>
          </a:p>
        </p:txBody>
      </p:sp>
      <p:sp>
        <p:nvSpPr>
          <p:cNvPr id="18" name="footer-rule">
            <a:extLst>
              <a:ext uri="{FF2B5EF4-FFF2-40B4-BE49-F238E27FC236}">
                <a16:creationId xmlns:a16="http://schemas.microsoft.com/office/drawing/2014/main" id="{0054B0D1-8C80-41D3-B9C5-A3A59C0527D0}"/>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19" name="source-rail">
            <a:extLst>
              <a:ext uri="{FF2B5EF4-FFF2-40B4-BE49-F238E27FC236}">
                <a16:creationId xmlns:a16="http://schemas.microsoft.com/office/drawing/2014/main" id="{1061EA52-1A11-45D1-9A39-63C3F9DCA39B}"/>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619968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68" name="slide-number">
            <a:extLst>
              <a:ext uri="{FF2B5EF4-FFF2-40B4-BE49-F238E27FC236}">
                <a16:creationId xmlns:a16="http://schemas.microsoft.com/office/drawing/2014/main" id="{CD1986AA-1F05-4FA6-9AFA-B22D18BBF6FB}"/>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08</a:t>
            </a:r>
          </a:p>
        </p:txBody>
      </p:sp>
      <p:sp>
        <p:nvSpPr>
          <p:cNvPr id="2" name="kicker-rule">
            <a:extLst>
              <a:ext uri="{FF2B5EF4-FFF2-40B4-BE49-F238E27FC236}">
                <a16:creationId xmlns:a16="http://schemas.microsoft.com/office/drawing/2014/main" id="{938D58C1-450E-43DC-B1AA-8123B97DE884}"/>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7CEFECE6-DA4C-41AF-8116-02210A8E338E}"/>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7694DF2A-8E99-4F73-A0DF-0E7BC8B59025}"/>
              </a:ext>
            </a:extLst>
          </p:cNvPr>
          <p:cNvSpPr>
            <a:spLocks noGrp="1"/>
          </p:cNvSpPr>
          <p:nvPr/>
        </p:nvSpPr>
        <p:spPr>
          <a:xfrm>
            <a:off x="647700" y="1676400"/>
            <a:ext cx="16611600" cy="914400"/>
          </a:xfrm>
          <a:prstGeom prst="rect">
            <a:avLst/>
          </a:prstGeom>
        </p:spPr>
        <p:txBody>
          <a:bodyPr lIns="0" tIns="0" rIns="0" bIns="0"/>
          <a:lstStyle/>
          <a:p>
            <a:pPr>
              <a:defRPr sz="4050" b="1">
                <a:solidFill>
                  <a:srgbClr val="18212B"/>
                </a:solidFill>
              </a:defRPr>
            </a:pPr>
            <a:r>
              <a:rPr sz="4050" b="1" dirty="0">
                <a:solidFill>
                  <a:srgbClr val="18212B"/>
                </a:solidFill>
              </a:rPr>
              <a:t>Model 2: ALS collaborative filtering</a:t>
            </a:r>
          </a:p>
        </p:txBody>
      </p:sp>
      <p:sp>
        <p:nvSpPr>
          <p:cNvPr id="5" name="slide-subtitle">
            <a:extLst>
              <a:ext uri="{FF2B5EF4-FFF2-40B4-BE49-F238E27FC236}">
                <a16:creationId xmlns:a16="http://schemas.microsoft.com/office/drawing/2014/main" id="{4CE2593B-490A-4633-B79E-27CC5A16A855}"/>
              </a:ext>
            </a:extLst>
          </p:cNvPr>
          <p:cNvSpPr>
            <a:spLocks noGrp="1"/>
          </p:cNvSpPr>
          <p:nvPr/>
        </p:nvSpPr>
        <p:spPr>
          <a:xfrm>
            <a:off x="647700" y="3086100"/>
            <a:ext cx="13906500" cy="342900"/>
          </a:xfrm>
          <a:prstGeom prst="rect">
            <a:avLst/>
          </a:prstGeom>
        </p:spPr>
        <p:txBody>
          <a:bodyPr lIns="0" tIns="0" rIns="0" bIns="0"/>
          <a:lstStyle/>
          <a:p>
            <a:pPr>
              <a:defRPr sz="2250">
                <a:solidFill>
                  <a:srgbClr val="18212B"/>
                </a:solidFill>
              </a:defRPr>
            </a:pPr>
            <a:r>
              <a:rPr sz="2250" dirty="0">
                <a:solidFill>
                  <a:srgbClr val="18212B"/>
                </a:solidFill>
              </a:rPr>
              <a:t>ALS learns hidden user and item vectors from the interaction matrix.</a:t>
            </a:r>
          </a:p>
        </p:txBody>
      </p:sp>
      <p:sp>
        <p:nvSpPr>
          <p:cNvPr id="6" name="als-bullets-1">
            <a:extLst>
              <a:ext uri="{FF2B5EF4-FFF2-40B4-BE49-F238E27FC236}">
                <a16:creationId xmlns:a16="http://schemas.microsoft.com/office/drawing/2014/main" id="{2A72610C-08C1-47D2-9A7D-1A94F4E318B1}"/>
              </a:ext>
            </a:extLst>
          </p:cNvPr>
          <p:cNvSpPr>
            <a:spLocks noGrp="1"/>
          </p:cNvSpPr>
          <p:nvPr/>
        </p:nvSpPr>
        <p:spPr>
          <a:xfrm>
            <a:off x="857250" y="4001947"/>
            <a:ext cx="7715250" cy="323850"/>
          </a:xfrm>
          <a:prstGeom prst="rect">
            <a:avLst/>
          </a:prstGeom>
        </p:spPr>
        <p:txBody>
          <a:bodyPr lIns="0" tIns="0" rIns="0" bIns="0"/>
          <a:lstStyle/>
          <a:p>
            <a:pPr>
              <a:defRPr sz="2025">
                <a:solidFill>
                  <a:srgbClr val="18212B"/>
                </a:solidFill>
              </a:defRPr>
            </a:pPr>
            <a:r>
              <a:rPr sz="2025" dirty="0">
                <a:solidFill>
                  <a:srgbClr val="18212B"/>
                </a:solidFill>
              </a:rPr>
              <a:t>- Uses behavior patterns rather than song tags or titles.</a:t>
            </a:r>
          </a:p>
        </p:txBody>
      </p:sp>
      <p:sp>
        <p:nvSpPr>
          <p:cNvPr id="7" name="als-bullets-2">
            <a:extLst>
              <a:ext uri="{FF2B5EF4-FFF2-40B4-BE49-F238E27FC236}">
                <a16:creationId xmlns:a16="http://schemas.microsoft.com/office/drawing/2014/main" id="{556FC807-5349-4B6A-A964-508BBDAA6F75}"/>
              </a:ext>
            </a:extLst>
          </p:cNvPr>
          <p:cNvSpPr>
            <a:spLocks noGrp="1"/>
          </p:cNvSpPr>
          <p:nvPr/>
        </p:nvSpPr>
        <p:spPr>
          <a:xfrm>
            <a:off x="857250" y="4629150"/>
            <a:ext cx="7715250" cy="952500"/>
          </a:xfrm>
          <a:prstGeom prst="rect">
            <a:avLst/>
          </a:prstGeom>
        </p:spPr>
        <p:txBody>
          <a:bodyPr lIns="0" tIns="0" rIns="0" bIns="0"/>
          <a:lstStyle/>
          <a:p>
            <a:pPr>
              <a:defRPr sz="2025">
                <a:solidFill>
                  <a:srgbClr val="18212B"/>
                </a:solidFill>
              </a:defRPr>
            </a:pPr>
            <a:r>
              <a:rPr sz="2025" dirty="0">
                <a:solidFill>
                  <a:srgbClr val="18212B"/>
                </a:solidFill>
              </a:rPr>
              <a:t>- </a:t>
            </a:r>
            <a:r>
              <a:rPr lang="en-US" altLang="zh-CN" sz="2400" dirty="0"/>
              <a:t>learns hidden vectors for users and hidden vectors for items, then scores a user-item pair by how well those vectors align.</a:t>
            </a:r>
            <a:endParaRPr sz="2025" dirty="0">
              <a:solidFill>
                <a:srgbClr val="18212B"/>
              </a:solidFill>
            </a:endParaRPr>
          </a:p>
        </p:txBody>
      </p:sp>
      <p:sp>
        <p:nvSpPr>
          <p:cNvPr id="9" name="als-bullets-4">
            <a:extLst>
              <a:ext uri="{FF2B5EF4-FFF2-40B4-BE49-F238E27FC236}">
                <a16:creationId xmlns:a16="http://schemas.microsoft.com/office/drawing/2014/main" id="{6CF049F8-7912-41AB-B87B-24E65A4C6026}"/>
              </a:ext>
            </a:extLst>
          </p:cNvPr>
          <p:cNvSpPr>
            <a:spLocks noGrp="1"/>
          </p:cNvSpPr>
          <p:nvPr/>
        </p:nvSpPr>
        <p:spPr>
          <a:xfrm>
            <a:off x="857250" y="5581650"/>
            <a:ext cx="7715250" cy="2276476"/>
          </a:xfrm>
          <a:prstGeom prst="rect">
            <a:avLst/>
          </a:prstGeom>
        </p:spPr>
        <p:txBody>
          <a:bodyPr lIns="0" tIns="0" rIns="0" bIns="0"/>
          <a:lstStyle/>
          <a:p>
            <a:pPr marL="342900" indent="-342900">
              <a:buFontTx/>
              <a:buChar char="-"/>
              <a:defRPr sz="2025">
                <a:solidFill>
                  <a:srgbClr val="18212B"/>
                </a:solidFill>
              </a:defRPr>
            </a:pPr>
            <a:r>
              <a:rPr lang="en-US" altLang="zh-CN" sz="2400" dirty="0"/>
              <a:t>For example, one dimension might roughly capture preference for mainstream music, another might capture a certain genre or listening style, but the model does not directly label these dimensions. Instead, it learns them from patterns like: users who interacted with item A also often interacted with item B. </a:t>
            </a:r>
          </a:p>
          <a:p>
            <a:pPr marL="342900" indent="-342900">
              <a:buFontTx/>
              <a:buChar char="-"/>
              <a:defRPr sz="2025">
                <a:solidFill>
                  <a:srgbClr val="18212B"/>
                </a:solidFill>
              </a:defRPr>
            </a:pPr>
            <a:endParaRPr lang="en-US" altLang="zh-CN" sz="2400" dirty="0"/>
          </a:p>
          <a:p>
            <a:pPr marL="342900" indent="-342900">
              <a:buFontTx/>
              <a:buChar char="-"/>
              <a:defRPr sz="2025">
                <a:solidFill>
                  <a:srgbClr val="18212B"/>
                </a:solidFill>
              </a:defRPr>
            </a:pPr>
            <a:r>
              <a:rPr lang="en-US" altLang="zh-CN" sz="2400" dirty="0"/>
              <a:t>The strongest model in my research, and performs well when the data is implicit feedback.</a:t>
            </a:r>
            <a:br>
              <a:rPr lang="en-US" altLang="zh-CN" dirty="0"/>
            </a:br>
            <a:endParaRPr sz="2025" dirty="0">
              <a:solidFill>
                <a:srgbClr val="18212B"/>
              </a:solidFill>
            </a:endParaRPr>
          </a:p>
        </p:txBody>
      </p:sp>
      <p:sp>
        <p:nvSpPr>
          <p:cNvPr id="11" name="als-matrix-panel">
            <a:extLst>
              <a:ext uri="{FF2B5EF4-FFF2-40B4-BE49-F238E27FC236}">
                <a16:creationId xmlns:a16="http://schemas.microsoft.com/office/drawing/2014/main" id="{B12547C1-DCC3-46A0-AAF7-F758726C91DB}"/>
              </a:ext>
            </a:extLst>
          </p:cNvPr>
          <p:cNvSpPr>
            <a:spLocks noGrp="1"/>
          </p:cNvSpPr>
          <p:nvPr/>
        </p:nvSpPr>
        <p:spPr>
          <a:xfrm>
            <a:off x="9279636" y="3286126"/>
            <a:ext cx="8360664" cy="4572000"/>
          </a:xfrm>
          <a:prstGeom prst="roundRect">
            <a:avLst>
              <a:gd name="adj" fmla="val 2500"/>
            </a:avLst>
          </a:prstGeom>
          <a:solidFill>
            <a:srgbClr val="FFFFFF"/>
          </a:solidFill>
          <a:ln w="9525">
            <a:solidFill>
              <a:srgbClr val="C7D1CC"/>
            </a:solidFill>
            <a:prstDash val="solid"/>
          </a:ln>
        </p:spPr>
      </p:sp>
      <p:sp>
        <p:nvSpPr>
          <p:cNvPr id="12" name="矩形 11">
            <a:extLst>
              <a:ext uri="{FF2B5EF4-FFF2-40B4-BE49-F238E27FC236}">
                <a16:creationId xmlns:a16="http://schemas.microsoft.com/office/drawing/2014/main" id="{99A2ACA8-C8BF-4656-9A8E-5AB717506C75}"/>
              </a:ext>
            </a:extLst>
          </p:cNvPr>
          <p:cNvSpPr>
            <a:spLocks noGrp="1"/>
          </p:cNvSpPr>
          <p:nvPr/>
        </p:nvSpPr>
        <p:spPr>
          <a:xfrm>
            <a:off x="10050018" y="3914776"/>
            <a:ext cx="1238250" cy="304800"/>
          </a:xfrm>
          <a:prstGeom prst="rect">
            <a:avLst/>
          </a:prstGeom>
        </p:spPr>
        <p:txBody>
          <a:bodyPr lIns="0" tIns="0" rIns="0" bIns="0"/>
          <a:lstStyle/>
          <a:p>
            <a:pPr algn="ctr">
              <a:defRPr sz="1950" b="1">
                <a:solidFill>
                  <a:srgbClr val="446B8C"/>
                </a:solidFill>
              </a:defRPr>
            </a:pPr>
            <a:r>
              <a:rPr sz="1950" b="1">
                <a:solidFill>
                  <a:srgbClr val="446B8C"/>
                </a:solidFill>
              </a:rPr>
              <a:t>R</a:t>
            </a:r>
          </a:p>
        </p:txBody>
      </p:sp>
      <p:sp>
        <p:nvSpPr>
          <p:cNvPr id="13" name="als-r-matrix-cell-0">
            <a:extLst>
              <a:ext uri="{FF2B5EF4-FFF2-40B4-BE49-F238E27FC236}">
                <a16:creationId xmlns:a16="http://schemas.microsoft.com/office/drawing/2014/main" id="{2B33AD39-E637-4D2F-8C3F-A35212C22557}"/>
              </a:ext>
            </a:extLst>
          </p:cNvPr>
          <p:cNvSpPr>
            <a:spLocks noGrp="1"/>
          </p:cNvSpPr>
          <p:nvPr/>
        </p:nvSpPr>
        <p:spPr>
          <a:xfrm>
            <a:off x="9764268" y="4257676"/>
            <a:ext cx="342900" cy="342900"/>
          </a:xfrm>
          <a:prstGeom prst="roundRect">
            <a:avLst>
              <a:gd name="adj" fmla="val 13889"/>
            </a:avLst>
          </a:prstGeom>
          <a:solidFill>
            <a:srgbClr val="2F7D6D"/>
          </a:solidFill>
          <a:ln w="9525">
            <a:solidFill>
              <a:srgbClr val="C7D1CC"/>
            </a:solidFill>
            <a:prstDash val="solid"/>
          </a:ln>
        </p:spPr>
      </p:sp>
      <p:sp>
        <p:nvSpPr>
          <p:cNvPr id="14" name="als-r-matrix-cell-1">
            <a:extLst>
              <a:ext uri="{FF2B5EF4-FFF2-40B4-BE49-F238E27FC236}">
                <a16:creationId xmlns:a16="http://schemas.microsoft.com/office/drawing/2014/main" id="{DB1FA175-ED2D-4119-BBD8-E9FE18546BE5}"/>
              </a:ext>
            </a:extLst>
          </p:cNvPr>
          <p:cNvSpPr>
            <a:spLocks noGrp="1"/>
          </p:cNvSpPr>
          <p:nvPr/>
        </p:nvSpPr>
        <p:spPr>
          <a:xfrm>
            <a:off x="10145268" y="4257676"/>
            <a:ext cx="342900" cy="342900"/>
          </a:xfrm>
          <a:prstGeom prst="roundRect">
            <a:avLst>
              <a:gd name="adj" fmla="val 13889"/>
            </a:avLst>
          </a:prstGeom>
          <a:solidFill>
            <a:srgbClr val="EEF3EF"/>
          </a:solidFill>
          <a:ln w="9525">
            <a:solidFill>
              <a:srgbClr val="C7D1CC"/>
            </a:solidFill>
            <a:prstDash val="solid"/>
          </a:ln>
        </p:spPr>
      </p:sp>
      <p:sp>
        <p:nvSpPr>
          <p:cNvPr id="15" name="als-r-matrix-cell-2">
            <a:extLst>
              <a:ext uri="{FF2B5EF4-FFF2-40B4-BE49-F238E27FC236}">
                <a16:creationId xmlns:a16="http://schemas.microsoft.com/office/drawing/2014/main" id="{D8A72330-00D8-4CBE-8494-E8E6CFD6CAB5}"/>
              </a:ext>
            </a:extLst>
          </p:cNvPr>
          <p:cNvSpPr>
            <a:spLocks noGrp="1"/>
          </p:cNvSpPr>
          <p:nvPr/>
        </p:nvSpPr>
        <p:spPr>
          <a:xfrm>
            <a:off x="10526268" y="4257676"/>
            <a:ext cx="342900" cy="342900"/>
          </a:xfrm>
          <a:prstGeom prst="roundRect">
            <a:avLst>
              <a:gd name="adj" fmla="val 13889"/>
            </a:avLst>
          </a:prstGeom>
          <a:solidFill>
            <a:srgbClr val="EEF3EF"/>
          </a:solidFill>
          <a:ln w="9525">
            <a:solidFill>
              <a:srgbClr val="C7D1CC"/>
            </a:solidFill>
            <a:prstDash val="solid"/>
          </a:ln>
        </p:spPr>
      </p:sp>
      <p:sp>
        <p:nvSpPr>
          <p:cNvPr id="16" name="als-r-matrix-cell-3">
            <a:extLst>
              <a:ext uri="{FF2B5EF4-FFF2-40B4-BE49-F238E27FC236}">
                <a16:creationId xmlns:a16="http://schemas.microsoft.com/office/drawing/2014/main" id="{DE9000F9-0303-472F-9B67-FF60FA04639D}"/>
              </a:ext>
            </a:extLst>
          </p:cNvPr>
          <p:cNvSpPr>
            <a:spLocks noGrp="1"/>
          </p:cNvSpPr>
          <p:nvPr/>
        </p:nvSpPr>
        <p:spPr>
          <a:xfrm>
            <a:off x="10907268" y="4257676"/>
            <a:ext cx="342900" cy="342900"/>
          </a:xfrm>
          <a:prstGeom prst="roundRect">
            <a:avLst>
              <a:gd name="adj" fmla="val 13889"/>
            </a:avLst>
          </a:prstGeom>
          <a:solidFill>
            <a:srgbClr val="EEF3EF"/>
          </a:solidFill>
          <a:ln w="9525">
            <a:solidFill>
              <a:srgbClr val="C7D1CC"/>
            </a:solidFill>
            <a:prstDash val="solid"/>
          </a:ln>
        </p:spPr>
      </p:sp>
      <p:sp>
        <p:nvSpPr>
          <p:cNvPr id="17" name="als-r-matrix-cell-4">
            <a:extLst>
              <a:ext uri="{FF2B5EF4-FFF2-40B4-BE49-F238E27FC236}">
                <a16:creationId xmlns:a16="http://schemas.microsoft.com/office/drawing/2014/main" id="{ED4E87CD-7629-4B82-B70B-46B3E2F9ED44}"/>
              </a:ext>
            </a:extLst>
          </p:cNvPr>
          <p:cNvSpPr>
            <a:spLocks noGrp="1"/>
          </p:cNvSpPr>
          <p:nvPr/>
        </p:nvSpPr>
        <p:spPr>
          <a:xfrm>
            <a:off x="11288268" y="4257676"/>
            <a:ext cx="342900" cy="342900"/>
          </a:xfrm>
          <a:prstGeom prst="roundRect">
            <a:avLst>
              <a:gd name="adj" fmla="val 13889"/>
            </a:avLst>
          </a:prstGeom>
          <a:solidFill>
            <a:srgbClr val="2F7D6D"/>
          </a:solidFill>
          <a:ln w="9525">
            <a:solidFill>
              <a:srgbClr val="C7D1CC"/>
            </a:solidFill>
            <a:prstDash val="solid"/>
          </a:ln>
        </p:spPr>
      </p:sp>
      <p:sp>
        <p:nvSpPr>
          <p:cNvPr id="18" name="als-r-matrix-cell-5">
            <a:extLst>
              <a:ext uri="{FF2B5EF4-FFF2-40B4-BE49-F238E27FC236}">
                <a16:creationId xmlns:a16="http://schemas.microsoft.com/office/drawing/2014/main" id="{CEEB4CA4-10B3-4CC1-9FEA-448043BA9422}"/>
              </a:ext>
            </a:extLst>
          </p:cNvPr>
          <p:cNvSpPr>
            <a:spLocks noGrp="1"/>
          </p:cNvSpPr>
          <p:nvPr/>
        </p:nvSpPr>
        <p:spPr>
          <a:xfrm>
            <a:off x="9764268" y="4638676"/>
            <a:ext cx="342900" cy="342900"/>
          </a:xfrm>
          <a:prstGeom prst="roundRect">
            <a:avLst>
              <a:gd name="adj" fmla="val 13889"/>
            </a:avLst>
          </a:prstGeom>
          <a:solidFill>
            <a:srgbClr val="EEF3EF"/>
          </a:solidFill>
          <a:ln w="9525">
            <a:solidFill>
              <a:srgbClr val="C7D1CC"/>
            </a:solidFill>
            <a:prstDash val="solid"/>
          </a:ln>
        </p:spPr>
      </p:sp>
      <p:sp>
        <p:nvSpPr>
          <p:cNvPr id="19" name="als-r-matrix-cell-6">
            <a:extLst>
              <a:ext uri="{FF2B5EF4-FFF2-40B4-BE49-F238E27FC236}">
                <a16:creationId xmlns:a16="http://schemas.microsoft.com/office/drawing/2014/main" id="{220C970C-6A67-479F-A6D7-A919B26CA424}"/>
              </a:ext>
            </a:extLst>
          </p:cNvPr>
          <p:cNvSpPr>
            <a:spLocks noGrp="1"/>
          </p:cNvSpPr>
          <p:nvPr/>
        </p:nvSpPr>
        <p:spPr>
          <a:xfrm>
            <a:off x="10145268" y="4638676"/>
            <a:ext cx="342900" cy="342900"/>
          </a:xfrm>
          <a:prstGeom prst="roundRect">
            <a:avLst>
              <a:gd name="adj" fmla="val 13889"/>
            </a:avLst>
          </a:prstGeom>
          <a:solidFill>
            <a:srgbClr val="EEF3EF"/>
          </a:solidFill>
          <a:ln w="9525">
            <a:solidFill>
              <a:srgbClr val="C7D1CC"/>
            </a:solidFill>
            <a:prstDash val="solid"/>
          </a:ln>
        </p:spPr>
      </p:sp>
      <p:sp>
        <p:nvSpPr>
          <p:cNvPr id="20" name="als-r-matrix-cell-7">
            <a:extLst>
              <a:ext uri="{FF2B5EF4-FFF2-40B4-BE49-F238E27FC236}">
                <a16:creationId xmlns:a16="http://schemas.microsoft.com/office/drawing/2014/main" id="{D138C6A1-51D6-4007-87E0-7B4DC905D7E6}"/>
              </a:ext>
            </a:extLst>
          </p:cNvPr>
          <p:cNvSpPr>
            <a:spLocks noGrp="1"/>
          </p:cNvSpPr>
          <p:nvPr/>
        </p:nvSpPr>
        <p:spPr>
          <a:xfrm>
            <a:off x="10526268" y="4638676"/>
            <a:ext cx="342900" cy="342900"/>
          </a:xfrm>
          <a:prstGeom prst="roundRect">
            <a:avLst>
              <a:gd name="adj" fmla="val 13889"/>
            </a:avLst>
          </a:prstGeom>
          <a:solidFill>
            <a:srgbClr val="2F7D6D"/>
          </a:solidFill>
          <a:ln w="9525">
            <a:solidFill>
              <a:srgbClr val="C7D1CC"/>
            </a:solidFill>
            <a:prstDash val="solid"/>
          </a:ln>
        </p:spPr>
      </p:sp>
      <p:sp>
        <p:nvSpPr>
          <p:cNvPr id="21" name="als-r-matrix-cell-8">
            <a:extLst>
              <a:ext uri="{FF2B5EF4-FFF2-40B4-BE49-F238E27FC236}">
                <a16:creationId xmlns:a16="http://schemas.microsoft.com/office/drawing/2014/main" id="{7ADF1B27-A22F-4DBC-92FF-7C44646195B7}"/>
              </a:ext>
            </a:extLst>
          </p:cNvPr>
          <p:cNvSpPr>
            <a:spLocks noGrp="1"/>
          </p:cNvSpPr>
          <p:nvPr/>
        </p:nvSpPr>
        <p:spPr>
          <a:xfrm>
            <a:off x="10907268" y="4638676"/>
            <a:ext cx="342900" cy="342900"/>
          </a:xfrm>
          <a:prstGeom prst="roundRect">
            <a:avLst>
              <a:gd name="adj" fmla="val 13889"/>
            </a:avLst>
          </a:prstGeom>
          <a:solidFill>
            <a:srgbClr val="2F7D6D"/>
          </a:solidFill>
          <a:ln w="9525">
            <a:solidFill>
              <a:srgbClr val="C7D1CC"/>
            </a:solidFill>
            <a:prstDash val="solid"/>
          </a:ln>
        </p:spPr>
      </p:sp>
      <p:sp>
        <p:nvSpPr>
          <p:cNvPr id="22" name="als-r-matrix-cell-9">
            <a:extLst>
              <a:ext uri="{FF2B5EF4-FFF2-40B4-BE49-F238E27FC236}">
                <a16:creationId xmlns:a16="http://schemas.microsoft.com/office/drawing/2014/main" id="{F9434946-4C2D-430C-B377-71C04A1DC5C6}"/>
              </a:ext>
            </a:extLst>
          </p:cNvPr>
          <p:cNvSpPr>
            <a:spLocks noGrp="1"/>
          </p:cNvSpPr>
          <p:nvPr/>
        </p:nvSpPr>
        <p:spPr>
          <a:xfrm>
            <a:off x="11288268" y="4638676"/>
            <a:ext cx="342900" cy="342900"/>
          </a:xfrm>
          <a:prstGeom prst="roundRect">
            <a:avLst>
              <a:gd name="adj" fmla="val 13889"/>
            </a:avLst>
          </a:prstGeom>
          <a:solidFill>
            <a:srgbClr val="EEF3EF"/>
          </a:solidFill>
          <a:ln w="9525">
            <a:solidFill>
              <a:srgbClr val="C7D1CC"/>
            </a:solidFill>
            <a:prstDash val="solid"/>
          </a:ln>
        </p:spPr>
      </p:sp>
      <p:sp>
        <p:nvSpPr>
          <p:cNvPr id="23" name="als-r-matrix-cell-10">
            <a:extLst>
              <a:ext uri="{FF2B5EF4-FFF2-40B4-BE49-F238E27FC236}">
                <a16:creationId xmlns:a16="http://schemas.microsoft.com/office/drawing/2014/main" id="{58FDF71B-300A-43BF-9D8F-C84208BB8E68}"/>
              </a:ext>
            </a:extLst>
          </p:cNvPr>
          <p:cNvSpPr>
            <a:spLocks noGrp="1"/>
          </p:cNvSpPr>
          <p:nvPr/>
        </p:nvSpPr>
        <p:spPr>
          <a:xfrm>
            <a:off x="9764268" y="5019676"/>
            <a:ext cx="342900" cy="342900"/>
          </a:xfrm>
          <a:prstGeom prst="roundRect">
            <a:avLst>
              <a:gd name="adj" fmla="val 13889"/>
            </a:avLst>
          </a:prstGeom>
          <a:solidFill>
            <a:srgbClr val="EEF3EF"/>
          </a:solidFill>
          <a:ln w="9525">
            <a:solidFill>
              <a:srgbClr val="C7D1CC"/>
            </a:solidFill>
            <a:prstDash val="solid"/>
          </a:ln>
        </p:spPr>
      </p:sp>
      <p:sp>
        <p:nvSpPr>
          <p:cNvPr id="24" name="als-r-matrix-cell-11">
            <a:extLst>
              <a:ext uri="{FF2B5EF4-FFF2-40B4-BE49-F238E27FC236}">
                <a16:creationId xmlns:a16="http://schemas.microsoft.com/office/drawing/2014/main" id="{9CEBFB6A-CDA1-481B-9573-056519ECD9A5}"/>
              </a:ext>
            </a:extLst>
          </p:cNvPr>
          <p:cNvSpPr>
            <a:spLocks noGrp="1"/>
          </p:cNvSpPr>
          <p:nvPr/>
        </p:nvSpPr>
        <p:spPr>
          <a:xfrm>
            <a:off x="10145268" y="5019676"/>
            <a:ext cx="342900" cy="342900"/>
          </a:xfrm>
          <a:prstGeom prst="roundRect">
            <a:avLst>
              <a:gd name="adj" fmla="val 13889"/>
            </a:avLst>
          </a:prstGeom>
          <a:solidFill>
            <a:srgbClr val="EEF3EF"/>
          </a:solidFill>
          <a:ln w="9525">
            <a:solidFill>
              <a:srgbClr val="C7D1CC"/>
            </a:solidFill>
            <a:prstDash val="solid"/>
          </a:ln>
        </p:spPr>
      </p:sp>
      <p:sp>
        <p:nvSpPr>
          <p:cNvPr id="25" name="als-r-matrix-cell-12">
            <a:extLst>
              <a:ext uri="{FF2B5EF4-FFF2-40B4-BE49-F238E27FC236}">
                <a16:creationId xmlns:a16="http://schemas.microsoft.com/office/drawing/2014/main" id="{09BDDD8E-0467-41C7-997C-80831AF42D83}"/>
              </a:ext>
            </a:extLst>
          </p:cNvPr>
          <p:cNvSpPr>
            <a:spLocks noGrp="1"/>
          </p:cNvSpPr>
          <p:nvPr/>
        </p:nvSpPr>
        <p:spPr>
          <a:xfrm>
            <a:off x="10526268" y="5019676"/>
            <a:ext cx="342900" cy="342900"/>
          </a:xfrm>
          <a:prstGeom prst="roundRect">
            <a:avLst>
              <a:gd name="adj" fmla="val 13889"/>
            </a:avLst>
          </a:prstGeom>
          <a:solidFill>
            <a:srgbClr val="EEF3EF"/>
          </a:solidFill>
          <a:ln w="9525">
            <a:solidFill>
              <a:srgbClr val="C7D1CC"/>
            </a:solidFill>
            <a:prstDash val="solid"/>
          </a:ln>
        </p:spPr>
      </p:sp>
      <p:sp>
        <p:nvSpPr>
          <p:cNvPr id="26" name="als-r-matrix-cell-13">
            <a:extLst>
              <a:ext uri="{FF2B5EF4-FFF2-40B4-BE49-F238E27FC236}">
                <a16:creationId xmlns:a16="http://schemas.microsoft.com/office/drawing/2014/main" id="{9309F766-64AB-4AF5-BAFC-1056175F1B62}"/>
              </a:ext>
            </a:extLst>
          </p:cNvPr>
          <p:cNvSpPr>
            <a:spLocks noGrp="1"/>
          </p:cNvSpPr>
          <p:nvPr/>
        </p:nvSpPr>
        <p:spPr>
          <a:xfrm>
            <a:off x="10907268" y="5019676"/>
            <a:ext cx="342900" cy="342900"/>
          </a:xfrm>
          <a:prstGeom prst="roundRect">
            <a:avLst>
              <a:gd name="adj" fmla="val 13889"/>
            </a:avLst>
          </a:prstGeom>
          <a:solidFill>
            <a:srgbClr val="2F7D6D"/>
          </a:solidFill>
          <a:ln w="9525">
            <a:solidFill>
              <a:srgbClr val="C7D1CC"/>
            </a:solidFill>
            <a:prstDash val="solid"/>
          </a:ln>
        </p:spPr>
      </p:sp>
      <p:sp>
        <p:nvSpPr>
          <p:cNvPr id="27" name="als-r-matrix-cell-14">
            <a:extLst>
              <a:ext uri="{FF2B5EF4-FFF2-40B4-BE49-F238E27FC236}">
                <a16:creationId xmlns:a16="http://schemas.microsoft.com/office/drawing/2014/main" id="{720B97B6-AFDB-4F61-A13E-97D0E24383E8}"/>
              </a:ext>
            </a:extLst>
          </p:cNvPr>
          <p:cNvSpPr>
            <a:spLocks noGrp="1"/>
          </p:cNvSpPr>
          <p:nvPr/>
        </p:nvSpPr>
        <p:spPr>
          <a:xfrm>
            <a:off x="11288268" y="5019676"/>
            <a:ext cx="342900" cy="342900"/>
          </a:xfrm>
          <a:prstGeom prst="roundRect">
            <a:avLst>
              <a:gd name="adj" fmla="val 13889"/>
            </a:avLst>
          </a:prstGeom>
          <a:solidFill>
            <a:srgbClr val="EEF3EF"/>
          </a:solidFill>
          <a:ln w="9525">
            <a:solidFill>
              <a:srgbClr val="C7D1CC"/>
            </a:solidFill>
            <a:prstDash val="solid"/>
          </a:ln>
        </p:spPr>
      </p:sp>
      <p:sp>
        <p:nvSpPr>
          <p:cNvPr id="28" name="als-r-matrix-cell-15">
            <a:extLst>
              <a:ext uri="{FF2B5EF4-FFF2-40B4-BE49-F238E27FC236}">
                <a16:creationId xmlns:a16="http://schemas.microsoft.com/office/drawing/2014/main" id="{6379C3B2-A219-47D2-90AA-3705AF66722C}"/>
              </a:ext>
            </a:extLst>
          </p:cNvPr>
          <p:cNvSpPr>
            <a:spLocks noGrp="1"/>
          </p:cNvSpPr>
          <p:nvPr/>
        </p:nvSpPr>
        <p:spPr>
          <a:xfrm>
            <a:off x="9764268" y="5400676"/>
            <a:ext cx="342900" cy="342900"/>
          </a:xfrm>
          <a:prstGeom prst="roundRect">
            <a:avLst>
              <a:gd name="adj" fmla="val 13889"/>
            </a:avLst>
          </a:prstGeom>
          <a:solidFill>
            <a:srgbClr val="EEF3EF"/>
          </a:solidFill>
          <a:ln w="9525">
            <a:solidFill>
              <a:srgbClr val="C7D1CC"/>
            </a:solidFill>
            <a:prstDash val="solid"/>
          </a:ln>
        </p:spPr>
      </p:sp>
      <p:sp>
        <p:nvSpPr>
          <p:cNvPr id="29" name="als-r-matrix-cell-16">
            <a:extLst>
              <a:ext uri="{FF2B5EF4-FFF2-40B4-BE49-F238E27FC236}">
                <a16:creationId xmlns:a16="http://schemas.microsoft.com/office/drawing/2014/main" id="{77532418-C94D-45EE-8905-D91A2FBDB33B}"/>
              </a:ext>
            </a:extLst>
          </p:cNvPr>
          <p:cNvSpPr>
            <a:spLocks noGrp="1"/>
          </p:cNvSpPr>
          <p:nvPr/>
        </p:nvSpPr>
        <p:spPr>
          <a:xfrm>
            <a:off x="10145268" y="5400676"/>
            <a:ext cx="342900" cy="342900"/>
          </a:xfrm>
          <a:prstGeom prst="roundRect">
            <a:avLst>
              <a:gd name="adj" fmla="val 13889"/>
            </a:avLst>
          </a:prstGeom>
          <a:solidFill>
            <a:srgbClr val="2F7D6D"/>
          </a:solidFill>
          <a:ln w="9525">
            <a:solidFill>
              <a:srgbClr val="C7D1CC"/>
            </a:solidFill>
            <a:prstDash val="solid"/>
          </a:ln>
        </p:spPr>
      </p:sp>
      <p:sp>
        <p:nvSpPr>
          <p:cNvPr id="30" name="als-r-matrix-cell-17">
            <a:extLst>
              <a:ext uri="{FF2B5EF4-FFF2-40B4-BE49-F238E27FC236}">
                <a16:creationId xmlns:a16="http://schemas.microsoft.com/office/drawing/2014/main" id="{259561D4-3373-4779-A5FC-4A51F83B01A0}"/>
              </a:ext>
            </a:extLst>
          </p:cNvPr>
          <p:cNvSpPr>
            <a:spLocks noGrp="1"/>
          </p:cNvSpPr>
          <p:nvPr/>
        </p:nvSpPr>
        <p:spPr>
          <a:xfrm>
            <a:off x="10526268" y="5400676"/>
            <a:ext cx="342900" cy="342900"/>
          </a:xfrm>
          <a:prstGeom prst="roundRect">
            <a:avLst>
              <a:gd name="adj" fmla="val 13889"/>
            </a:avLst>
          </a:prstGeom>
          <a:solidFill>
            <a:srgbClr val="EEF3EF"/>
          </a:solidFill>
          <a:ln w="9525">
            <a:solidFill>
              <a:srgbClr val="C7D1CC"/>
            </a:solidFill>
            <a:prstDash val="solid"/>
          </a:ln>
        </p:spPr>
      </p:sp>
      <p:sp>
        <p:nvSpPr>
          <p:cNvPr id="31" name="als-r-matrix-cell-18">
            <a:extLst>
              <a:ext uri="{FF2B5EF4-FFF2-40B4-BE49-F238E27FC236}">
                <a16:creationId xmlns:a16="http://schemas.microsoft.com/office/drawing/2014/main" id="{CDB894E3-3BCA-4F0D-B0D5-425B459EC520}"/>
              </a:ext>
            </a:extLst>
          </p:cNvPr>
          <p:cNvSpPr>
            <a:spLocks noGrp="1"/>
          </p:cNvSpPr>
          <p:nvPr/>
        </p:nvSpPr>
        <p:spPr>
          <a:xfrm>
            <a:off x="10907268" y="5400676"/>
            <a:ext cx="342900" cy="342900"/>
          </a:xfrm>
          <a:prstGeom prst="roundRect">
            <a:avLst>
              <a:gd name="adj" fmla="val 13889"/>
            </a:avLst>
          </a:prstGeom>
          <a:solidFill>
            <a:srgbClr val="EEF3EF"/>
          </a:solidFill>
          <a:ln w="9525">
            <a:solidFill>
              <a:srgbClr val="C7D1CC"/>
            </a:solidFill>
            <a:prstDash val="solid"/>
          </a:ln>
        </p:spPr>
      </p:sp>
      <p:sp>
        <p:nvSpPr>
          <p:cNvPr id="32" name="als-r-matrix-cell-19">
            <a:extLst>
              <a:ext uri="{FF2B5EF4-FFF2-40B4-BE49-F238E27FC236}">
                <a16:creationId xmlns:a16="http://schemas.microsoft.com/office/drawing/2014/main" id="{05FF6F43-F450-4F92-89EA-492AB24B2E2E}"/>
              </a:ext>
            </a:extLst>
          </p:cNvPr>
          <p:cNvSpPr>
            <a:spLocks noGrp="1"/>
          </p:cNvSpPr>
          <p:nvPr/>
        </p:nvSpPr>
        <p:spPr>
          <a:xfrm>
            <a:off x="11288268" y="5400676"/>
            <a:ext cx="342900" cy="342900"/>
          </a:xfrm>
          <a:prstGeom prst="roundRect">
            <a:avLst>
              <a:gd name="adj" fmla="val 13889"/>
            </a:avLst>
          </a:prstGeom>
          <a:solidFill>
            <a:srgbClr val="EEF3EF"/>
          </a:solidFill>
          <a:ln w="9525">
            <a:solidFill>
              <a:srgbClr val="C7D1CC"/>
            </a:solidFill>
            <a:prstDash val="solid"/>
          </a:ln>
        </p:spPr>
      </p:sp>
      <p:sp>
        <p:nvSpPr>
          <p:cNvPr id="33" name="矩形 32">
            <a:extLst>
              <a:ext uri="{FF2B5EF4-FFF2-40B4-BE49-F238E27FC236}">
                <a16:creationId xmlns:a16="http://schemas.microsoft.com/office/drawing/2014/main" id="{9534026B-47FC-4665-84C3-C2713BFF469A}"/>
              </a:ext>
            </a:extLst>
          </p:cNvPr>
          <p:cNvSpPr>
            <a:spLocks noGrp="1"/>
          </p:cNvSpPr>
          <p:nvPr/>
        </p:nvSpPr>
        <p:spPr>
          <a:xfrm>
            <a:off x="9707118" y="5781676"/>
            <a:ext cx="1905000" cy="209550"/>
          </a:xfrm>
          <a:prstGeom prst="rect">
            <a:avLst/>
          </a:prstGeom>
        </p:spPr>
        <p:txBody>
          <a:bodyPr lIns="0" tIns="0" rIns="0" bIns="0"/>
          <a:lstStyle/>
          <a:p>
            <a:pPr algn="ctr">
              <a:defRPr sz="1275">
                <a:solidFill>
                  <a:srgbClr val="18212B"/>
                </a:solidFill>
              </a:defRPr>
            </a:pPr>
            <a:r>
              <a:rPr sz="1275">
                <a:solidFill>
                  <a:srgbClr val="18212B"/>
                </a:solidFill>
              </a:rPr>
              <a:t>user-item interactions</a:t>
            </a:r>
          </a:p>
        </p:txBody>
      </p:sp>
      <p:sp>
        <p:nvSpPr>
          <p:cNvPr id="34" name="矩形 33">
            <a:extLst>
              <a:ext uri="{FF2B5EF4-FFF2-40B4-BE49-F238E27FC236}">
                <a16:creationId xmlns:a16="http://schemas.microsoft.com/office/drawing/2014/main" id="{641C25F5-C478-4C36-BB42-EBD3704AD00B}"/>
              </a:ext>
            </a:extLst>
          </p:cNvPr>
          <p:cNvSpPr>
            <a:spLocks noGrp="1"/>
          </p:cNvSpPr>
          <p:nvPr/>
        </p:nvSpPr>
        <p:spPr>
          <a:xfrm>
            <a:off x="11821668" y="4695826"/>
            <a:ext cx="323850" cy="495300"/>
          </a:xfrm>
          <a:prstGeom prst="rect">
            <a:avLst/>
          </a:prstGeom>
        </p:spPr>
        <p:txBody>
          <a:bodyPr lIns="0" tIns="0" rIns="0" bIns="0"/>
          <a:lstStyle/>
          <a:p>
            <a:pPr algn="ctr">
              <a:defRPr sz="3300" b="1">
                <a:solidFill>
                  <a:srgbClr val="18212B"/>
                </a:solidFill>
              </a:defRPr>
            </a:pPr>
            <a:r>
              <a:rPr sz="3300" b="1">
                <a:solidFill>
                  <a:srgbClr val="18212B"/>
                </a:solidFill>
              </a:rPr>
              <a:t>~</a:t>
            </a:r>
          </a:p>
        </p:txBody>
      </p:sp>
      <p:sp>
        <p:nvSpPr>
          <p:cNvPr id="35" name="矩形 34">
            <a:extLst>
              <a:ext uri="{FF2B5EF4-FFF2-40B4-BE49-F238E27FC236}">
                <a16:creationId xmlns:a16="http://schemas.microsoft.com/office/drawing/2014/main" id="{F1E01582-3BFD-4A3A-A16A-5E749AB8F9CD}"/>
              </a:ext>
            </a:extLst>
          </p:cNvPr>
          <p:cNvSpPr>
            <a:spLocks noGrp="1"/>
          </p:cNvSpPr>
          <p:nvPr/>
        </p:nvSpPr>
        <p:spPr>
          <a:xfrm>
            <a:off x="12507468" y="3876676"/>
            <a:ext cx="1143000" cy="304800"/>
          </a:xfrm>
          <a:prstGeom prst="rect">
            <a:avLst/>
          </a:prstGeom>
        </p:spPr>
        <p:txBody>
          <a:bodyPr lIns="0" tIns="0" rIns="0" bIns="0"/>
          <a:lstStyle/>
          <a:p>
            <a:pPr algn="ctr">
              <a:defRPr sz="1950" b="1">
                <a:solidFill>
                  <a:srgbClr val="446B8C"/>
                </a:solidFill>
              </a:defRPr>
            </a:pPr>
            <a:r>
              <a:rPr sz="1950" b="1">
                <a:solidFill>
                  <a:srgbClr val="446B8C"/>
                </a:solidFill>
              </a:rPr>
              <a:t>X</a:t>
            </a:r>
          </a:p>
        </p:txBody>
      </p:sp>
      <p:sp>
        <p:nvSpPr>
          <p:cNvPr id="36" name="als-x-matrix-cell-0">
            <a:extLst>
              <a:ext uri="{FF2B5EF4-FFF2-40B4-BE49-F238E27FC236}">
                <a16:creationId xmlns:a16="http://schemas.microsoft.com/office/drawing/2014/main" id="{060C811B-3F49-4764-914A-A1B118D3D7AD}"/>
              </a:ext>
            </a:extLst>
          </p:cNvPr>
          <p:cNvSpPr>
            <a:spLocks noGrp="1"/>
          </p:cNvSpPr>
          <p:nvPr/>
        </p:nvSpPr>
        <p:spPr>
          <a:xfrm>
            <a:off x="12697968" y="4219576"/>
            <a:ext cx="342900" cy="342900"/>
          </a:xfrm>
          <a:prstGeom prst="roundRect">
            <a:avLst>
              <a:gd name="adj" fmla="val 13889"/>
            </a:avLst>
          </a:prstGeom>
          <a:solidFill>
            <a:srgbClr val="446B8C"/>
          </a:solidFill>
          <a:ln w="9525">
            <a:solidFill>
              <a:srgbClr val="C7D1CC"/>
            </a:solidFill>
            <a:prstDash val="solid"/>
          </a:ln>
        </p:spPr>
      </p:sp>
      <p:sp>
        <p:nvSpPr>
          <p:cNvPr id="37" name="als-x-matrix-cell-1">
            <a:extLst>
              <a:ext uri="{FF2B5EF4-FFF2-40B4-BE49-F238E27FC236}">
                <a16:creationId xmlns:a16="http://schemas.microsoft.com/office/drawing/2014/main" id="{E6AAD238-B722-4797-A84A-601058FAE84B}"/>
              </a:ext>
            </a:extLst>
          </p:cNvPr>
          <p:cNvSpPr>
            <a:spLocks noGrp="1"/>
          </p:cNvSpPr>
          <p:nvPr/>
        </p:nvSpPr>
        <p:spPr>
          <a:xfrm>
            <a:off x="13117068" y="4219576"/>
            <a:ext cx="342900" cy="342900"/>
          </a:xfrm>
          <a:prstGeom prst="roundRect">
            <a:avLst>
              <a:gd name="adj" fmla="val 13889"/>
            </a:avLst>
          </a:prstGeom>
          <a:solidFill>
            <a:srgbClr val="EEF3EF"/>
          </a:solidFill>
          <a:ln w="9525">
            <a:solidFill>
              <a:srgbClr val="C7D1CC"/>
            </a:solidFill>
            <a:prstDash val="solid"/>
          </a:ln>
        </p:spPr>
      </p:sp>
      <p:sp>
        <p:nvSpPr>
          <p:cNvPr id="38" name="als-x-matrix-cell-2">
            <a:extLst>
              <a:ext uri="{FF2B5EF4-FFF2-40B4-BE49-F238E27FC236}">
                <a16:creationId xmlns:a16="http://schemas.microsoft.com/office/drawing/2014/main" id="{C8B60163-87EF-4B6C-8A44-D55EDDD8C854}"/>
              </a:ext>
            </a:extLst>
          </p:cNvPr>
          <p:cNvSpPr>
            <a:spLocks noGrp="1"/>
          </p:cNvSpPr>
          <p:nvPr/>
        </p:nvSpPr>
        <p:spPr>
          <a:xfrm>
            <a:off x="12697968" y="4638676"/>
            <a:ext cx="342900" cy="342900"/>
          </a:xfrm>
          <a:prstGeom prst="roundRect">
            <a:avLst>
              <a:gd name="adj" fmla="val 13889"/>
            </a:avLst>
          </a:prstGeom>
          <a:solidFill>
            <a:srgbClr val="446B8C"/>
          </a:solidFill>
          <a:ln w="9525">
            <a:solidFill>
              <a:srgbClr val="C7D1CC"/>
            </a:solidFill>
            <a:prstDash val="solid"/>
          </a:ln>
        </p:spPr>
      </p:sp>
      <p:sp>
        <p:nvSpPr>
          <p:cNvPr id="39" name="als-x-matrix-cell-3">
            <a:extLst>
              <a:ext uri="{FF2B5EF4-FFF2-40B4-BE49-F238E27FC236}">
                <a16:creationId xmlns:a16="http://schemas.microsoft.com/office/drawing/2014/main" id="{43113809-7627-4EF4-9FCF-7AC7B2DAB1E3}"/>
              </a:ext>
            </a:extLst>
          </p:cNvPr>
          <p:cNvSpPr>
            <a:spLocks noGrp="1"/>
          </p:cNvSpPr>
          <p:nvPr/>
        </p:nvSpPr>
        <p:spPr>
          <a:xfrm>
            <a:off x="13117068" y="4638676"/>
            <a:ext cx="342900" cy="342900"/>
          </a:xfrm>
          <a:prstGeom prst="roundRect">
            <a:avLst>
              <a:gd name="adj" fmla="val 13889"/>
            </a:avLst>
          </a:prstGeom>
          <a:solidFill>
            <a:srgbClr val="EEF3EF"/>
          </a:solidFill>
          <a:ln w="9525">
            <a:solidFill>
              <a:srgbClr val="C7D1CC"/>
            </a:solidFill>
            <a:prstDash val="solid"/>
          </a:ln>
        </p:spPr>
      </p:sp>
      <p:sp>
        <p:nvSpPr>
          <p:cNvPr id="40" name="als-x-matrix-cell-4">
            <a:extLst>
              <a:ext uri="{FF2B5EF4-FFF2-40B4-BE49-F238E27FC236}">
                <a16:creationId xmlns:a16="http://schemas.microsoft.com/office/drawing/2014/main" id="{5466D062-903E-4D11-910D-E9935DE8BA05}"/>
              </a:ext>
            </a:extLst>
          </p:cNvPr>
          <p:cNvSpPr>
            <a:spLocks noGrp="1"/>
          </p:cNvSpPr>
          <p:nvPr/>
        </p:nvSpPr>
        <p:spPr>
          <a:xfrm>
            <a:off x="12697968" y="5019676"/>
            <a:ext cx="342900" cy="342900"/>
          </a:xfrm>
          <a:prstGeom prst="roundRect">
            <a:avLst>
              <a:gd name="adj" fmla="val 13889"/>
            </a:avLst>
          </a:prstGeom>
          <a:solidFill>
            <a:srgbClr val="EEF3EF"/>
          </a:solidFill>
          <a:ln w="9525">
            <a:solidFill>
              <a:srgbClr val="C7D1CC"/>
            </a:solidFill>
            <a:prstDash val="solid"/>
          </a:ln>
        </p:spPr>
      </p:sp>
      <p:sp>
        <p:nvSpPr>
          <p:cNvPr id="41" name="als-x-matrix-cell-5">
            <a:extLst>
              <a:ext uri="{FF2B5EF4-FFF2-40B4-BE49-F238E27FC236}">
                <a16:creationId xmlns:a16="http://schemas.microsoft.com/office/drawing/2014/main" id="{8CC75950-1113-41F7-BE11-51D859AA1EAC}"/>
              </a:ext>
            </a:extLst>
          </p:cNvPr>
          <p:cNvSpPr>
            <a:spLocks noGrp="1"/>
          </p:cNvSpPr>
          <p:nvPr/>
        </p:nvSpPr>
        <p:spPr>
          <a:xfrm>
            <a:off x="13117068" y="5019676"/>
            <a:ext cx="342900" cy="342900"/>
          </a:xfrm>
          <a:prstGeom prst="roundRect">
            <a:avLst>
              <a:gd name="adj" fmla="val 13889"/>
            </a:avLst>
          </a:prstGeom>
          <a:solidFill>
            <a:srgbClr val="446B8C"/>
          </a:solidFill>
          <a:ln w="9525">
            <a:solidFill>
              <a:srgbClr val="C7D1CC"/>
            </a:solidFill>
            <a:prstDash val="solid"/>
          </a:ln>
        </p:spPr>
      </p:sp>
      <p:sp>
        <p:nvSpPr>
          <p:cNvPr id="42" name="als-x-matrix-cell-6">
            <a:extLst>
              <a:ext uri="{FF2B5EF4-FFF2-40B4-BE49-F238E27FC236}">
                <a16:creationId xmlns:a16="http://schemas.microsoft.com/office/drawing/2014/main" id="{D614B56B-7913-45B8-85E3-FE475FC8989D}"/>
              </a:ext>
            </a:extLst>
          </p:cNvPr>
          <p:cNvSpPr>
            <a:spLocks noGrp="1"/>
          </p:cNvSpPr>
          <p:nvPr/>
        </p:nvSpPr>
        <p:spPr>
          <a:xfrm>
            <a:off x="12697968" y="5438776"/>
            <a:ext cx="342900" cy="342900"/>
          </a:xfrm>
          <a:prstGeom prst="roundRect">
            <a:avLst>
              <a:gd name="adj" fmla="val 13889"/>
            </a:avLst>
          </a:prstGeom>
          <a:solidFill>
            <a:srgbClr val="EEF3EF"/>
          </a:solidFill>
          <a:ln w="9525">
            <a:solidFill>
              <a:srgbClr val="C7D1CC"/>
            </a:solidFill>
            <a:prstDash val="solid"/>
          </a:ln>
        </p:spPr>
      </p:sp>
      <p:sp>
        <p:nvSpPr>
          <p:cNvPr id="43" name="als-x-matrix-cell-7">
            <a:extLst>
              <a:ext uri="{FF2B5EF4-FFF2-40B4-BE49-F238E27FC236}">
                <a16:creationId xmlns:a16="http://schemas.microsoft.com/office/drawing/2014/main" id="{2ED6D525-6F51-4865-BD3C-8AF21130DC20}"/>
              </a:ext>
            </a:extLst>
          </p:cNvPr>
          <p:cNvSpPr>
            <a:spLocks noGrp="1"/>
          </p:cNvSpPr>
          <p:nvPr/>
        </p:nvSpPr>
        <p:spPr>
          <a:xfrm>
            <a:off x="13117068" y="5438776"/>
            <a:ext cx="342900" cy="342900"/>
          </a:xfrm>
          <a:prstGeom prst="roundRect">
            <a:avLst>
              <a:gd name="adj" fmla="val 13889"/>
            </a:avLst>
          </a:prstGeom>
          <a:solidFill>
            <a:srgbClr val="446B8C"/>
          </a:solidFill>
          <a:ln w="9525">
            <a:solidFill>
              <a:srgbClr val="C7D1CC"/>
            </a:solidFill>
            <a:prstDash val="solid"/>
          </a:ln>
        </p:spPr>
      </p:sp>
      <p:sp>
        <p:nvSpPr>
          <p:cNvPr id="44" name="矩形 43">
            <a:extLst>
              <a:ext uri="{FF2B5EF4-FFF2-40B4-BE49-F238E27FC236}">
                <a16:creationId xmlns:a16="http://schemas.microsoft.com/office/drawing/2014/main" id="{9EB3A254-61BE-4EEE-BB83-03D87AF1DE14}"/>
              </a:ext>
            </a:extLst>
          </p:cNvPr>
          <p:cNvSpPr>
            <a:spLocks noGrp="1"/>
          </p:cNvSpPr>
          <p:nvPr/>
        </p:nvSpPr>
        <p:spPr>
          <a:xfrm>
            <a:off x="12355068" y="5819776"/>
            <a:ext cx="1428750" cy="209550"/>
          </a:xfrm>
          <a:prstGeom prst="rect">
            <a:avLst/>
          </a:prstGeom>
        </p:spPr>
        <p:txBody>
          <a:bodyPr lIns="0" tIns="0" rIns="0" bIns="0"/>
          <a:lstStyle/>
          <a:p>
            <a:pPr algn="ctr">
              <a:defRPr sz="1275">
                <a:solidFill>
                  <a:srgbClr val="18212B"/>
                </a:solidFill>
              </a:defRPr>
            </a:pPr>
            <a:r>
              <a:rPr sz="1275">
                <a:solidFill>
                  <a:srgbClr val="18212B"/>
                </a:solidFill>
              </a:rPr>
              <a:t>user factors</a:t>
            </a:r>
          </a:p>
        </p:txBody>
      </p:sp>
      <p:sp>
        <p:nvSpPr>
          <p:cNvPr id="45" name="矩形 44">
            <a:extLst>
              <a:ext uri="{FF2B5EF4-FFF2-40B4-BE49-F238E27FC236}">
                <a16:creationId xmlns:a16="http://schemas.microsoft.com/office/drawing/2014/main" id="{6991D524-1BF5-4407-A1A4-1189AE6DC4D2}"/>
              </a:ext>
            </a:extLst>
          </p:cNvPr>
          <p:cNvSpPr>
            <a:spLocks noGrp="1"/>
          </p:cNvSpPr>
          <p:nvPr/>
        </p:nvSpPr>
        <p:spPr>
          <a:xfrm>
            <a:off x="13993368" y="4752976"/>
            <a:ext cx="285750" cy="381000"/>
          </a:xfrm>
          <a:prstGeom prst="rect">
            <a:avLst/>
          </a:prstGeom>
        </p:spPr>
        <p:txBody>
          <a:bodyPr lIns="0" tIns="0" rIns="0" bIns="0"/>
          <a:lstStyle/>
          <a:p>
            <a:pPr algn="ctr">
              <a:defRPr sz="2550" b="1">
                <a:solidFill>
                  <a:srgbClr val="18212B"/>
                </a:solidFill>
              </a:defRPr>
            </a:pPr>
            <a:r>
              <a:rPr sz="2550" b="1">
                <a:solidFill>
                  <a:srgbClr val="18212B"/>
                </a:solidFill>
              </a:rPr>
              <a:t>x</a:t>
            </a:r>
          </a:p>
        </p:txBody>
      </p:sp>
      <p:sp>
        <p:nvSpPr>
          <p:cNvPr id="46" name="矩形 45">
            <a:extLst>
              <a:ext uri="{FF2B5EF4-FFF2-40B4-BE49-F238E27FC236}">
                <a16:creationId xmlns:a16="http://schemas.microsoft.com/office/drawing/2014/main" id="{F879DECF-AF84-4798-A33C-B5877F623631}"/>
              </a:ext>
            </a:extLst>
          </p:cNvPr>
          <p:cNvSpPr>
            <a:spLocks noGrp="1"/>
          </p:cNvSpPr>
          <p:nvPr/>
        </p:nvSpPr>
        <p:spPr>
          <a:xfrm>
            <a:off x="14698218" y="4276726"/>
            <a:ext cx="1524000" cy="304800"/>
          </a:xfrm>
          <a:prstGeom prst="rect">
            <a:avLst/>
          </a:prstGeom>
        </p:spPr>
        <p:txBody>
          <a:bodyPr lIns="0" tIns="0" rIns="0" bIns="0"/>
          <a:lstStyle/>
          <a:p>
            <a:pPr algn="ctr">
              <a:defRPr sz="1950" b="1">
                <a:solidFill>
                  <a:srgbClr val="C15D3A"/>
                </a:solidFill>
              </a:defRPr>
            </a:pPr>
            <a:r>
              <a:rPr sz="1950" b="1">
                <a:solidFill>
                  <a:srgbClr val="C15D3A"/>
                </a:solidFill>
              </a:rPr>
              <a:t>Y^T</a:t>
            </a:r>
          </a:p>
        </p:txBody>
      </p:sp>
      <p:sp>
        <p:nvSpPr>
          <p:cNvPr id="47" name="als-y-matrix-cell-0">
            <a:extLst>
              <a:ext uri="{FF2B5EF4-FFF2-40B4-BE49-F238E27FC236}">
                <a16:creationId xmlns:a16="http://schemas.microsoft.com/office/drawing/2014/main" id="{C9DAB60E-0F08-45C0-B536-3600257EC366}"/>
              </a:ext>
            </a:extLst>
          </p:cNvPr>
          <p:cNvSpPr>
            <a:spLocks noGrp="1"/>
          </p:cNvSpPr>
          <p:nvPr/>
        </p:nvSpPr>
        <p:spPr>
          <a:xfrm>
            <a:off x="14488668" y="4638676"/>
            <a:ext cx="342900" cy="342900"/>
          </a:xfrm>
          <a:prstGeom prst="roundRect">
            <a:avLst>
              <a:gd name="adj" fmla="val 13889"/>
            </a:avLst>
          </a:prstGeom>
          <a:solidFill>
            <a:srgbClr val="C15D3A"/>
          </a:solidFill>
          <a:ln w="9525">
            <a:solidFill>
              <a:srgbClr val="C7D1CC"/>
            </a:solidFill>
            <a:prstDash val="solid"/>
          </a:ln>
        </p:spPr>
      </p:sp>
      <p:sp>
        <p:nvSpPr>
          <p:cNvPr id="48" name="als-y-matrix-cell-1">
            <a:extLst>
              <a:ext uri="{FF2B5EF4-FFF2-40B4-BE49-F238E27FC236}">
                <a16:creationId xmlns:a16="http://schemas.microsoft.com/office/drawing/2014/main" id="{AAC631C2-DD16-4F11-8DA9-5A3E98BC1AB9}"/>
              </a:ext>
            </a:extLst>
          </p:cNvPr>
          <p:cNvSpPr>
            <a:spLocks noGrp="1"/>
          </p:cNvSpPr>
          <p:nvPr/>
        </p:nvSpPr>
        <p:spPr>
          <a:xfrm>
            <a:off x="14907768" y="4638676"/>
            <a:ext cx="342900" cy="342900"/>
          </a:xfrm>
          <a:prstGeom prst="roundRect">
            <a:avLst>
              <a:gd name="adj" fmla="val 13889"/>
            </a:avLst>
          </a:prstGeom>
          <a:solidFill>
            <a:srgbClr val="EEF3EF"/>
          </a:solidFill>
          <a:ln w="9525">
            <a:solidFill>
              <a:srgbClr val="C7D1CC"/>
            </a:solidFill>
            <a:prstDash val="solid"/>
          </a:ln>
        </p:spPr>
      </p:sp>
      <p:sp>
        <p:nvSpPr>
          <p:cNvPr id="49" name="als-y-matrix-cell-2">
            <a:extLst>
              <a:ext uri="{FF2B5EF4-FFF2-40B4-BE49-F238E27FC236}">
                <a16:creationId xmlns:a16="http://schemas.microsoft.com/office/drawing/2014/main" id="{FF55D035-CB4A-4D46-90B6-E17DEFDB9E73}"/>
              </a:ext>
            </a:extLst>
          </p:cNvPr>
          <p:cNvSpPr>
            <a:spLocks noGrp="1"/>
          </p:cNvSpPr>
          <p:nvPr/>
        </p:nvSpPr>
        <p:spPr>
          <a:xfrm>
            <a:off x="15288768" y="4638676"/>
            <a:ext cx="342900" cy="342900"/>
          </a:xfrm>
          <a:prstGeom prst="roundRect">
            <a:avLst>
              <a:gd name="adj" fmla="val 13889"/>
            </a:avLst>
          </a:prstGeom>
          <a:solidFill>
            <a:srgbClr val="EEF3EF"/>
          </a:solidFill>
          <a:ln w="9525">
            <a:solidFill>
              <a:srgbClr val="C7D1CC"/>
            </a:solidFill>
            <a:prstDash val="solid"/>
          </a:ln>
        </p:spPr>
      </p:sp>
      <p:sp>
        <p:nvSpPr>
          <p:cNvPr id="50" name="als-y-matrix-cell-3">
            <a:extLst>
              <a:ext uri="{FF2B5EF4-FFF2-40B4-BE49-F238E27FC236}">
                <a16:creationId xmlns:a16="http://schemas.microsoft.com/office/drawing/2014/main" id="{C4B0D3B1-C06E-4BC6-B356-15881708C296}"/>
              </a:ext>
            </a:extLst>
          </p:cNvPr>
          <p:cNvSpPr>
            <a:spLocks noGrp="1"/>
          </p:cNvSpPr>
          <p:nvPr/>
        </p:nvSpPr>
        <p:spPr>
          <a:xfrm>
            <a:off x="15707868" y="4638676"/>
            <a:ext cx="342900" cy="342900"/>
          </a:xfrm>
          <a:prstGeom prst="roundRect">
            <a:avLst>
              <a:gd name="adj" fmla="val 13889"/>
            </a:avLst>
          </a:prstGeom>
          <a:solidFill>
            <a:srgbClr val="C15D3A"/>
          </a:solidFill>
          <a:ln w="9525">
            <a:solidFill>
              <a:srgbClr val="C7D1CC"/>
            </a:solidFill>
            <a:prstDash val="solid"/>
          </a:ln>
        </p:spPr>
      </p:sp>
      <p:sp>
        <p:nvSpPr>
          <p:cNvPr id="51" name="als-y-matrix-cell-4">
            <a:extLst>
              <a:ext uri="{FF2B5EF4-FFF2-40B4-BE49-F238E27FC236}">
                <a16:creationId xmlns:a16="http://schemas.microsoft.com/office/drawing/2014/main" id="{34218EC6-5F63-4062-BB12-161A68A2D7F8}"/>
              </a:ext>
            </a:extLst>
          </p:cNvPr>
          <p:cNvSpPr>
            <a:spLocks noGrp="1"/>
          </p:cNvSpPr>
          <p:nvPr/>
        </p:nvSpPr>
        <p:spPr>
          <a:xfrm>
            <a:off x="16088868" y="4638676"/>
            <a:ext cx="342900" cy="342900"/>
          </a:xfrm>
          <a:prstGeom prst="roundRect">
            <a:avLst>
              <a:gd name="adj" fmla="val 13889"/>
            </a:avLst>
          </a:prstGeom>
          <a:solidFill>
            <a:srgbClr val="EEF3EF"/>
          </a:solidFill>
          <a:ln w="9525">
            <a:solidFill>
              <a:srgbClr val="C7D1CC"/>
            </a:solidFill>
            <a:prstDash val="solid"/>
          </a:ln>
        </p:spPr>
      </p:sp>
      <p:sp>
        <p:nvSpPr>
          <p:cNvPr id="52" name="als-y-matrix-cell-5">
            <a:extLst>
              <a:ext uri="{FF2B5EF4-FFF2-40B4-BE49-F238E27FC236}">
                <a16:creationId xmlns:a16="http://schemas.microsoft.com/office/drawing/2014/main" id="{09936491-38E3-4C5D-B3F0-F2B5F74BF67B}"/>
              </a:ext>
            </a:extLst>
          </p:cNvPr>
          <p:cNvSpPr>
            <a:spLocks noGrp="1"/>
          </p:cNvSpPr>
          <p:nvPr/>
        </p:nvSpPr>
        <p:spPr>
          <a:xfrm>
            <a:off x="14488668" y="5019676"/>
            <a:ext cx="342900" cy="342900"/>
          </a:xfrm>
          <a:prstGeom prst="roundRect">
            <a:avLst>
              <a:gd name="adj" fmla="val 13889"/>
            </a:avLst>
          </a:prstGeom>
          <a:solidFill>
            <a:srgbClr val="C15D3A"/>
          </a:solidFill>
          <a:ln w="9525">
            <a:solidFill>
              <a:srgbClr val="C7D1CC"/>
            </a:solidFill>
            <a:prstDash val="solid"/>
          </a:ln>
        </p:spPr>
      </p:sp>
      <p:sp>
        <p:nvSpPr>
          <p:cNvPr id="53" name="als-y-matrix-cell-6">
            <a:extLst>
              <a:ext uri="{FF2B5EF4-FFF2-40B4-BE49-F238E27FC236}">
                <a16:creationId xmlns:a16="http://schemas.microsoft.com/office/drawing/2014/main" id="{6DE7738E-95BC-488E-9465-A763EC02631E}"/>
              </a:ext>
            </a:extLst>
          </p:cNvPr>
          <p:cNvSpPr>
            <a:spLocks noGrp="1"/>
          </p:cNvSpPr>
          <p:nvPr/>
        </p:nvSpPr>
        <p:spPr>
          <a:xfrm>
            <a:off x="14907768" y="5019676"/>
            <a:ext cx="342900" cy="342900"/>
          </a:xfrm>
          <a:prstGeom prst="roundRect">
            <a:avLst>
              <a:gd name="adj" fmla="val 13889"/>
            </a:avLst>
          </a:prstGeom>
          <a:solidFill>
            <a:srgbClr val="C15D3A"/>
          </a:solidFill>
          <a:ln w="9525">
            <a:solidFill>
              <a:srgbClr val="C7D1CC"/>
            </a:solidFill>
            <a:prstDash val="solid"/>
          </a:ln>
        </p:spPr>
      </p:sp>
      <p:sp>
        <p:nvSpPr>
          <p:cNvPr id="54" name="als-y-matrix-cell-7">
            <a:extLst>
              <a:ext uri="{FF2B5EF4-FFF2-40B4-BE49-F238E27FC236}">
                <a16:creationId xmlns:a16="http://schemas.microsoft.com/office/drawing/2014/main" id="{3CDDB75C-16B2-473B-A302-DA638D607BAE}"/>
              </a:ext>
            </a:extLst>
          </p:cNvPr>
          <p:cNvSpPr>
            <a:spLocks noGrp="1"/>
          </p:cNvSpPr>
          <p:nvPr/>
        </p:nvSpPr>
        <p:spPr>
          <a:xfrm>
            <a:off x="15288768" y="5019676"/>
            <a:ext cx="342900" cy="342900"/>
          </a:xfrm>
          <a:prstGeom prst="roundRect">
            <a:avLst>
              <a:gd name="adj" fmla="val 13889"/>
            </a:avLst>
          </a:prstGeom>
          <a:solidFill>
            <a:srgbClr val="EEF3EF"/>
          </a:solidFill>
          <a:ln w="9525">
            <a:solidFill>
              <a:srgbClr val="C7D1CC"/>
            </a:solidFill>
            <a:prstDash val="solid"/>
          </a:ln>
        </p:spPr>
      </p:sp>
      <p:sp>
        <p:nvSpPr>
          <p:cNvPr id="55" name="als-y-matrix-cell-8">
            <a:extLst>
              <a:ext uri="{FF2B5EF4-FFF2-40B4-BE49-F238E27FC236}">
                <a16:creationId xmlns:a16="http://schemas.microsoft.com/office/drawing/2014/main" id="{E3E48288-9D9C-4111-814A-2D74D6D3E3B1}"/>
              </a:ext>
            </a:extLst>
          </p:cNvPr>
          <p:cNvSpPr>
            <a:spLocks noGrp="1"/>
          </p:cNvSpPr>
          <p:nvPr/>
        </p:nvSpPr>
        <p:spPr>
          <a:xfrm>
            <a:off x="15707868" y="5019676"/>
            <a:ext cx="342900" cy="342900"/>
          </a:xfrm>
          <a:prstGeom prst="roundRect">
            <a:avLst>
              <a:gd name="adj" fmla="val 13889"/>
            </a:avLst>
          </a:prstGeom>
          <a:solidFill>
            <a:srgbClr val="EEF3EF"/>
          </a:solidFill>
          <a:ln w="9525">
            <a:solidFill>
              <a:srgbClr val="C7D1CC"/>
            </a:solidFill>
            <a:prstDash val="solid"/>
          </a:ln>
        </p:spPr>
      </p:sp>
      <p:sp>
        <p:nvSpPr>
          <p:cNvPr id="56" name="als-y-matrix-cell-9">
            <a:extLst>
              <a:ext uri="{FF2B5EF4-FFF2-40B4-BE49-F238E27FC236}">
                <a16:creationId xmlns:a16="http://schemas.microsoft.com/office/drawing/2014/main" id="{7ACF3FA9-DFA3-40A1-819D-C7735CA77D91}"/>
              </a:ext>
            </a:extLst>
          </p:cNvPr>
          <p:cNvSpPr>
            <a:spLocks noGrp="1"/>
          </p:cNvSpPr>
          <p:nvPr/>
        </p:nvSpPr>
        <p:spPr>
          <a:xfrm>
            <a:off x="16088868" y="5019676"/>
            <a:ext cx="342900" cy="342900"/>
          </a:xfrm>
          <a:prstGeom prst="roundRect">
            <a:avLst>
              <a:gd name="adj" fmla="val 13889"/>
            </a:avLst>
          </a:prstGeom>
          <a:solidFill>
            <a:srgbClr val="C15D3A"/>
          </a:solidFill>
          <a:ln w="9525">
            <a:solidFill>
              <a:srgbClr val="C7D1CC"/>
            </a:solidFill>
            <a:prstDash val="solid"/>
          </a:ln>
        </p:spPr>
      </p:sp>
      <p:sp>
        <p:nvSpPr>
          <p:cNvPr id="57" name="矩形 56">
            <a:extLst>
              <a:ext uri="{FF2B5EF4-FFF2-40B4-BE49-F238E27FC236}">
                <a16:creationId xmlns:a16="http://schemas.microsoft.com/office/drawing/2014/main" id="{5EA3FA41-BFE8-46C7-BC5A-C262A00B9A07}"/>
              </a:ext>
            </a:extLst>
          </p:cNvPr>
          <p:cNvSpPr>
            <a:spLocks noGrp="1"/>
          </p:cNvSpPr>
          <p:nvPr/>
        </p:nvSpPr>
        <p:spPr>
          <a:xfrm>
            <a:off x="14698218" y="5419726"/>
            <a:ext cx="1524000" cy="209550"/>
          </a:xfrm>
          <a:prstGeom prst="rect">
            <a:avLst/>
          </a:prstGeom>
        </p:spPr>
        <p:txBody>
          <a:bodyPr lIns="0" tIns="0" rIns="0" bIns="0"/>
          <a:lstStyle/>
          <a:p>
            <a:pPr algn="ctr">
              <a:defRPr sz="1275">
                <a:solidFill>
                  <a:srgbClr val="18212B"/>
                </a:solidFill>
              </a:defRPr>
            </a:pPr>
            <a:r>
              <a:rPr sz="1275">
                <a:solidFill>
                  <a:srgbClr val="18212B"/>
                </a:solidFill>
              </a:rPr>
              <a:t>item factors</a:t>
            </a:r>
          </a:p>
        </p:txBody>
      </p:sp>
      <p:sp>
        <p:nvSpPr>
          <p:cNvPr id="58" name="矩形 57">
            <a:extLst>
              <a:ext uri="{FF2B5EF4-FFF2-40B4-BE49-F238E27FC236}">
                <a16:creationId xmlns:a16="http://schemas.microsoft.com/office/drawing/2014/main" id="{5E8473EA-E760-4EB0-A484-305755B486C7}"/>
              </a:ext>
            </a:extLst>
          </p:cNvPr>
          <p:cNvSpPr>
            <a:spLocks noGrp="1"/>
          </p:cNvSpPr>
          <p:nvPr/>
        </p:nvSpPr>
        <p:spPr>
          <a:xfrm>
            <a:off x="9707118" y="6238876"/>
            <a:ext cx="7677150" cy="9525"/>
          </a:xfrm>
          <a:prstGeom prst="rect">
            <a:avLst/>
          </a:prstGeom>
          <a:solidFill>
            <a:srgbClr val="C7D1CC"/>
          </a:solidFill>
          <a:ln w="0">
            <a:solidFill>
              <a:srgbClr val="C7D1CC"/>
            </a:solidFill>
            <a:prstDash val="solid"/>
          </a:ln>
        </p:spPr>
      </p:sp>
      <p:sp>
        <p:nvSpPr>
          <p:cNvPr id="59" name="矩形: 圆角 58">
            <a:extLst>
              <a:ext uri="{FF2B5EF4-FFF2-40B4-BE49-F238E27FC236}">
                <a16:creationId xmlns:a16="http://schemas.microsoft.com/office/drawing/2014/main" id="{17699558-24B4-47EF-A8D9-E549A67F326C}"/>
              </a:ext>
            </a:extLst>
          </p:cNvPr>
          <p:cNvSpPr>
            <a:spLocks noGrp="1"/>
          </p:cNvSpPr>
          <p:nvPr/>
        </p:nvSpPr>
        <p:spPr>
          <a:xfrm>
            <a:off x="9709404" y="6467476"/>
            <a:ext cx="1733550" cy="781050"/>
          </a:xfrm>
          <a:prstGeom prst="roundRect">
            <a:avLst>
              <a:gd name="adj" fmla="val 12195"/>
            </a:avLst>
          </a:prstGeom>
          <a:solidFill>
            <a:srgbClr val="FFFFFF"/>
          </a:solidFill>
          <a:ln w="14288">
            <a:solidFill>
              <a:srgbClr val="446B8C"/>
            </a:solidFill>
            <a:prstDash val="solid"/>
          </a:ln>
        </p:spPr>
      </p:sp>
      <p:sp>
        <p:nvSpPr>
          <p:cNvPr id="60" name="矩形 59">
            <a:extLst>
              <a:ext uri="{FF2B5EF4-FFF2-40B4-BE49-F238E27FC236}">
                <a16:creationId xmlns:a16="http://schemas.microsoft.com/office/drawing/2014/main" id="{7A1B9426-A217-4D91-B053-FFE84B55864E}"/>
              </a:ext>
            </a:extLst>
          </p:cNvPr>
          <p:cNvSpPr>
            <a:spLocks noGrp="1"/>
          </p:cNvSpPr>
          <p:nvPr/>
        </p:nvSpPr>
        <p:spPr>
          <a:xfrm>
            <a:off x="9840468" y="6657976"/>
            <a:ext cx="1485900" cy="419100"/>
          </a:xfrm>
          <a:prstGeom prst="rect">
            <a:avLst/>
          </a:prstGeom>
        </p:spPr>
        <p:txBody>
          <a:bodyPr lIns="0" tIns="0" rIns="0" bIns="0"/>
          <a:lstStyle/>
          <a:p>
            <a:pPr algn="ctr">
              <a:defRPr sz="1425" b="1">
                <a:solidFill>
                  <a:srgbClr val="18212B"/>
                </a:solidFill>
              </a:defRPr>
            </a:pPr>
            <a:r>
              <a:rPr sz="1425" b="1">
                <a:solidFill>
                  <a:srgbClr val="18212B"/>
                </a:solidFill>
              </a:rPr>
              <a:t>new user</a:t>
            </a:r>
          </a:p>
          <a:p>
            <a:pPr algn="ctr">
              <a:defRPr sz="1425" b="1">
                <a:solidFill>
                  <a:srgbClr val="18212B"/>
                </a:solidFill>
              </a:defRPr>
            </a:pPr>
            <a:r>
              <a:rPr sz="1425" b="1">
                <a:solidFill>
                  <a:srgbClr val="18212B"/>
                </a:solidFill>
              </a:rPr>
              <a:t>vector x_u</a:t>
            </a:r>
          </a:p>
        </p:txBody>
      </p:sp>
      <p:sp>
        <p:nvSpPr>
          <p:cNvPr id="61" name="矩形 60">
            <a:extLst>
              <a:ext uri="{FF2B5EF4-FFF2-40B4-BE49-F238E27FC236}">
                <a16:creationId xmlns:a16="http://schemas.microsoft.com/office/drawing/2014/main" id="{7175A9F6-9C04-4941-BD77-3DD09EA09858}"/>
              </a:ext>
            </a:extLst>
          </p:cNvPr>
          <p:cNvSpPr>
            <a:spLocks noGrp="1"/>
          </p:cNvSpPr>
          <p:nvPr/>
        </p:nvSpPr>
        <p:spPr>
          <a:xfrm>
            <a:off x="11574018" y="6715126"/>
            <a:ext cx="476250" cy="304800"/>
          </a:xfrm>
          <a:prstGeom prst="rect">
            <a:avLst/>
          </a:prstGeom>
        </p:spPr>
        <p:txBody>
          <a:bodyPr lIns="0" tIns="0" rIns="0" bIns="0"/>
          <a:lstStyle/>
          <a:p>
            <a:pPr algn="ctr">
              <a:defRPr sz="1950" b="1">
                <a:solidFill>
                  <a:srgbClr val="18212B"/>
                </a:solidFill>
              </a:defRPr>
            </a:pPr>
            <a:r>
              <a:rPr sz="1950" b="1">
                <a:solidFill>
                  <a:srgbClr val="18212B"/>
                </a:solidFill>
              </a:rPr>
              <a:t>dot</a:t>
            </a:r>
          </a:p>
        </p:txBody>
      </p:sp>
      <p:sp>
        <p:nvSpPr>
          <p:cNvPr id="62" name="矩形: 圆角 61">
            <a:extLst>
              <a:ext uri="{FF2B5EF4-FFF2-40B4-BE49-F238E27FC236}">
                <a16:creationId xmlns:a16="http://schemas.microsoft.com/office/drawing/2014/main" id="{F48E2326-9675-43FB-A66D-FE55B7D22BC8}"/>
              </a:ext>
            </a:extLst>
          </p:cNvPr>
          <p:cNvSpPr>
            <a:spLocks noGrp="1"/>
          </p:cNvSpPr>
          <p:nvPr/>
        </p:nvSpPr>
        <p:spPr>
          <a:xfrm>
            <a:off x="12185904" y="6467476"/>
            <a:ext cx="1619250" cy="781050"/>
          </a:xfrm>
          <a:prstGeom prst="roundRect">
            <a:avLst>
              <a:gd name="adj" fmla="val 12195"/>
            </a:avLst>
          </a:prstGeom>
          <a:solidFill>
            <a:srgbClr val="FFFFFF"/>
          </a:solidFill>
          <a:ln w="14288">
            <a:solidFill>
              <a:srgbClr val="C15D3A"/>
            </a:solidFill>
            <a:prstDash val="solid"/>
          </a:ln>
        </p:spPr>
      </p:sp>
      <p:sp>
        <p:nvSpPr>
          <p:cNvPr id="63" name="矩形 62">
            <a:extLst>
              <a:ext uri="{FF2B5EF4-FFF2-40B4-BE49-F238E27FC236}">
                <a16:creationId xmlns:a16="http://schemas.microsoft.com/office/drawing/2014/main" id="{E287B972-B0A4-4AFA-AE0A-3B00084AB929}"/>
              </a:ext>
            </a:extLst>
          </p:cNvPr>
          <p:cNvSpPr>
            <a:spLocks noGrp="1"/>
          </p:cNvSpPr>
          <p:nvPr/>
        </p:nvSpPr>
        <p:spPr>
          <a:xfrm>
            <a:off x="12316968" y="6657976"/>
            <a:ext cx="1371600" cy="419100"/>
          </a:xfrm>
          <a:prstGeom prst="rect">
            <a:avLst/>
          </a:prstGeom>
        </p:spPr>
        <p:txBody>
          <a:bodyPr lIns="0" tIns="0" rIns="0" bIns="0"/>
          <a:lstStyle/>
          <a:p>
            <a:pPr algn="ctr">
              <a:defRPr sz="1425" b="1">
                <a:solidFill>
                  <a:srgbClr val="18212B"/>
                </a:solidFill>
              </a:defRPr>
            </a:pPr>
            <a:r>
              <a:rPr sz="1425" b="1">
                <a:solidFill>
                  <a:srgbClr val="18212B"/>
                </a:solidFill>
              </a:rPr>
              <a:t>item</a:t>
            </a:r>
          </a:p>
          <a:p>
            <a:pPr algn="ctr">
              <a:defRPr sz="1425" b="1">
                <a:solidFill>
                  <a:srgbClr val="18212B"/>
                </a:solidFill>
              </a:defRPr>
            </a:pPr>
            <a:r>
              <a:rPr sz="1425" b="1">
                <a:solidFill>
                  <a:srgbClr val="18212B"/>
                </a:solidFill>
              </a:rPr>
              <a:t>vector y_i</a:t>
            </a:r>
          </a:p>
        </p:txBody>
      </p:sp>
      <p:sp>
        <p:nvSpPr>
          <p:cNvPr id="64" name="矩形 63">
            <a:extLst>
              <a:ext uri="{FF2B5EF4-FFF2-40B4-BE49-F238E27FC236}">
                <a16:creationId xmlns:a16="http://schemas.microsoft.com/office/drawing/2014/main" id="{D337F9AE-669C-4078-9D4D-38FE0B196A06}"/>
              </a:ext>
            </a:extLst>
          </p:cNvPr>
          <p:cNvSpPr>
            <a:spLocks noGrp="1"/>
          </p:cNvSpPr>
          <p:nvPr/>
        </p:nvSpPr>
        <p:spPr>
          <a:xfrm>
            <a:off x="13936218" y="6715126"/>
            <a:ext cx="323850" cy="304800"/>
          </a:xfrm>
          <a:prstGeom prst="rect">
            <a:avLst/>
          </a:prstGeom>
        </p:spPr>
        <p:txBody>
          <a:bodyPr lIns="0" tIns="0" rIns="0" bIns="0"/>
          <a:lstStyle/>
          <a:p>
            <a:pPr algn="ctr">
              <a:defRPr sz="1950" b="1">
                <a:solidFill>
                  <a:srgbClr val="18212B"/>
                </a:solidFill>
              </a:defRPr>
            </a:pPr>
            <a:r>
              <a:rPr sz="1950" b="1">
                <a:solidFill>
                  <a:srgbClr val="18212B"/>
                </a:solidFill>
              </a:rPr>
              <a:t>=</a:t>
            </a:r>
          </a:p>
        </p:txBody>
      </p:sp>
      <p:sp>
        <p:nvSpPr>
          <p:cNvPr id="65" name="矩形 64">
            <a:extLst>
              <a:ext uri="{FF2B5EF4-FFF2-40B4-BE49-F238E27FC236}">
                <a16:creationId xmlns:a16="http://schemas.microsoft.com/office/drawing/2014/main" id="{E851817D-B423-43EF-9624-6B70378ADA45}"/>
              </a:ext>
            </a:extLst>
          </p:cNvPr>
          <p:cNvSpPr>
            <a:spLocks noGrp="1"/>
          </p:cNvSpPr>
          <p:nvPr/>
        </p:nvSpPr>
        <p:spPr>
          <a:xfrm>
            <a:off x="14393418" y="6696076"/>
            <a:ext cx="1676400" cy="342900"/>
          </a:xfrm>
          <a:prstGeom prst="rect">
            <a:avLst/>
          </a:prstGeom>
        </p:spPr>
        <p:txBody>
          <a:bodyPr lIns="0" tIns="0" rIns="0" bIns="0"/>
          <a:lstStyle/>
          <a:p>
            <a:pPr algn="ctr">
              <a:defRPr sz="2175" b="1">
                <a:solidFill>
                  <a:srgbClr val="2F7D6D"/>
                </a:solidFill>
              </a:defRPr>
            </a:pPr>
            <a:r>
              <a:rPr sz="2175" b="1">
                <a:solidFill>
                  <a:srgbClr val="2F7D6D"/>
                </a:solidFill>
              </a:rPr>
              <a:t>score(u, i)</a:t>
            </a:r>
          </a:p>
        </p:txBody>
      </p:sp>
      <p:sp>
        <p:nvSpPr>
          <p:cNvPr id="66" name="footer-rule">
            <a:extLst>
              <a:ext uri="{FF2B5EF4-FFF2-40B4-BE49-F238E27FC236}">
                <a16:creationId xmlns:a16="http://schemas.microsoft.com/office/drawing/2014/main" id="{99F51102-C276-4152-BBD2-E4C3EF23540D}"/>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67" name="source-rail">
            <a:extLst>
              <a:ext uri="{FF2B5EF4-FFF2-40B4-BE49-F238E27FC236}">
                <a16:creationId xmlns:a16="http://schemas.microsoft.com/office/drawing/2014/main" id="{B71B8389-DB76-4C95-BDB0-595C1703CC25}"/>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164401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2" name="slide-number">
            <a:extLst>
              <a:ext uri="{FF2B5EF4-FFF2-40B4-BE49-F238E27FC236}">
                <a16:creationId xmlns:a16="http://schemas.microsoft.com/office/drawing/2014/main" id="{1D82ED0C-AFC0-48E2-AD94-A95FAE968413}"/>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09</a:t>
            </a:r>
          </a:p>
        </p:txBody>
      </p:sp>
      <p:sp>
        <p:nvSpPr>
          <p:cNvPr id="2" name="kicker-rule">
            <a:extLst>
              <a:ext uri="{FF2B5EF4-FFF2-40B4-BE49-F238E27FC236}">
                <a16:creationId xmlns:a16="http://schemas.microsoft.com/office/drawing/2014/main" id="{295C2878-04C0-440C-B878-5BCE67F3CA9E}"/>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76F5DCE4-B10F-4F5F-8C27-E4DB39478856}"/>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34CD750B-DDB0-4BBB-A1DE-F57D303D882F}"/>
              </a:ext>
            </a:extLst>
          </p:cNvPr>
          <p:cNvSpPr>
            <a:spLocks noGrp="1"/>
          </p:cNvSpPr>
          <p:nvPr/>
        </p:nvSpPr>
        <p:spPr>
          <a:xfrm>
            <a:off x="838200" y="914400"/>
            <a:ext cx="16611600" cy="914400"/>
          </a:xfrm>
          <a:prstGeom prst="rect">
            <a:avLst/>
          </a:prstGeom>
        </p:spPr>
        <p:txBody>
          <a:bodyPr lIns="0" tIns="0" rIns="0" bIns="0"/>
          <a:lstStyle/>
          <a:p>
            <a:pPr>
              <a:defRPr sz="4050" b="1">
                <a:solidFill>
                  <a:srgbClr val="18212B"/>
                </a:solidFill>
              </a:defRPr>
            </a:pPr>
            <a:r>
              <a:rPr sz="4050" b="1">
                <a:solidFill>
                  <a:srgbClr val="18212B"/>
                </a:solidFill>
              </a:rPr>
              <a:t>Model 3: Content-based recommendation using tags</a:t>
            </a:r>
          </a:p>
        </p:txBody>
      </p:sp>
      <p:sp>
        <p:nvSpPr>
          <p:cNvPr id="5" name="slide-subtitle">
            <a:extLst>
              <a:ext uri="{FF2B5EF4-FFF2-40B4-BE49-F238E27FC236}">
                <a16:creationId xmlns:a16="http://schemas.microsoft.com/office/drawing/2014/main" id="{5AC4C4EB-0720-43D1-B983-DC6BD3C1DDCA}"/>
              </a:ext>
            </a:extLst>
          </p:cNvPr>
          <p:cNvSpPr>
            <a:spLocks noGrp="1"/>
          </p:cNvSpPr>
          <p:nvPr/>
        </p:nvSpPr>
        <p:spPr>
          <a:xfrm>
            <a:off x="889253" y="7840702"/>
            <a:ext cx="13906500" cy="342900"/>
          </a:xfrm>
          <a:prstGeom prst="rect">
            <a:avLst/>
          </a:prstGeom>
        </p:spPr>
        <p:txBody>
          <a:bodyPr lIns="0" tIns="0" rIns="0" bIns="0"/>
          <a:lstStyle/>
          <a:p>
            <a:pPr>
              <a:defRPr sz="2250">
                <a:solidFill>
                  <a:srgbClr val="18212B"/>
                </a:solidFill>
              </a:defRPr>
            </a:pPr>
            <a:r>
              <a:rPr sz="2250">
                <a:solidFill>
                  <a:srgbClr val="18212B"/>
                </a:solidFill>
              </a:rPr>
              <a:t>The model recommends songs whose tag vectors are close to the user's tag profile.</a:t>
            </a:r>
          </a:p>
        </p:txBody>
      </p:sp>
      <p:sp>
        <p:nvSpPr>
          <p:cNvPr id="6" name="cb-bullets-1">
            <a:extLst>
              <a:ext uri="{FF2B5EF4-FFF2-40B4-BE49-F238E27FC236}">
                <a16:creationId xmlns:a16="http://schemas.microsoft.com/office/drawing/2014/main" id="{159B4E8A-8DB7-4433-88BE-F8BD6BFACDEB}"/>
              </a:ext>
            </a:extLst>
          </p:cNvPr>
          <p:cNvSpPr>
            <a:spLocks noGrp="1"/>
          </p:cNvSpPr>
          <p:nvPr/>
        </p:nvSpPr>
        <p:spPr>
          <a:xfrm>
            <a:off x="889253" y="3683784"/>
            <a:ext cx="8077200" cy="1057276"/>
          </a:xfrm>
          <a:prstGeom prst="rect">
            <a:avLst/>
          </a:prstGeom>
        </p:spPr>
        <p:txBody>
          <a:bodyPr lIns="0" tIns="0" rIns="0" bIns="0"/>
          <a:lstStyle/>
          <a:p>
            <a:pPr>
              <a:defRPr sz="2025">
                <a:solidFill>
                  <a:srgbClr val="18212B"/>
                </a:solidFill>
              </a:defRPr>
            </a:pPr>
            <a:r>
              <a:rPr sz="2400" dirty="0">
                <a:solidFill>
                  <a:srgbClr val="18212B"/>
                </a:solidFill>
              </a:rPr>
              <a:t>- Convert item tags into TF-IDF vectors</a:t>
            </a:r>
            <a:r>
              <a:rPr lang="en-US" sz="2400" dirty="0">
                <a:solidFill>
                  <a:srgbClr val="18212B"/>
                </a:solidFill>
              </a:rPr>
              <a:t>, giving higher weights to tags that appears more specifically in the songs, </a:t>
            </a:r>
            <a:r>
              <a:rPr lang="en-US" altLang="zh-CN" sz="2400" dirty="0"/>
              <a:t>and lower weight to generic tags that appear everywhere.</a:t>
            </a:r>
            <a:endParaRPr sz="2400" dirty="0">
              <a:solidFill>
                <a:srgbClr val="18212B"/>
              </a:solidFill>
            </a:endParaRPr>
          </a:p>
        </p:txBody>
      </p:sp>
      <p:sp>
        <p:nvSpPr>
          <p:cNvPr id="7" name="cb-bullets-2">
            <a:extLst>
              <a:ext uri="{FF2B5EF4-FFF2-40B4-BE49-F238E27FC236}">
                <a16:creationId xmlns:a16="http://schemas.microsoft.com/office/drawing/2014/main" id="{090CEFB6-6EC8-45A2-A84F-FD2AF67B799A}"/>
              </a:ext>
            </a:extLst>
          </p:cNvPr>
          <p:cNvSpPr>
            <a:spLocks noGrp="1"/>
          </p:cNvSpPr>
          <p:nvPr/>
        </p:nvSpPr>
        <p:spPr>
          <a:xfrm>
            <a:off x="838200" y="5148727"/>
            <a:ext cx="8077200" cy="412173"/>
          </a:xfrm>
          <a:prstGeom prst="rect">
            <a:avLst/>
          </a:prstGeom>
        </p:spPr>
        <p:txBody>
          <a:bodyPr lIns="0" tIns="0" rIns="0" bIns="0"/>
          <a:lstStyle/>
          <a:p>
            <a:pPr>
              <a:defRPr sz="2025">
                <a:solidFill>
                  <a:srgbClr val="18212B"/>
                </a:solidFill>
              </a:defRPr>
            </a:pPr>
            <a:r>
              <a:rPr sz="2400" dirty="0">
                <a:solidFill>
                  <a:srgbClr val="18212B"/>
                </a:solidFill>
              </a:rPr>
              <a:t>- Build a user profile from interacted songs</a:t>
            </a:r>
            <a:r>
              <a:rPr lang="en-US" sz="2400" dirty="0">
                <a:solidFill>
                  <a:srgbClr val="18212B"/>
                </a:solidFill>
              </a:rPr>
              <a:t> during training</a:t>
            </a:r>
            <a:r>
              <a:rPr sz="2400" dirty="0">
                <a:solidFill>
                  <a:srgbClr val="18212B"/>
                </a:solidFill>
              </a:rPr>
              <a:t>.</a:t>
            </a:r>
          </a:p>
        </p:txBody>
      </p:sp>
      <p:sp>
        <p:nvSpPr>
          <p:cNvPr id="8" name="cb-bullets-3">
            <a:extLst>
              <a:ext uri="{FF2B5EF4-FFF2-40B4-BE49-F238E27FC236}">
                <a16:creationId xmlns:a16="http://schemas.microsoft.com/office/drawing/2014/main" id="{8B1E57C0-BD30-4839-A58F-3A25F2925F6C}"/>
              </a:ext>
            </a:extLst>
          </p:cNvPr>
          <p:cNvSpPr>
            <a:spLocks noGrp="1"/>
          </p:cNvSpPr>
          <p:nvPr/>
        </p:nvSpPr>
        <p:spPr>
          <a:xfrm>
            <a:off x="889253" y="5731660"/>
            <a:ext cx="8077200" cy="800100"/>
          </a:xfrm>
          <a:prstGeom prst="rect">
            <a:avLst/>
          </a:prstGeom>
        </p:spPr>
        <p:txBody>
          <a:bodyPr lIns="0" tIns="0" rIns="0" bIns="0"/>
          <a:lstStyle/>
          <a:p>
            <a:pPr>
              <a:defRPr sz="2025">
                <a:solidFill>
                  <a:srgbClr val="18212B"/>
                </a:solidFill>
              </a:defRPr>
            </a:pPr>
            <a:r>
              <a:rPr sz="2400" dirty="0">
                <a:solidFill>
                  <a:srgbClr val="18212B"/>
                </a:solidFill>
              </a:rPr>
              <a:t>- </a:t>
            </a:r>
            <a:r>
              <a:rPr lang="en-US" sz="2400" dirty="0">
                <a:solidFill>
                  <a:srgbClr val="18212B"/>
                </a:solidFill>
              </a:rPr>
              <a:t>T</a:t>
            </a:r>
            <a:r>
              <a:rPr lang="en-US" altLang="zh-CN" sz="2400" dirty="0"/>
              <a:t>hen scores candidate items by how similar their tag vectors are to the user’s tag profile, often using cosine similarity. </a:t>
            </a:r>
            <a:endParaRPr sz="2400" dirty="0">
              <a:solidFill>
                <a:srgbClr val="18212B"/>
              </a:solidFill>
            </a:endParaRPr>
          </a:p>
        </p:txBody>
      </p:sp>
      <p:sp>
        <p:nvSpPr>
          <p:cNvPr id="9" name="cb-bullets-4">
            <a:extLst>
              <a:ext uri="{FF2B5EF4-FFF2-40B4-BE49-F238E27FC236}">
                <a16:creationId xmlns:a16="http://schemas.microsoft.com/office/drawing/2014/main" id="{C7BDACA8-1C99-4CB9-8F2F-F9FC89C68D16}"/>
              </a:ext>
            </a:extLst>
          </p:cNvPr>
          <p:cNvSpPr>
            <a:spLocks noGrp="1"/>
          </p:cNvSpPr>
          <p:nvPr/>
        </p:nvSpPr>
        <p:spPr>
          <a:xfrm>
            <a:off x="838200" y="6651705"/>
            <a:ext cx="8077200" cy="800100"/>
          </a:xfrm>
          <a:prstGeom prst="rect">
            <a:avLst/>
          </a:prstGeom>
        </p:spPr>
        <p:txBody>
          <a:bodyPr lIns="0" tIns="0" rIns="0" bIns="0"/>
          <a:lstStyle/>
          <a:p>
            <a:pPr>
              <a:defRPr sz="2025">
                <a:solidFill>
                  <a:srgbClr val="18212B"/>
                </a:solidFill>
              </a:defRPr>
            </a:pPr>
            <a:r>
              <a:rPr sz="2400" dirty="0">
                <a:solidFill>
                  <a:srgbClr val="18212B"/>
                </a:solidFill>
              </a:rPr>
              <a:t>- More explainable and novel, but tag similarity is not always user preference.</a:t>
            </a:r>
          </a:p>
        </p:txBody>
      </p:sp>
      <p:sp>
        <p:nvSpPr>
          <p:cNvPr id="10" name="cb-tag-panel">
            <a:extLst>
              <a:ext uri="{FF2B5EF4-FFF2-40B4-BE49-F238E27FC236}">
                <a16:creationId xmlns:a16="http://schemas.microsoft.com/office/drawing/2014/main" id="{010B44B2-7E0F-428D-8014-F67534C6288C}"/>
              </a:ext>
            </a:extLst>
          </p:cNvPr>
          <p:cNvSpPr>
            <a:spLocks noGrp="1"/>
          </p:cNvSpPr>
          <p:nvPr/>
        </p:nvSpPr>
        <p:spPr>
          <a:xfrm>
            <a:off x="9321548" y="3337005"/>
            <a:ext cx="8360664" cy="3943350"/>
          </a:xfrm>
          <a:prstGeom prst="roundRect">
            <a:avLst>
              <a:gd name="adj" fmla="val 2400"/>
            </a:avLst>
          </a:prstGeom>
          <a:solidFill>
            <a:srgbClr val="FFFFFF"/>
          </a:solidFill>
          <a:ln w="9525">
            <a:solidFill>
              <a:srgbClr val="C7D1CC"/>
            </a:solidFill>
            <a:prstDash val="solid"/>
          </a:ln>
        </p:spPr>
      </p:sp>
      <p:sp>
        <p:nvSpPr>
          <p:cNvPr id="11" name="矩形: 圆角 10">
            <a:extLst>
              <a:ext uri="{FF2B5EF4-FFF2-40B4-BE49-F238E27FC236}">
                <a16:creationId xmlns:a16="http://schemas.microsoft.com/office/drawing/2014/main" id="{E635AD71-C3AA-4631-A7D4-054B5BBC6F92}"/>
              </a:ext>
            </a:extLst>
          </p:cNvPr>
          <p:cNvSpPr>
            <a:spLocks noGrp="1"/>
          </p:cNvSpPr>
          <p:nvPr/>
        </p:nvSpPr>
        <p:spPr>
          <a:xfrm>
            <a:off x="9607298" y="4022805"/>
            <a:ext cx="1504950" cy="895350"/>
          </a:xfrm>
          <a:prstGeom prst="roundRect">
            <a:avLst>
              <a:gd name="adj" fmla="val 10638"/>
            </a:avLst>
          </a:prstGeom>
          <a:solidFill>
            <a:srgbClr val="FFFFFF"/>
          </a:solidFill>
          <a:ln w="14288">
            <a:solidFill>
              <a:srgbClr val="446B8C"/>
            </a:solidFill>
            <a:prstDash val="solid"/>
          </a:ln>
        </p:spPr>
      </p:sp>
      <p:sp>
        <p:nvSpPr>
          <p:cNvPr id="12" name="矩形 11">
            <a:extLst>
              <a:ext uri="{FF2B5EF4-FFF2-40B4-BE49-F238E27FC236}">
                <a16:creationId xmlns:a16="http://schemas.microsoft.com/office/drawing/2014/main" id="{3EF1443C-802C-4B71-B698-420BB9BEA913}"/>
              </a:ext>
            </a:extLst>
          </p:cNvPr>
          <p:cNvSpPr>
            <a:spLocks noGrp="1"/>
          </p:cNvSpPr>
          <p:nvPr/>
        </p:nvSpPr>
        <p:spPr>
          <a:xfrm>
            <a:off x="9738362" y="4251405"/>
            <a:ext cx="1257300" cy="457200"/>
          </a:xfrm>
          <a:prstGeom prst="rect">
            <a:avLst/>
          </a:prstGeom>
        </p:spPr>
        <p:txBody>
          <a:bodyPr lIns="0" tIns="0" rIns="0" bIns="0"/>
          <a:lstStyle/>
          <a:p>
            <a:pPr algn="ctr">
              <a:defRPr sz="1500" b="1">
                <a:solidFill>
                  <a:srgbClr val="18212B"/>
                </a:solidFill>
              </a:defRPr>
            </a:pPr>
            <a:r>
              <a:rPr sz="1500" b="1">
                <a:solidFill>
                  <a:srgbClr val="18212B"/>
                </a:solidFill>
              </a:rPr>
              <a:t>seed songs</a:t>
            </a:r>
          </a:p>
          <a:p>
            <a:pPr algn="ctr">
              <a:defRPr sz="1500" b="1">
                <a:solidFill>
                  <a:srgbClr val="18212B"/>
                </a:solidFill>
              </a:defRPr>
            </a:pPr>
            <a:r>
              <a:rPr sz="1500" b="1">
                <a:solidFill>
                  <a:srgbClr val="18212B"/>
                </a:solidFill>
              </a:rPr>
              <a:t>with tags</a:t>
            </a:r>
          </a:p>
        </p:txBody>
      </p:sp>
      <p:sp>
        <p:nvSpPr>
          <p:cNvPr id="13" name="矩形 12">
            <a:extLst>
              <a:ext uri="{FF2B5EF4-FFF2-40B4-BE49-F238E27FC236}">
                <a16:creationId xmlns:a16="http://schemas.microsoft.com/office/drawing/2014/main" id="{3B103B00-F0D0-4C11-853C-25E8B53A4C65}"/>
              </a:ext>
            </a:extLst>
          </p:cNvPr>
          <p:cNvSpPr>
            <a:spLocks noGrp="1"/>
          </p:cNvSpPr>
          <p:nvPr/>
        </p:nvSpPr>
        <p:spPr>
          <a:xfrm>
            <a:off x="11205212" y="4327605"/>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14" name="矩形: 圆角 13">
            <a:extLst>
              <a:ext uri="{FF2B5EF4-FFF2-40B4-BE49-F238E27FC236}">
                <a16:creationId xmlns:a16="http://schemas.microsoft.com/office/drawing/2014/main" id="{189635C8-FFF6-4719-B9D4-ABD54B2FE4EA}"/>
              </a:ext>
            </a:extLst>
          </p:cNvPr>
          <p:cNvSpPr>
            <a:spLocks noGrp="1"/>
          </p:cNvSpPr>
          <p:nvPr/>
        </p:nvSpPr>
        <p:spPr>
          <a:xfrm>
            <a:off x="11664698" y="4022805"/>
            <a:ext cx="1504950" cy="895350"/>
          </a:xfrm>
          <a:prstGeom prst="roundRect">
            <a:avLst>
              <a:gd name="adj" fmla="val 10638"/>
            </a:avLst>
          </a:prstGeom>
          <a:solidFill>
            <a:srgbClr val="FFFFFF"/>
          </a:solidFill>
          <a:ln w="14288">
            <a:solidFill>
              <a:srgbClr val="2F7D6D"/>
            </a:solidFill>
            <a:prstDash val="solid"/>
          </a:ln>
        </p:spPr>
      </p:sp>
      <p:sp>
        <p:nvSpPr>
          <p:cNvPr id="15" name="矩形 14">
            <a:extLst>
              <a:ext uri="{FF2B5EF4-FFF2-40B4-BE49-F238E27FC236}">
                <a16:creationId xmlns:a16="http://schemas.microsoft.com/office/drawing/2014/main" id="{4797CC49-D6D7-4E46-B667-A687A283B9E3}"/>
              </a:ext>
            </a:extLst>
          </p:cNvPr>
          <p:cNvSpPr>
            <a:spLocks noGrp="1"/>
          </p:cNvSpPr>
          <p:nvPr/>
        </p:nvSpPr>
        <p:spPr>
          <a:xfrm>
            <a:off x="11795762" y="4251405"/>
            <a:ext cx="1257300" cy="457200"/>
          </a:xfrm>
          <a:prstGeom prst="rect">
            <a:avLst/>
          </a:prstGeom>
        </p:spPr>
        <p:txBody>
          <a:bodyPr lIns="0" tIns="0" rIns="0" bIns="0"/>
          <a:lstStyle/>
          <a:p>
            <a:pPr algn="ctr">
              <a:defRPr sz="1500" b="1">
                <a:solidFill>
                  <a:srgbClr val="18212B"/>
                </a:solidFill>
              </a:defRPr>
            </a:pPr>
            <a:r>
              <a:rPr sz="1500" b="1">
                <a:solidFill>
                  <a:srgbClr val="18212B"/>
                </a:solidFill>
              </a:rPr>
              <a:t>TF-IDF</a:t>
            </a:r>
          </a:p>
          <a:p>
            <a:pPr algn="ctr">
              <a:defRPr sz="1500" b="1">
                <a:solidFill>
                  <a:srgbClr val="18212B"/>
                </a:solidFill>
              </a:defRPr>
            </a:pPr>
            <a:r>
              <a:rPr sz="1500" b="1">
                <a:solidFill>
                  <a:srgbClr val="18212B"/>
                </a:solidFill>
              </a:rPr>
              <a:t>item vectors</a:t>
            </a:r>
          </a:p>
        </p:txBody>
      </p:sp>
      <p:sp>
        <p:nvSpPr>
          <p:cNvPr id="16" name="矩形 15">
            <a:extLst>
              <a:ext uri="{FF2B5EF4-FFF2-40B4-BE49-F238E27FC236}">
                <a16:creationId xmlns:a16="http://schemas.microsoft.com/office/drawing/2014/main" id="{64C76D4B-88A4-4FAF-BB9A-C13F7026429D}"/>
              </a:ext>
            </a:extLst>
          </p:cNvPr>
          <p:cNvSpPr>
            <a:spLocks noGrp="1"/>
          </p:cNvSpPr>
          <p:nvPr/>
        </p:nvSpPr>
        <p:spPr>
          <a:xfrm>
            <a:off x="13262612" y="4327605"/>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17" name="矩形: 圆角 16">
            <a:extLst>
              <a:ext uri="{FF2B5EF4-FFF2-40B4-BE49-F238E27FC236}">
                <a16:creationId xmlns:a16="http://schemas.microsoft.com/office/drawing/2014/main" id="{F7C8B0DF-9A40-48FD-8D7C-BF2BD1E9DD65}"/>
              </a:ext>
            </a:extLst>
          </p:cNvPr>
          <p:cNvSpPr>
            <a:spLocks noGrp="1"/>
          </p:cNvSpPr>
          <p:nvPr/>
        </p:nvSpPr>
        <p:spPr>
          <a:xfrm>
            <a:off x="13722098" y="4022805"/>
            <a:ext cx="1600200" cy="895350"/>
          </a:xfrm>
          <a:prstGeom prst="roundRect">
            <a:avLst>
              <a:gd name="adj" fmla="val 10638"/>
            </a:avLst>
          </a:prstGeom>
          <a:solidFill>
            <a:srgbClr val="FFFFFF"/>
          </a:solidFill>
          <a:ln w="14288">
            <a:solidFill>
              <a:srgbClr val="C15D3A"/>
            </a:solidFill>
            <a:prstDash val="solid"/>
          </a:ln>
        </p:spPr>
      </p:sp>
      <p:sp>
        <p:nvSpPr>
          <p:cNvPr id="18" name="矩形 17">
            <a:extLst>
              <a:ext uri="{FF2B5EF4-FFF2-40B4-BE49-F238E27FC236}">
                <a16:creationId xmlns:a16="http://schemas.microsoft.com/office/drawing/2014/main" id="{CE607004-6483-4DCB-99D1-61AB69F06AAC}"/>
              </a:ext>
            </a:extLst>
          </p:cNvPr>
          <p:cNvSpPr>
            <a:spLocks noGrp="1"/>
          </p:cNvSpPr>
          <p:nvPr/>
        </p:nvSpPr>
        <p:spPr>
          <a:xfrm>
            <a:off x="13853162" y="4251405"/>
            <a:ext cx="1333500" cy="457200"/>
          </a:xfrm>
          <a:prstGeom prst="rect">
            <a:avLst/>
          </a:prstGeom>
        </p:spPr>
        <p:txBody>
          <a:bodyPr lIns="0" tIns="0" rIns="0" bIns="0"/>
          <a:lstStyle/>
          <a:p>
            <a:pPr algn="ctr">
              <a:defRPr sz="1500" b="1">
                <a:solidFill>
                  <a:srgbClr val="18212B"/>
                </a:solidFill>
              </a:defRPr>
            </a:pPr>
            <a:r>
              <a:rPr sz="1500" b="1">
                <a:solidFill>
                  <a:srgbClr val="18212B"/>
                </a:solidFill>
              </a:rPr>
              <a:t>mean user</a:t>
            </a:r>
          </a:p>
          <a:p>
            <a:pPr algn="ctr">
              <a:defRPr sz="1500" b="1">
                <a:solidFill>
                  <a:srgbClr val="18212B"/>
                </a:solidFill>
              </a:defRPr>
            </a:pPr>
            <a:r>
              <a:rPr sz="1500" b="1">
                <a:solidFill>
                  <a:srgbClr val="18212B"/>
                </a:solidFill>
              </a:rPr>
              <a:t>tag profile</a:t>
            </a:r>
          </a:p>
        </p:txBody>
      </p:sp>
      <p:sp>
        <p:nvSpPr>
          <p:cNvPr id="19" name="矩形 18">
            <a:extLst>
              <a:ext uri="{FF2B5EF4-FFF2-40B4-BE49-F238E27FC236}">
                <a16:creationId xmlns:a16="http://schemas.microsoft.com/office/drawing/2014/main" id="{42626A21-400F-41D5-9781-FC5D842B4471}"/>
              </a:ext>
            </a:extLst>
          </p:cNvPr>
          <p:cNvSpPr>
            <a:spLocks noGrp="1"/>
          </p:cNvSpPr>
          <p:nvPr/>
        </p:nvSpPr>
        <p:spPr>
          <a:xfrm>
            <a:off x="15415262" y="4327605"/>
            <a:ext cx="381000" cy="304800"/>
          </a:xfrm>
          <a:prstGeom prst="rect">
            <a:avLst/>
          </a:prstGeom>
        </p:spPr>
        <p:txBody>
          <a:bodyPr lIns="0" tIns="0" rIns="0" bIns="0"/>
          <a:lstStyle/>
          <a:p>
            <a:pPr algn="ctr">
              <a:defRPr sz="1950" b="1">
                <a:solidFill>
                  <a:srgbClr val="18212B"/>
                </a:solidFill>
              </a:defRPr>
            </a:pPr>
            <a:r>
              <a:rPr sz="1950" b="1">
                <a:solidFill>
                  <a:srgbClr val="18212B"/>
                </a:solidFill>
              </a:rPr>
              <a:t>-&gt;</a:t>
            </a:r>
          </a:p>
        </p:txBody>
      </p:sp>
      <p:sp>
        <p:nvSpPr>
          <p:cNvPr id="20" name="矩形: 圆角 19">
            <a:extLst>
              <a:ext uri="{FF2B5EF4-FFF2-40B4-BE49-F238E27FC236}">
                <a16:creationId xmlns:a16="http://schemas.microsoft.com/office/drawing/2014/main" id="{BD973DD9-32BC-4984-B9B8-D02847C73D5C}"/>
              </a:ext>
            </a:extLst>
          </p:cNvPr>
          <p:cNvSpPr>
            <a:spLocks noGrp="1"/>
          </p:cNvSpPr>
          <p:nvPr/>
        </p:nvSpPr>
        <p:spPr>
          <a:xfrm>
            <a:off x="15874748" y="4022805"/>
            <a:ext cx="1409700" cy="895350"/>
          </a:xfrm>
          <a:prstGeom prst="roundRect">
            <a:avLst>
              <a:gd name="adj" fmla="val 10638"/>
            </a:avLst>
          </a:prstGeom>
          <a:solidFill>
            <a:srgbClr val="FFFFFF"/>
          </a:solidFill>
          <a:ln w="14288">
            <a:solidFill>
              <a:srgbClr val="2F7D6D"/>
            </a:solidFill>
            <a:prstDash val="solid"/>
          </a:ln>
        </p:spPr>
      </p:sp>
      <p:sp>
        <p:nvSpPr>
          <p:cNvPr id="21" name="矩形 20">
            <a:extLst>
              <a:ext uri="{FF2B5EF4-FFF2-40B4-BE49-F238E27FC236}">
                <a16:creationId xmlns:a16="http://schemas.microsoft.com/office/drawing/2014/main" id="{74568A75-353E-4313-B1FB-C6798E3048CC}"/>
              </a:ext>
            </a:extLst>
          </p:cNvPr>
          <p:cNvSpPr>
            <a:spLocks noGrp="1"/>
          </p:cNvSpPr>
          <p:nvPr/>
        </p:nvSpPr>
        <p:spPr>
          <a:xfrm>
            <a:off x="16005812" y="4251405"/>
            <a:ext cx="1143000" cy="457200"/>
          </a:xfrm>
          <a:prstGeom prst="rect">
            <a:avLst/>
          </a:prstGeom>
        </p:spPr>
        <p:txBody>
          <a:bodyPr lIns="0" tIns="0" rIns="0" bIns="0"/>
          <a:lstStyle/>
          <a:p>
            <a:pPr algn="ctr">
              <a:defRPr sz="1500" b="1">
                <a:solidFill>
                  <a:srgbClr val="18212B"/>
                </a:solidFill>
              </a:defRPr>
            </a:pPr>
            <a:r>
              <a:rPr sz="1500" b="1">
                <a:solidFill>
                  <a:srgbClr val="18212B"/>
                </a:solidFill>
              </a:rPr>
              <a:t>cosine</a:t>
            </a:r>
          </a:p>
          <a:p>
            <a:pPr algn="ctr">
              <a:defRPr sz="1500" b="1">
                <a:solidFill>
                  <a:srgbClr val="18212B"/>
                </a:solidFill>
              </a:defRPr>
            </a:pPr>
            <a:r>
              <a:rPr sz="1500" b="1">
                <a:solidFill>
                  <a:srgbClr val="18212B"/>
                </a:solidFill>
              </a:rPr>
              <a:t>similarity</a:t>
            </a:r>
          </a:p>
        </p:txBody>
      </p:sp>
      <p:sp>
        <p:nvSpPr>
          <p:cNvPr id="22" name="矩形: 圆角 21">
            <a:extLst>
              <a:ext uri="{FF2B5EF4-FFF2-40B4-BE49-F238E27FC236}">
                <a16:creationId xmlns:a16="http://schemas.microsoft.com/office/drawing/2014/main" id="{85E15F87-5D6C-4BDB-BC26-DF04BEAF999E}"/>
              </a:ext>
            </a:extLst>
          </p:cNvPr>
          <p:cNvSpPr>
            <a:spLocks noGrp="1"/>
          </p:cNvSpPr>
          <p:nvPr/>
        </p:nvSpPr>
        <p:spPr>
          <a:xfrm>
            <a:off x="9607298" y="5133420"/>
            <a:ext cx="2520188" cy="495300"/>
          </a:xfrm>
          <a:prstGeom prst="roundRect">
            <a:avLst>
              <a:gd name="adj" fmla="val 13462"/>
            </a:avLst>
          </a:prstGeom>
          <a:solidFill>
            <a:srgbClr val="EEF3EF"/>
          </a:solidFill>
          <a:ln w="7620">
            <a:solidFill>
              <a:srgbClr val="2F7D6D"/>
            </a:solidFill>
            <a:prstDash val="solid"/>
          </a:ln>
        </p:spPr>
      </p:sp>
      <p:sp>
        <p:nvSpPr>
          <p:cNvPr id="23" name="矩形 22">
            <a:extLst>
              <a:ext uri="{FF2B5EF4-FFF2-40B4-BE49-F238E27FC236}">
                <a16:creationId xmlns:a16="http://schemas.microsoft.com/office/drawing/2014/main" id="{99038683-9BD0-4D76-B257-38F9838CB803}"/>
              </a:ext>
            </a:extLst>
          </p:cNvPr>
          <p:cNvSpPr>
            <a:spLocks noGrp="1"/>
          </p:cNvSpPr>
          <p:nvPr/>
        </p:nvSpPr>
        <p:spPr>
          <a:xfrm>
            <a:off x="9700262" y="5261055"/>
            <a:ext cx="2324100" cy="228600"/>
          </a:xfrm>
          <a:prstGeom prst="rect">
            <a:avLst/>
          </a:prstGeom>
        </p:spPr>
        <p:txBody>
          <a:bodyPr lIns="0" tIns="0" rIns="0" bIns="0"/>
          <a:lstStyle/>
          <a:p>
            <a:pPr algn="ctr">
              <a:defRPr sz="1500" b="1">
                <a:solidFill>
                  <a:srgbClr val="2F7D6D"/>
                </a:solidFill>
              </a:defRPr>
            </a:pPr>
            <a:r>
              <a:rPr sz="1500" b="1">
                <a:solidFill>
                  <a:srgbClr val="2F7D6D"/>
                </a:solidFill>
              </a:rPr>
              <a:t>indie</a:t>
            </a:r>
          </a:p>
        </p:txBody>
      </p:sp>
      <p:sp>
        <p:nvSpPr>
          <p:cNvPr id="24" name="矩形: 圆角 23">
            <a:extLst>
              <a:ext uri="{FF2B5EF4-FFF2-40B4-BE49-F238E27FC236}">
                <a16:creationId xmlns:a16="http://schemas.microsoft.com/office/drawing/2014/main" id="{C334E928-8DD4-4471-A43F-B5426161EEBE}"/>
              </a:ext>
            </a:extLst>
          </p:cNvPr>
          <p:cNvSpPr>
            <a:spLocks noGrp="1"/>
          </p:cNvSpPr>
          <p:nvPr/>
        </p:nvSpPr>
        <p:spPr>
          <a:xfrm>
            <a:off x="12241786" y="5133420"/>
            <a:ext cx="2520188" cy="495300"/>
          </a:xfrm>
          <a:prstGeom prst="roundRect">
            <a:avLst>
              <a:gd name="adj" fmla="val 13462"/>
            </a:avLst>
          </a:prstGeom>
          <a:solidFill>
            <a:srgbClr val="EEF3EF"/>
          </a:solidFill>
          <a:ln w="7620">
            <a:solidFill>
              <a:srgbClr val="2F7D6D"/>
            </a:solidFill>
            <a:prstDash val="solid"/>
          </a:ln>
        </p:spPr>
      </p:sp>
      <p:sp>
        <p:nvSpPr>
          <p:cNvPr id="25" name="矩形 24">
            <a:extLst>
              <a:ext uri="{FF2B5EF4-FFF2-40B4-BE49-F238E27FC236}">
                <a16:creationId xmlns:a16="http://schemas.microsoft.com/office/drawing/2014/main" id="{1D0E6B32-B366-4A8C-8EE7-C69944D3F64F}"/>
              </a:ext>
            </a:extLst>
          </p:cNvPr>
          <p:cNvSpPr>
            <a:spLocks noGrp="1"/>
          </p:cNvSpPr>
          <p:nvPr/>
        </p:nvSpPr>
        <p:spPr>
          <a:xfrm>
            <a:off x="12348212" y="5261055"/>
            <a:ext cx="2324100" cy="228600"/>
          </a:xfrm>
          <a:prstGeom prst="rect">
            <a:avLst/>
          </a:prstGeom>
        </p:spPr>
        <p:txBody>
          <a:bodyPr lIns="0" tIns="0" rIns="0" bIns="0"/>
          <a:lstStyle/>
          <a:p>
            <a:pPr algn="ctr">
              <a:defRPr sz="1500" b="1">
                <a:solidFill>
                  <a:srgbClr val="2F7D6D"/>
                </a:solidFill>
              </a:defRPr>
            </a:pPr>
            <a:r>
              <a:rPr sz="1500" b="1">
                <a:solidFill>
                  <a:srgbClr val="2F7D6D"/>
                </a:solidFill>
              </a:rPr>
              <a:t>mellow</a:t>
            </a:r>
          </a:p>
        </p:txBody>
      </p:sp>
      <p:sp>
        <p:nvSpPr>
          <p:cNvPr id="26" name="矩形: 圆角 25">
            <a:extLst>
              <a:ext uri="{FF2B5EF4-FFF2-40B4-BE49-F238E27FC236}">
                <a16:creationId xmlns:a16="http://schemas.microsoft.com/office/drawing/2014/main" id="{D405D99C-FF8E-4099-BE82-1DDC3B6C623E}"/>
              </a:ext>
            </a:extLst>
          </p:cNvPr>
          <p:cNvSpPr>
            <a:spLocks noGrp="1"/>
          </p:cNvSpPr>
          <p:nvPr/>
        </p:nvSpPr>
        <p:spPr>
          <a:xfrm>
            <a:off x="14876274" y="5133420"/>
            <a:ext cx="2520188" cy="495300"/>
          </a:xfrm>
          <a:prstGeom prst="roundRect">
            <a:avLst>
              <a:gd name="adj" fmla="val 13462"/>
            </a:avLst>
          </a:prstGeom>
          <a:solidFill>
            <a:srgbClr val="EEF3EF"/>
          </a:solidFill>
          <a:ln w="7620">
            <a:solidFill>
              <a:srgbClr val="2F7D6D"/>
            </a:solidFill>
            <a:prstDash val="solid"/>
          </a:ln>
        </p:spPr>
      </p:sp>
      <p:sp>
        <p:nvSpPr>
          <p:cNvPr id="27" name="矩形 26">
            <a:extLst>
              <a:ext uri="{FF2B5EF4-FFF2-40B4-BE49-F238E27FC236}">
                <a16:creationId xmlns:a16="http://schemas.microsoft.com/office/drawing/2014/main" id="{BD93A677-8AFA-41FA-834B-EAD486F3B0D1}"/>
              </a:ext>
            </a:extLst>
          </p:cNvPr>
          <p:cNvSpPr>
            <a:spLocks noGrp="1"/>
          </p:cNvSpPr>
          <p:nvPr/>
        </p:nvSpPr>
        <p:spPr>
          <a:xfrm>
            <a:off x="14977112" y="5261055"/>
            <a:ext cx="2324100" cy="228600"/>
          </a:xfrm>
          <a:prstGeom prst="rect">
            <a:avLst/>
          </a:prstGeom>
        </p:spPr>
        <p:txBody>
          <a:bodyPr lIns="0" tIns="0" rIns="0" bIns="0"/>
          <a:lstStyle/>
          <a:p>
            <a:pPr algn="ctr">
              <a:defRPr sz="1500" b="1">
                <a:solidFill>
                  <a:srgbClr val="2F7D6D"/>
                </a:solidFill>
              </a:defRPr>
            </a:pPr>
            <a:r>
              <a:rPr sz="1500" b="1">
                <a:solidFill>
                  <a:srgbClr val="2F7D6D"/>
                </a:solidFill>
              </a:rPr>
              <a:t>80s</a:t>
            </a:r>
          </a:p>
        </p:txBody>
      </p:sp>
      <p:sp>
        <p:nvSpPr>
          <p:cNvPr id="28" name="矩形: 圆角 27">
            <a:extLst>
              <a:ext uri="{FF2B5EF4-FFF2-40B4-BE49-F238E27FC236}">
                <a16:creationId xmlns:a16="http://schemas.microsoft.com/office/drawing/2014/main" id="{565E8D8B-BA7A-48BF-857B-8A44BD0F9450}"/>
              </a:ext>
            </a:extLst>
          </p:cNvPr>
          <p:cNvSpPr>
            <a:spLocks noGrp="1"/>
          </p:cNvSpPr>
          <p:nvPr/>
        </p:nvSpPr>
        <p:spPr>
          <a:xfrm>
            <a:off x="9607298" y="5838270"/>
            <a:ext cx="7789164" cy="937260"/>
          </a:xfrm>
          <a:prstGeom prst="roundRect">
            <a:avLst>
              <a:gd name="adj" fmla="val 10163"/>
            </a:avLst>
          </a:prstGeom>
          <a:solidFill>
            <a:srgbClr val="EEF3EF"/>
          </a:solidFill>
          <a:ln w="9525">
            <a:solidFill>
              <a:srgbClr val="C7D1CC"/>
            </a:solidFill>
            <a:prstDash val="solid"/>
          </a:ln>
        </p:spPr>
      </p:sp>
      <p:sp>
        <p:nvSpPr>
          <p:cNvPr id="29" name="矩形 28">
            <a:extLst>
              <a:ext uri="{FF2B5EF4-FFF2-40B4-BE49-F238E27FC236}">
                <a16:creationId xmlns:a16="http://schemas.microsoft.com/office/drawing/2014/main" id="{3250AC3C-B334-42F4-98FA-57AC04C26AB0}"/>
              </a:ext>
            </a:extLst>
          </p:cNvPr>
          <p:cNvSpPr>
            <a:spLocks noGrp="1"/>
          </p:cNvSpPr>
          <p:nvPr/>
        </p:nvSpPr>
        <p:spPr>
          <a:xfrm>
            <a:off x="9814562" y="6004005"/>
            <a:ext cx="7372350" cy="609600"/>
          </a:xfrm>
          <a:prstGeom prst="rect">
            <a:avLst/>
          </a:prstGeom>
        </p:spPr>
        <p:txBody>
          <a:bodyPr lIns="0" tIns="0" rIns="0" bIns="0"/>
          <a:lstStyle/>
          <a:p>
            <a:pPr>
              <a:defRPr sz="1950" b="1">
                <a:solidFill>
                  <a:srgbClr val="18212B"/>
                </a:solidFill>
              </a:defRPr>
            </a:pPr>
            <a:r>
              <a:rPr sz="1950" b="1" dirty="0">
                <a:solidFill>
                  <a:srgbClr val="18212B"/>
                </a:solidFill>
              </a:rPr>
              <a:t>Clear explanation: recommend songs sharing high-weight tags. </a:t>
            </a:r>
            <a:endParaRPr lang="en-US" sz="1950" b="1" dirty="0">
              <a:solidFill>
                <a:srgbClr val="18212B"/>
              </a:solidFill>
            </a:endParaRPr>
          </a:p>
          <a:p>
            <a:pPr>
              <a:defRPr sz="1950" b="1">
                <a:solidFill>
                  <a:srgbClr val="18212B"/>
                </a:solidFill>
              </a:defRPr>
            </a:pPr>
            <a:r>
              <a:rPr sz="1950" b="1" dirty="0">
                <a:solidFill>
                  <a:srgbClr val="18212B"/>
                </a:solidFill>
              </a:rPr>
              <a:t>Trade-off: similar tags can create a narrow list.</a:t>
            </a:r>
          </a:p>
        </p:txBody>
      </p:sp>
      <p:sp>
        <p:nvSpPr>
          <p:cNvPr id="30" name="footer-rule">
            <a:extLst>
              <a:ext uri="{FF2B5EF4-FFF2-40B4-BE49-F238E27FC236}">
                <a16:creationId xmlns:a16="http://schemas.microsoft.com/office/drawing/2014/main" id="{977BC324-4F02-49AB-A8A9-4A9DE3DB82D9}"/>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31" name="source-rail">
            <a:extLst>
              <a:ext uri="{FF2B5EF4-FFF2-40B4-BE49-F238E27FC236}">
                <a16:creationId xmlns:a16="http://schemas.microsoft.com/office/drawing/2014/main" id="{F65BD0D6-2C93-47F2-9E17-087CDFEB1F7D}"/>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480278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18" name="slide-number">
            <a:extLst>
              <a:ext uri="{FF2B5EF4-FFF2-40B4-BE49-F238E27FC236}">
                <a16:creationId xmlns:a16="http://schemas.microsoft.com/office/drawing/2014/main" id="{778EB514-6641-4645-87AB-6916050042B4}"/>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10</a:t>
            </a:r>
          </a:p>
        </p:txBody>
      </p:sp>
      <p:sp>
        <p:nvSpPr>
          <p:cNvPr id="2" name="kicker-rule">
            <a:extLst>
              <a:ext uri="{FF2B5EF4-FFF2-40B4-BE49-F238E27FC236}">
                <a16:creationId xmlns:a16="http://schemas.microsoft.com/office/drawing/2014/main" id="{6EA626CA-B987-4935-A1D2-F98F9872028A}"/>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ADC23FBA-EF2D-4654-9E7B-2B3F28D1FE18}"/>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13F62EB7-B295-4ABF-B9B0-064C02C57670}"/>
              </a:ext>
            </a:extLst>
          </p:cNvPr>
          <p:cNvSpPr>
            <a:spLocks noGrp="1"/>
          </p:cNvSpPr>
          <p:nvPr/>
        </p:nvSpPr>
        <p:spPr>
          <a:xfrm>
            <a:off x="902208" y="1507236"/>
            <a:ext cx="8726424" cy="914400"/>
          </a:xfrm>
          <a:prstGeom prst="rect">
            <a:avLst/>
          </a:prstGeom>
        </p:spPr>
        <p:txBody>
          <a:bodyPr lIns="0" tIns="0" rIns="0" bIns="0"/>
          <a:lstStyle/>
          <a:p>
            <a:pPr>
              <a:defRPr sz="4050" b="1">
                <a:solidFill>
                  <a:srgbClr val="18212B"/>
                </a:solidFill>
              </a:defRPr>
            </a:pPr>
            <a:r>
              <a:rPr sz="4800" b="1" dirty="0">
                <a:solidFill>
                  <a:srgbClr val="18212B"/>
                </a:solidFill>
              </a:rPr>
              <a:t>Metrics: accuracy plus discovery</a:t>
            </a:r>
          </a:p>
        </p:txBody>
      </p:sp>
      <p:sp>
        <p:nvSpPr>
          <p:cNvPr id="6" name="矩形 5">
            <a:extLst>
              <a:ext uri="{FF2B5EF4-FFF2-40B4-BE49-F238E27FC236}">
                <a16:creationId xmlns:a16="http://schemas.microsoft.com/office/drawing/2014/main" id="{3837D192-8B8B-478B-B9A5-141BC0C3E497}"/>
              </a:ext>
            </a:extLst>
          </p:cNvPr>
          <p:cNvSpPr>
            <a:spLocks noGrp="1"/>
          </p:cNvSpPr>
          <p:nvPr/>
        </p:nvSpPr>
        <p:spPr>
          <a:xfrm>
            <a:off x="838200" y="3818382"/>
            <a:ext cx="7715250" cy="516636"/>
          </a:xfrm>
          <a:prstGeom prst="rect">
            <a:avLst/>
          </a:prstGeom>
        </p:spPr>
        <p:txBody>
          <a:bodyPr lIns="0" tIns="0" rIns="0" bIns="0"/>
          <a:lstStyle/>
          <a:p>
            <a:pPr>
              <a:defRPr sz="1575" b="1">
                <a:solidFill>
                  <a:srgbClr val="2F7D6D"/>
                </a:solidFill>
              </a:defRPr>
            </a:pPr>
            <a:r>
              <a:rPr sz="4000" b="1" dirty="0">
                <a:solidFill>
                  <a:srgbClr val="2F7D6D"/>
                </a:solidFill>
              </a:rPr>
              <a:t>Accuracy metrics</a:t>
            </a:r>
          </a:p>
        </p:txBody>
      </p:sp>
      <p:sp>
        <p:nvSpPr>
          <p:cNvPr id="7" name="accuracy-metrics-1">
            <a:extLst>
              <a:ext uri="{FF2B5EF4-FFF2-40B4-BE49-F238E27FC236}">
                <a16:creationId xmlns:a16="http://schemas.microsoft.com/office/drawing/2014/main" id="{7AA09757-5E8C-4455-A97A-871EB3AFE8CD}"/>
              </a:ext>
            </a:extLst>
          </p:cNvPr>
          <p:cNvSpPr>
            <a:spLocks noGrp="1"/>
          </p:cNvSpPr>
          <p:nvPr/>
        </p:nvSpPr>
        <p:spPr>
          <a:xfrm>
            <a:off x="838200" y="4751833"/>
            <a:ext cx="8488532" cy="540620"/>
          </a:xfrm>
          <a:prstGeom prst="rect">
            <a:avLst/>
          </a:prstGeom>
        </p:spPr>
        <p:txBody>
          <a:bodyPr lIns="0" tIns="0" rIns="0" bIns="0"/>
          <a:lstStyle/>
          <a:p>
            <a:pPr>
              <a:defRPr sz="2025">
                <a:solidFill>
                  <a:srgbClr val="18212B"/>
                </a:solidFill>
              </a:defRPr>
            </a:pPr>
            <a:r>
              <a:rPr sz="2400">
                <a:solidFill>
                  <a:srgbClr val="18212B"/>
                </a:solidFill>
              </a:rPr>
              <a:t>- Precision@K: how many recommendations were relevant.</a:t>
            </a:r>
          </a:p>
        </p:txBody>
      </p:sp>
      <p:sp>
        <p:nvSpPr>
          <p:cNvPr id="8" name="accuracy-metrics-2">
            <a:extLst>
              <a:ext uri="{FF2B5EF4-FFF2-40B4-BE49-F238E27FC236}">
                <a16:creationId xmlns:a16="http://schemas.microsoft.com/office/drawing/2014/main" id="{03E47936-DA5F-4250-ADD3-E6B66C938D31}"/>
              </a:ext>
            </a:extLst>
          </p:cNvPr>
          <p:cNvSpPr>
            <a:spLocks noGrp="1"/>
          </p:cNvSpPr>
          <p:nvPr/>
        </p:nvSpPr>
        <p:spPr>
          <a:xfrm>
            <a:off x="838200" y="5170933"/>
            <a:ext cx="8488532" cy="540620"/>
          </a:xfrm>
          <a:prstGeom prst="rect">
            <a:avLst/>
          </a:prstGeom>
        </p:spPr>
        <p:txBody>
          <a:bodyPr lIns="0" tIns="0" rIns="0" bIns="0"/>
          <a:lstStyle/>
          <a:p>
            <a:pPr>
              <a:defRPr sz="2025">
                <a:solidFill>
                  <a:srgbClr val="18212B"/>
                </a:solidFill>
              </a:defRPr>
            </a:pPr>
            <a:r>
              <a:rPr sz="2400">
                <a:solidFill>
                  <a:srgbClr val="18212B"/>
                </a:solidFill>
              </a:rPr>
              <a:t>- Recall@K: how many held-out items were recovered.</a:t>
            </a:r>
          </a:p>
        </p:txBody>
      </p:sp>
      <p:sp>
        <p:nvSpPr>
          <p:cNvPr id="9" name="accuracy-metrics-3">
            <a:extLst>
              <a:ext uri="{FF2B5EF4-FFF2-40B4-BE49-F238E27FC236}">
                <a16:creationId xmlns:a16="http://schemas.microsoft.com/office/drawing/2014/main" id="{D6A75ABF-0E73-4D3C-AAFE-12565FABCBB4}"/>
              </a:ext>
            </a:extLst>
          </p:cNvPr>
          <p:cNvSpPr>
            <a:spLocks noGrp="1"/>
          </p:cNvSpPr>
          <p:nvPr/>
        </p:nvSpPr>
        <p:spPr>
          <a:xfrm>
            <a:off x="838200" y="5590033"/>
            <a:ext cx="8488532" cy="540620"/>
          </a:xfrm>
          <a:prstGeom prst="rect">
            <a:avLst/>
          </a:prstGeom>
        </p:spPr>
        <p:txBody>
          <a:bodyPr lIns="0" tIns="0" rIns="0" bIns="0"/>
          <a:lstStyle/>
          <a:p>
            <a:pPr>
              <a:defRPr sz="2025">
                <a:solidFill>
                  <a:srgbClr val="18212B"/>
                </a:solidFill>
              </a:defRPr>
            </a:pPr>
            <a:r>
              <a:rPr sz="2400">
                <a:solidFill>
                  <a:srgbClr val="18212B"/>
                </a:solidFill>
              </a:rPr>
              <a:t>- NDCG@K: whether relevant items appear near the top.</a:t>
            </a:r>
          </a:p>
        </p:txBody>
      </p:sp>
      <p:sp>
        <p:nvSpPr>
          <p:cNvPr id="10" name="accuracy-metrics-4">
            <a:extLst>
              <a:ext uri="{FF2B5EF4-FFF2-40B4-BE49-F238E27FC236}">
                <a16:creationId xmlns:a16="http://schemas.microsoft.com/office/drawing/2014/main" id="{66AD3F97-FD8B-4177-8C72-1C6679165CCB}"/>
              </a:ext>
            </a:extLst>
          </p:cNvPr>
          <p:cNvSpPr>
            <a:spLocks noGrp="1"/>
          </p:cNvSpPr>
          <p:nvPr/>
        </p:nvSpPr>
        <p:spPr>
          <a:xfrm>
            <a:off x="838200" y="6028183"/>
            <a:ext cx="8488532" cy="540620"/>
          </a:xfrm>
          <a:prstGeom prst="rect">
            <a:avLst/>
          </a:prstGeom>
        </p:spPr>
        <p:txBody>
          <a:bodyPr lIns="0" tIns="0" rIns="0" bIns="0"/>
          <a:lstStyle/>
          <a:p>
            <a:pPr>
              <a:defRPr sz="2025">
                <a:solidFill>
                  <a:srgbClr val="18212B"/>
                </a:solidFill>
              </a:defRPr>
            </a:pPr>
            <a:r>
              <a:rPr sz="2400">
                <a:solidFill>
                  <a:srgbClr val="18212B"/>
                </a:solidFill>
              </a:rPr>
              <a:t>- Hit Rate@K: whether at least one relevant item appears.</a:t>
            </a:r>
          </a:p>
        </p:txBody>
      </p:sp>
      <p:sp>
        <p:nvSpPr>
          <p:cNvPr id="11" name="矩形 10">
            <a:extLst>
              <a:ext uri="{FF2B5EF4-FFF2-40B4-BE49-F238E27FC236}">
                <a16:creationId xmlns:a16="http://schemas.microsoft.com/office/drawing/2014/main" id="{D49F1F29-6C5D-4928-A89D-CD97DF3FB77C}"/>
              </a:ext>
            </a:extLst>
          </p:cNvPr>
          <p:cNvSpPr>
            <a:spLocks noGrp="1"/>
          </p:cNvSpPr>
          <p:nvPr/>
        </p:nvSpPr>
        <p:spPr>
          <a:xfrm>
            <a:off x="9086850" y="3818382"/>
            <a:ext cx="8362950" cy="516636"/>
          </a:xfrm>
          <a:prstGeom prst="rect">
            <a:avLst/>
          </a:prstGeom>
        </p:spPr>
        <p:txBody>
          <a:bodyPr lIns="0" tIns="0" rIns="0" bIns="0"/>
          <a:lstStyle/>
          <a:p>
            <a:pPr>
              <a:defRPr sz="1575" b="1">
                <a:solidFill>
                  <a:srgbClr val="C15D3A"/>
                </a:solidFill>
              </a:defRPr>
            </a:pPr>
            <a:r>
              <a:rPr sz="4000" b="1" dirty="0">
                <a:solidFill>
                  <a:srgbClr val="C15D3A"/>
                </a:solidFill>
              </a:rPr>
              <a:t>Beyond-accuracy metrics</a:t>
            </a:r>
          </a:p>
        </p:txBody>
      </p:sp>
      <p:sp>
        <p:nvSpPr>
          <p:cNvPr id="12" name="beyond-metrics-1">
            <a:extLst>
              <a:ext uri="{FF2B5EF4-FFF2-40B4-BE49-F238E27FC236}">
                <a16:creationId xmlns:a16="http://schemas.microsoft.com/office/drawing/2014/main" id="{E35391A7-7EA4-4D22-A369-722647F381D6}"/>
              </a:ext>
            </a:extLst>
          </p:cNvPr>
          <p:cNvSpPr>
            <a:spLocks noGrp="1"/>
          </p:cNvSpPr>
          <p:nvPr/>
        </p:nvSpPr>
        <p:spPr>
          <a:xfrm>
            <a:off x="9086850" y="4751833"/>
            <a:ext cx="9201150" cy="540620"/>
          </a:xfrm>
          <a:prstGeom prst="rect">
            <a:avLst/>
          </a:prstGeom>
        </p:spPr>
        <p:txBody>
          <a:bodyPr lIns="0" tIns="0" rIns="0" bIns="0"/>
          <a:lstStyle/>
          <a:p>
            <a:pPr>
              <a:defRPr sz="2025">
                <a:solidFill>
                  <a:srgbClr val="18212B"/>
                </a:solidFill>
              </a:defRPr>
            </a:pPr>
            <a:r>
              <a:rPr sz="2400">
                <a:solidFill>
                  <a:srgbClr val="18212B"/>
                </a:solidFill>
              </a:rPr>
              <a:t>- Coverage: how much of the catalog is ever recommended.</a:t>
            </a:r>
          </a:p>
        </p:txBody>
      </p:sp>
      <p:sp>
        <p:nvSpPr>
          <p:cNvPr id="13" name="beyond-metrics-2">
            <a:extLst>
              <a:ext uri="{FF2B5EF4-FFF2-40B4-BE49-F238E27FC236}">
                <a16:creationId xmlns:a16="http://schemas.microsoft.com/office/drawing/2014/main" id="{F57D4798-B6B0-478B-8EA9-5095865D6D8F}"/>
              </a:ext>
            </a:extLst>
          </p:cNvPr>
          <p:cNvSpPr>
            <a:spLocks noGrp="1"/>
          </p:cNvSpPr>
          <p:nvPr/>
        </p:nvSpPr>
        <p:spPr>
          <a:xfrm>
            <a:off x="9086850" y="5170933"/>
            <a:ext cx="9201150" cy="540620"/>
          </a:xfrm>
          <a:prstGeom prst="rect">
            <a:avLst/>
          </a:prstGeom>
        </p:spPr>
        <p:txBody>
          <a:bodyPr lIns="0" tIns="0" rIns="0" bIns="0"/>
          <a:lstStyle/>
          <a:p>
            <a:pPr>
              <a:defRPr sz="2025">
                <a:solidFill>
                  <a:srgbClr val="18212B"/>
                </a:solidFill>
              </a:defRPr>
            </a:pPr>
            <a:r>
              <a:rPr sz="2400">
                <a:solidFill>
                  <a:srgbClr val="18212B"/>
                </a:solidFill>
              </a:rPr>
              <a:t>- Novelty: whether recommendations are less obvious.</a:t>
            </a:r>
          </a:p>
        </p:txBody>
      </p:sp>
      <p:sp>
        <p:nvSpPr>
          <p:cNvPr id="14" name="beyond-metrics-3">
            <a:extLst>
              <a:ext uri="{FF2B5EF4-FFF2-40B4-BE49-F238E27FC236}">
                <a16:creationId xmlns:a16="http://schemas.microsoft.com/office/drawing/2014/main" id="{9D1451C0-C263-424E-AD8F-5FC5BD055F49}"/>
              </a:ext>
            </a:extLst>
          </p:cNvPr>
          <p:cNvSpPr>
            <a:spLocks noGrp="1"/>
          </p:cNvSpPr>
          <p:nvPr/>
        </p:nvSpPr>
        <p:spPr>
          <a:xfrm>
            <a:off x="9086850" y="5590033"/>
            <a:ext cx="9201150" cy="540620"/>
          </a:xfrm>
          <a:prstGeom prst="rect">
            <a:avLst/>
          </a:prstGeom>
        </p:spPr>
        <p:txBody>
          <a:bodyPr lIns="0" tIns="0" rIns="0" bIns="0"/>
          <a:lstStyle/>
          <a:p>
            <a:pPr>
              <a:defRPr sz="2025">
                <a:solidFill>
                  <a:srgbClr val="18212B"/>
                </a:solidFill>
              </a:defRPr>
            </a:pPr>
            <a:r>
              <a:rPr sz="2400">
                <a:solidFill>
                  <a:srgbClr val="18212B"/>
                </a:solidFill>
              </a:rPr>
              <a:t>- Diversity: how different items are within one list.</a:t>
            </a:r>
          </a:p>
        </p:txBody>
      </p:sp>
      <p:sp>
        <p:nvSpPr>
          <p:cNvPr id="15" name="矩形 14">
            <a:extLst>
              <a:ext uri="{FF2B5EF4-FFF2-40B4-BE49-F238E27FC236}">
                <a16:creationId xmlns:a16="http://schemas.microsoft.com/office/drawing/2014/main" id="{AC0445EA-760D-4E3D-9544-69CF4B6342C8}"/>
              </a:ext>
            </a:extLst>
          </p:cNvPr>
          <p:cNvSpPr>
            <a:spLocks noGrp="1"/>
          </p:cNvSpPr>
          <p:nvPr/>
        </p:nvSpPr>
        <p:spPr>
          <a:xfrm>
            <a:off x="9086849" y="6104382"/>
            <a:ext cx="7189053" cy="1113041"/>
          </a:xfrm>
          <a:prstGeom prst="rect">
            <a:avLst/>
          </a:prstGeom>
        </p:spPr>
        <p:txBody>
          <a:bodyPr lIns="0" tIns="0" rIns="0" bIns="0"/>
          <a:lstStyle/>
          <a:p>
            <a:pPr>
              <a:defRPr sz="2175" b="1">
                <a:solidFill>
                  <a:srgbClr val="18212B"/>
                </a:solidFill>
              </a:defRPr>
            </a:pPr>
            <a:r>
              <a:rPr sz="2400" b="1" dirty="0">
                <a:solidFill>
                  <a:srgbClr val="18212B"/>
                </a:solidFill>
              </a:rPr>
              <a:t>Accuracy alone does not tell us what listening experience the model creates.</a:t>
            </a:r>
          </a:p>
        </p:txBody>
      </p:sp>
      <p:sp>
        <p:nvSpPr>
          <p:cNvPr id="16" name="footer-rule">
            <a:extLst>
              <a:ext uri="{FF2B5EF4-FFF2-40B4-BE49-F238E27FC236}">
                <a16:creationId xmlns:a16="http://schemas.microsoft.com/office/drawing/2014/main" id="{0FCDC712-9E83-4363-A628-AF5CD88AD68B}"/>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17" name="source-rail">
            <a:extLst>
              <a:ext uri="{FF2B5EF4-FFF2-40B4-BE49-F238E27FC236}">
                <a16:creationId xmlns:a16="http://schemas.microsoft.com/office/drawing/2014/main" id="{9C162C7B-10BD-4D54-90F8-F78933387259}"/>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799582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87" name="slide-number">
            <a:extLst>
              <a:ext uri="{FF2B5EF4-FFF2-40B4-BE49-F238E27FC236}">
                <a16:creationId xmlns:a16="http://schemas.microsoft.com/office/drawing/2014/main" id="{BB0DE3D1-16FE-4CE1-BE30-3CFE40299C44}"/>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11</a:t>
            </a:r>
          </a:p>
        </p:txBody>
      </p:sp>
      <p:sp>
        <p:nvSpPr>
          <p:cNvPr id="2" name="kicker-rule">
            <a:extLst>
              <a:ext uri="{FF2B5EF4-FFF2-40B4-BE49-F238E27FC236}">
                <a16:creationId xmlns:a16="http://schemas.microsoft.com/office/drawing/2014/main" id="{3DE84AE3-FD40-45D6-A138-BD16CEA58AD4}"/>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AF45B441-1A3D-4E5A-9764-C02E9D4A4886}"/>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CF6EA5C5-6964-4174-94EA-21D6FFBC1CB2}"/>
              </a:ext>
            </a:extLst>
          </p:cNvPr>
          <p:cNvSpPr>
            <a:spLocks noGrp="1"/>
          </p:cNvSpPr>
          <p:nvPr/>
        </p:nvSpPr>
        <p:spPr>
          <a:xfrm>
            <a:off x="904875" y="2264828"/>
            <a:ext cx="16611600" cy="914400"/>
          </a:xfrm>
          <a:prstGeom prst="rect">
            <a:avLst/>
          </a:prstGeom>
        </p:spPr>
        <p:txBody>
          <a:bodyPr lIns="0" tIns="0" rIns="0" bIns="0"/>
          <a:lstStyle/>
          <a:p>
            <a:pPr>
              <a:defRPr sz="4050" b="1">
                <a:solidFill>
                  <a:srgbClr val="18212B"/>
                </a:solidFill>
              </a:defRPr>
            </a:pPr>
            <a:r>
              <a:rPr sz="4050" b="1" dirty="0">
                <a:solidFill>
                  <a:srgbClr val="18212B"/>
                </a:solidFill>
              </a:rPr>
              <a:t>Results at K = 10</a:t>
            </a:r>
          </a:p>
        </p:txBody>
      </p:sp>
      <p:sp>
        <p:nvSpPr>
          <p:cNvPr id="5" name="slide-subtitle">
            <a:extLst>
              <a:ext uri="{FF2B5EF4-FFF2-40B4-BE49-F238E27FC236}">
                <a16:creationId xmlns:a16="http://schemas.microsoft.com/office/drawing/2014/main" id="{5E4C5C01-BFB7-4246-B509-2488C778F8CD}"/>
              </a:ext>
            </a:extLst>
          </p:cNvPr>
          <p:cNvSpPr>
            <a:spLocks noGrp="1"/>
          </p:cNvSpPr>
          <p:nvPr/>
        </p:nvSpPr>
        <p:spPr>
          <a:xfrm>
            <a:off x="904875" y="7733239"/>
            <a:ext cx="8525719" cy="1143000"/>
          </a:xfrm>
          <a:prstGeom prst="rect">
            <a:avLst/>
          </a:prstGeom>
        </p:spPr>
        <p:txBody>
          <a:bodyPr lIns="0" tIns="0" rIns="0" bIns="0"/>
          <a:lstStyle/>
          <a:p>
            <a:pPr>
              <a:defRPr sz="2250">
                <a:solidFill>
                  <a:srgbClr val="18212B"/>
                </a:solidFill>
              </a:defRPr>
            </a:pPr>
            <a:r>
              <a:rPr sz="2250" dirty="0">
                <a:solidFill>
                  <a:srgbClr val="18212B"/>
                </a:solidFill>
              </a:rPr>
              <a:t>ALS wins the main accuracy metrics and also broadens catalog exposure; content-based wins novelty.</a:t>
            </a:r>
          </a:p>
        </p:txBody>
      </p:sp>
      <p:sp>
        <p:nvSpPr>
          <p:cNvPr id="6" name="矩形 5">
            <a:extLst>
              <a:ext uri="{FF2B5EF4-FFF2-40B4-BE49-F238E27FC236}">
                <a16:creationId xmlns:a16="http://schemas.microsoft.com/office/drawing/2014/main" id="{A2E4CB95-D042-4628-9B61-941C251C0A47}"/>
              </a:ext>
            </a:extLst>
          </p:cNvPr>
          <p:cNvSpPr>
            <a:spLocks noGrp="1"/>
          </p:cNvSpPr>
          <p:nvPr/>
        </p:nvSpPr>
        <p:spPr>
          <a:xfrm>
            <a:off x="904875" y="3641926"/>
            <a:ext cx="8354871" cy="450273"/>
          </a:xfrm>
          <a:prstGeom prst="rect">
            <a:avLst/>
          </a:prstGeom>
        </p:spPr>
        <p:txBody>
          <a:bodyPr lIns="0" tIns="0" rIns="0" bIns="0"/>
          <a:lstStyle/>
          <a:p>
            <a:pPr>
              <a:defRPr sz="1575" b="1">
                <a:solidFill>
                  <a:srgbClr val="2F7D6D"/>
                </a:solidFill>
              </a:defRPr>
            </a:pPr>
            <a:r>
              <a:rPr lang="en-US" sz="2400" b="1" dirty="0">
                <a:solidFill>
                  <a:srgbClr val="2F7D6D"/>
                </a:solidFill>
              </a:rPr>
              <a:t>I</a:t>
            </a:r>
            <a:r>
              <a:rPr sz="2400" b="1" dirty="0">
                <a:solidFill>
                  <a:srgbClr val="2F7D6D"/>
                </a:solidFill>
              </a:rPr>
              <a:t>nterpretation</a:t>
            </a:r>
          </a:p>
        </p:txBody>
      </p:sp>
      <p:sp>
        <p:nvSpPr>
          <p:cNvPr id="7" name="results-bullets-1">
            <a:extLst>
              <a:ext uri="{FF2B5EF4-FFF2-40B4-BE49-F238E27FC236}">
                <a16:creationId xmlns:a16="http://schemas.microsoft.com/office/drawing/2014/main" id="{9170E50B-084D-4E5D-B7CB-F7607A1C93DD}"/>
              </a:ext>
            </a:extLst>
          </p:cNvPr>
          <p:cNvSpPr>
            <a:spLocks noGrp="1"/>
          </p:cNvSpPr>
          <p:nvPr/>
        </p:nvSpPr>
        <p:spPr>
          <a:xfrm>
            <a:off x="904875" y="4216364"/>
            <a:ext cx="8354871" cy="588818"/>
          </a:xfrm>
          <a:prstGeom prst="rect">
            <a:avLst/>
          </a:prstGeom>
        </p:spPr>
        <p:txBody>
          <a:bodyPr lIns="0" tIns="0" rIns="0" bIns="0"/>
          <a:lstStyle/>
          <a:p>
            <a:pPr>
              <a:defRPr sz="2025">
                <a:solidFill>
                  <a:srgbClr val="18212B"/>
                </a:solidFill>
              </a:defRPr>
            </a:pPr>
            <a:r>
              <a:rPr sz="2400" dirty="0">
                <a:solidFill>
                  <a:srgbClr val="18212B"/>
                </a:solidFill>
              </a:rPr>
              <a:t>- ALS is the best overall ranking model.</a:t>
            </a:r>
          </a:p>
        </p:txBody>
      </p:sp>
      <p:sp>
        <p:nvSpPr>
          <p:cNvPr id="8" name="results-bullets-2">
            <a:extLst>
              <a:ext uri="{FF2B5EF4-FFF2-40B4-BE49-F238E27FC236}">
                <a16:creationId xmlns:a16="http://schemas.microsoft.com/office/drawing/2014/main" id="{F82441B3-5576-42E3-802C-81401453EF9F}"/>
              </a:ext>
            </a:extLst>
          </p:cNvPr>
          <p:cNvSpPr>
            <a:spLocks noGrp="1"/>
          </p:cNvSpPr>
          <p:nvPr/>
        </p:nvSpPr>
        <p:spPr>
          <a:xfrm>
            <a:off x="904875" y="4746826"/>
            <a:ext cx="8354871" cy="588818"/>
          </a:xfrm>
          <a:prstGeom prst="rect">
            <a:avLst/>
          </a:prstGeom>
        </p:spPr>
        <p:txBody>
          <a:bodyPr lIns="0" tIns="0" rIns="0" bIns="0"/>
          <a:lstStyle/>
          <a:p>
            <a:pPr>
              <a:defRPr sz="2025">
                <a:solidFill>
                  <a:srgbClr val="18212B"/>
                </a:solidFill>
              </a:defRPr>
            </a:pPr>
            <a:r>
              <a:rPr sz="2400">
                <a:solidFill>
                  <a:srgbClr val="18212B"/>
                </a:solidFill>
              </a:rPr>
              <a:t>- Popularity is useful but concentrates exposure on a tiny catalog slice.</a:t>
            </a:r>
          </a:p>
        </p:txBody>
      </p:sp>
      <p:sp>
        <p:nvSpPr>
          <p:cNvPr id="9" name="results-bullets-3">
            <a:extLst>
              <a:ext uri="{FF2B5EF4-FFF2-40B4-BE49-F238E27FC236}">
                <a16:creationId xmlns:a16="http://schemas.microsoft.com/office/drawing/2014/main" id="{56044C65-5B9D-452F-B844-7648D2747DBF}"/>
              </a:ext>
            </a:extLst>
          </p:cNvPr>
          <p:cNvSpPr>
            <a:spLocks noGrp="1"/>
          </p:cNvSpPr>
          <p:nvPr/>
        </p:nvSpPr>
        <p:spPr>
          <a:xfrm>
            <a:off x="904875" y="5592646"/>
            <a:ext cx="8354871" cy="1143000"/>
          </a:xfrm>
          <a:prstGeom prst="rect">
            <a:avLst/>
          </a:prstGeom>
        </p:spPr>
        <p:txBody>
          <a:bodyPr lIns="0" tIns="0" rIns="0" bIns="0"/>
          <a:lstStyle/>
          <a:p>
            <a:pPr>
              <a:defRPr sz="2025">
                <a:solidFill>
                  <a:srgbClr val="18212B"/>
                </a:solidFill>
              </a:defRPr>
            </a:pPr>
            <a:r>
              <a:rPr sz="2400" dirty="0">
                <a:solidFill>
                  <a:srgbClr val="18212B"/>
                </a:solidFill>
              </a:rPr>
              <a:t>- Content-based recommendation reaches the long tail, but loses accuracy.</a:t>
            </a:r>
          </a:p>
        </p:txBody>
      </p:sp>
      <p:sp>
        <p:nvSpPr>
          <p:cNvPr id="10" name="results-bullets-4">
            <a:extLst>
              <a:ext uri="{FF2B5EF4-FFF2-40B4-BE49-F238E27FC236}">
                <a16:creationId xmlns:a16="http://schemas.microsoft.com/office/drawing/2014/main" id="{5DE6B294-2BE4-4360-A753-D857A499A380}"/>
              </a:ext>
            </a:extLst>
          </p:cNvPr>
          <p:cNvSpPr>
            <a:spLocks noGrp="1"/>
          </p:cNvSpPr>
          <p:nvPr/>
        </p:nvSpPr>
        <p:spPr>
          <a:xfrm>
            <a:off x="855804" y="6489794"/>
            <a:ext cx="8354871" cy="1143000"/>
          </a:xfrm>
          <a:prstGeom prst="rect">
            <a:avLst/>
          </a:prstGeom>
        </p:spPr>
        <p:txBody>
          <a:bodyPr lIns="0" tIns="0" rIns="0" bIns="0"/>
          <a:lstStyle/>
          <a:p>
            <a:pPr>
              <a:defRPr sz="2025">
                <a:solidFill>
                  <a:srgbClr val="18212B"/>
                </a:solidFill>
              </a:defRPr>
            </a:pPr>
            <a:r>
              <a:rPr sz="2400" dirty="0">
                <a:solidFill>
                  <a:srgbClr val="18212B"/>
                </a:solidFill>
              </a:rPr>
              <a:t>- Novelty and diversity are different: </a:t>
            </a:r>
            <a:r>
              <a:rPr lang="en-US" altLang="zh-CN" sz="2400" dirty="0"/>
              <a:t>A model can recommend novel songs while still recommending many songs that are similar to each other. </a:t>
            </a:r>
            <a:endParaRPr sz="2400" dirty="0">
              <a:solidFill>
                <a:srgbClr val="18212B"/>
              </a:solidFill>
            </a:endParaRPr>
          </a:p>
        </p:txBody>
      </p:sp>
      <p:sp>
        <p:nvSpPr>
          <p:cNvPr id="11" name="chip-cf-wins-accuracy">
            <a:extLst>
              <a:ext uri="{FF2B5EF4-FFF2-40B4-BE49-F238E27FC236}">
                <a16:creationId xmlns:a16="http://schemas.microsoft.com/office/drawing/2014/main" id="{2BAEF433-A625-4BD4-8CB5-9F19C539DD3D}"/>
              </a:ext>
            </a:extLst>
          </p:cNvPr>
          <p:cNvSpPr>
            <a:spLocks noGrp="1"/>
          </p:cNvSpPr>
          <p:nvPr/>
        </p:nvSpPr>
        <p:spPr>
          <a:xfrm>
            <a:off x="11422766" y="7375099"/>
            <a:ext cx="2381250" cy="533400"/>
          </a:xfrm>
          <a:prstGeom prst="roundRect">
            <a:avLst>
              <a:gd name="adj" fmla="val 50000"/>
            </a:avLst>
          </a:prstGeom>
          <a:solidFill>
            <a:srgbClr val="FFFFFF"/>
          </a:solidFill>
          <a:ln w="14288">
            <a:solidFill>
              <a:srgbClr val="2F7D6D"/>
            </a:solidFill>
            <a:prstDash val="solid"/>
          </a:ln>
        </p:spPr>
      </p:sp>
      <p:sp>
        <p:nvSpPr>
          <p:cNvPr id="12" name="矩形 11">
            <a:extLst>
              <a:ext uri="{FF2B5EF4-FFF2-40B4-BE49-F238E27FC236}">
                <a16:creationId xmlns:a16="http://schemas.microsoft.com/office/drawing/2014/main" id="{70364EA6-60C7-4179-B1B7-93704C7069E0}"/>
              </a:ext>
            </a:extLst>
          </p:cNvPr>
          <p:cNvSpPr>
            <a:spLocks noGrp="1"/>
          </p:cNvSpPr>
          <p:nvPr/>
        </p:nvSpPr>
        <p:spPr>
          <a:xfrm>
            <a:off x="11613266" y="7542739"/>
            <a:ext cx="2019300" cy="190500"/>
          </a:xfrm>
          <a:prstGeom prst="rect">
            <a:avLst/>
          </a:prstGeom>
        </p:spPr>
        <p:txBody>
          <a:bodyPr lIns="0" tIns="0" rIns="0" bIns="0"/>
          <a:lstStyle/>
          <a:p>
            <a:pPr algn="ctr">
              <a:defRPr sz="1350" b="1">
                <a:solidFill>
                  <a:srgbClr val="2F7D6D"/>
                </a:solidFill>
              </a:defRPr>
            </a:pPr>
            <a:r>
              <a:rPr sz="1350" b="1">
                <a:solidFill>
                  <a:srgbClr val="2F7D6D"/>
                </a:solidFill>
              </a:rPr>
              <a:t>CF wins accuracy</a:t>
            </a:r>
          </a:p>
        </p:txBody>
      </p:sp>
      <p:sp>
        <p:nvSpPr>
          <p:cNvPr id="13" name="chip-cb-wins-novelty">
            <a:extLst>
              <a:ext uri="{FF2B5EF4-FFF2-40B4-BE49-F238E27FC236}">
                <a16:creationId xmlns:a16="http://schemas.microsoft.com/office/drawing/2014/main" id="{CE9A0059-CC45-481F-B312-4F978B0D732D}"/>
              </a:ext>
            </a:extLst>
          </p:cNvPr>
          <p:cNvSpPr>
            <a:spLocks noGrp="1"/>
          </p:cNvSpPr>
          <p:nvPr/>
        </p:nvSpPr>
        <p:spPr>
          <a:xfrm>
            <a:off x="13956416" y="7375099"/>
            <a:ext cx="2190750" cy="533400"/>
          </a:xfrm>
          <a:prstGeom prst="roundRect">
            <a:avLst>
              <a:gd name="adj" fmla="val 50000"/>
            </a:avLst>
          </a:prstGeom>
          <a:solidFill>
            <a:srgbClr val="FFFFFF"/>
          </a:solidFill>
          <a:ln w="14288">
            <a:solidFill>
              <a:srgbClr val="C15D3A"/>
            </a:solidFill>
            <a:prstDash val="solid"/>
          </a:ln>
        </p:spPr>
      </p:sp>
      <p:sp>
        <p:nvSpPr>
          <p:cNvPr id="14" name="矩形 13">
            <a:extLst>
              <a:ext uri="{FF2B5EF4-FFF2-40B4-BE49-F238E27FC236}">
                <a16:creationId xmlns:a16="http://schemas.microsoft.com/office/drawing/2014/main" id="{47EF006D-E77C-487A-8B38-A41B84169FD8}"/>
              </a:ext>
            </a:extLst>
          </p:cNvPr>
          <p:cNvSpPr>
            <a:spLocks noGrp="1"/>
          </p:cNvSpPr>
          <p:nvPr/>
        </p:nvSpPr>
        <p:spPr>
          <a:xfrm>
            <a:off x="14146916" y="7542739"/>
            <a:ext cx="1828800" cy="190500"/>
          </a:xfrm>
          <a:prstGeom prst="rect">
            <a:avLst/>
          </a:prstGeom>
        </p:spPr>
        <p:txBody>
          <a:bodyPr lIns="0" tIns="0" rIns="0" bIns="0"/>
          <a:lstStyle/>
          <a:p>
            <a:pPr algn="ctr">
              <a:defRPr sz="1350" b="1">
                <a:solidFill>
                  <a:srgbClr val="C15D3A"/>
                </a:solidFill>
              </a:defRPr>
            </a:pPr>
            <a:r>
              <a:rPr sz="1350" b="1">
                <a:solidFill>
                  <a:srgbClr val="C15D3A"/>
                </a:solidFill>
              </a:rPr>
              <a:t>CB wins novelty</a:t>
            </a:r>
          </a:p>
        </p:txBody>
      </p:sp>
      <p:sp>
        <p:nvSpPr>
          <p:cNvPr id="15" name="results-header-0">
            <a:extLst>
              <a:ext uri="{FF2B5EF4-FFF2-40B4-BE49-F238E27FC236}">
                <a16:creationId xmlns:a16="http://schemas.microsoft.com/office/drawing/2014/main" id="{03C110D4-B775-4352-9C6E-8D71A02C3516}"/>
              </a:ext>
            </a:extLst>
          </p:cNvPr>
          <p:cNvSpPr>
            <a:spLocks noGrp="1"/>
          </p:cNvSpPr>
          <p:nvPr/>
        </p:nvSpPr>
        <p:spPr>
          <a:xfrm>
            <a:off x="9858375" y="3063433"/>
            <a:ext cx="1809750" cy="495300"/>
          </a:xfrm>
          <a:prstGeom prst="roundRect">
            <a:avLst>
              <a:gd name="adj" fmla="val 13462"/>
            </a:avLst>
          </a:prstGeom>
          <a:solidFill>
            <a:srgbClr val="EEF3EF"/>
          </a:solidFill>
          <a:ln w="7620">
            <a:solidFill>
              <a:srgbClr val="C7D1CC"/>
            </a:solidFill>
            <a:prstDash val="solid"/>
          </a:ln>
        </p:spPr>
      </p:sp>
      <p:sp>
        <p:nvSpPr>
          <p:cNvPr id="16" name="矩形 15">
            <a:extLst>
              <a:ext uri="{FF2B5EF4-FFF2-40B4-BE49-F238E27FC236}">
                <a16:creationId xmlns:a16="http://schemas.microsoft.com/office/drawing/2014/main" id="{D573F1F2-E17A-4A17-9818-3DB30AC1E466}"/>
              </a:ext>
            </a:extLst>
          </p:cNvPr>
          <p:cNvSpPr>
            <a:spLocks noGrp="1"/>
          </p:cNvSpPr>
          <p:nvPr/>
        </p:nvSpPr>
        <p:spPr>
          <a:xfrm>
            <a:off x="9951339" y="3208213"/>
            <a:ext cx="1638300" cy="190500"/>
          </a:xfrm>
          <a:prstGeom prst="rect">
            <a:avLst/>
          </a:prstGeom>
        </p:spPr>
        <p:txBody>
          <a:bodyPr lIns="0" tIns="0" rIns="0" bIns="0"/>
          <a:lstStyle/>
          <a:p>
            <a:pPr algn="ctr">
              <a:defRPr sz="1350" b="1">
                <a:solidFill>
                  <a:srgbClr val="18212B"/>
                </a:solidFill>
              </a:defRPr>
            </a:pPr>
            <a:r>
              <a:rPr sz="1350" b="1">
                <a:solidFill>
                  <a:srgbClr val="18212B"/>
                </a:solidFill>
              </a:rPr>
              <a:t>Metric</a:t>
            </a:r>
          </a:p>
        </p:txBody>
      </p:sp>
      <p:sp>
        <p:nvSpPr>
          <p:cNvPr id="17" name="results-header-1">
            <a:extLst>
              <a:ext uri="{FF2B5EF4-FFF2-40B4-BE49-F238E27FC236}">
                <a16:creationId xmlns:a16="http://schemas.microsoft.com/office/drawing/2014/main" id="{3D33D857-3DE3-46A6-8345-83DAE2C0F2D5}"/>
              </a:ext>
            </a:extLst>
          </p:cNvPr>
          <p:cNvSpPr>
            <a:spLocks noGrp="1"/>
          </p:cNvSpPr>
          <p:nvPr/>
        </p:nvSpPr>
        <p:spPr>
          <a:xfrm>
            <a:off x="11744325" y="3063433"/>
            <a:ext cx="1428750" cy="495300"/>
          </a:xfrm>
          <a:prstGeom prst="roundRect">
            <a:avLst>
              <a:gd name="adj" fmla="val 13462"/>
            </a:avLst>
          </a:prstGeom>
          <a:solidFill>
            <a:srgbClr val="EEF3EF"/>
          </a:solidFill>
          <a:ln w="7620">
            <a:solidFill>
              <a:srgbClr val="C7D1CC"/>
            </a:solidFill>
            <a:prstDash val="solid"/>
          </a:ln>
        </p:spPr>
      </p:sp>
      <p:sp>
        <p:nvSpPr>
          <p:cNvPr id="18" name="矩形 17">
            <a:extLst>
              <a:ext uri="{FF2B5EF4-FFF2-40B4-BE49-F238E27FC236}">
                <a16:creationId xmlns:a16="http://schemas.microsoft.com/office/drawing/2014/main" id="{ADA700A2-954D-4F7F-92FB-DD741C2058EF}"/>
              </a:ext>
            </a:extLst>
          </p:cNvPr>
          <p:cNvSpPr>
            <a:spLocks noGrp="1"/>
          </p:cNvSpPr>
          <p:nvPr/>
        </p:nvSpPr>
        <p:spPr>
          <a:xfrm>
            <a:off x="11837289" y="3208213"/>
            <a:ext cx="1257300" cy="190500"/>
          </a:xfrm>
          <a:prstGeom prst="rect">
            <a:avLst/>
          </a:prstGeom>
        </p:spPr>
        <p:txBody>
          <a:bodyPr lIns="0" tIns="0" rIns="0" bIns="0"/>
          <a:lstStyle/>
          <a:p>
            <a:pPr algn="ctr">
              <a:defRPr sz="1350" b="1">
                <a:solidFill>
                  <a:srgbClr val="18212B"/>
                </a:solidFill>
              </a:defRPr>
            </a:pPr>
            <a:r>
              <a:rPr sz="1350" b="1">
                <a:solidFill>
                  <a:srgbClr val="18212B"/>
                </a:solidFill>
              </a:rPr>
              <a:t>Popularity</a:t>
            </a:r>
          </a:p>
        </p:txBody>
      </p:sp>
      <p:sp>
        <p:nvSpPr>
          <p:cNvPr id="19" name="results-header-2">
            <a:extLst>
              <a:ext uri="{FF2B5EF4-FFF2-40B4-BE49-F238E27FC236}">
                <a16:creationId xmlns:a16="http://schemas.microsoft.com/office/drawing/2014/main" id="{BFC45338-3CD8-4779-BD2D-DD1DD5515B60}"/>
              </a:ext>
            </a:extLst>
          </p:cNvPr>
          <p:cNvSpPr>
            <a:spLocks noGrp="1"/>
          </p:cNvSpPr>
          <p:nvPr/>
        </p:nvSpPr>
        <p:spPr>
          <a:xfrm>
            <a:off x="13249275" y="3063433"/>
            <a:ext cx="1428750" cy="495300"/>
          </a:xfrm>
          <a:prstGeom prst="roundRect">
            <a:avLst>
              <a:gd name="adj" fmla="val 13462"/>
            </a:avLst>
          </a:prstGeom>
          <a:solidFill>
            <a:srgbClr val="2F7D6D"/>
          </a:solidFill>
          <a:ln w="7620">
            <a:solidFill>
              <a:srgbClr val="2F7D6D"/>
            </a:solidFill>
            <a:prstDash val="solid"/>
          </a:ln>
        </p:spPr>
      </p:sp>
      <p:sp>
        <p:nvSpPr>
          <p:cNvPr id="20" name="矩形 19">
            <a:extLst>
              <a:ext uri="{FF2B5EF4-FFF2-40B4-BE49-F238E27FC236}">
                <a16:creationId xmlns:a16="http://schemas.microsoft.com/office/drawing/2014/main" id="{CA69270D-DBC6-4BB1-87DA-423C7A22FAB7}"/>
              </a:ext>
            </a:extLst>
          </p:cNvPr>
          <p:cNvSpPr>
            <a:spLocks noGrp="1"/>
          </p:cNvSpPr>
          <p:nvPr/>
        </p:nvSpPr>
        <p:spPr>
          <a:xfrm>
            <a:off x="13342239" y="3208213"/>
            <a:ext cx="1257300" cy="190500"/>
          </a:xfrm>
          <a:prstGeom prst="rect">
            <a:avLst/>
          </a:prstGeom>
        </p:spPr>
        <p:txBody>
          <a:bodyPr lIns="0" tIns="0" rIns="0" bIns="0"/>
          <a:lstStyle/>
          <a:p>
            <a:pPr algn="ctr">
              <a:defRPr sz="1350" b="1">
                <a:solidFill>
                  <a:srgbClr val="FFFFFF"/>
                </a:solidFill>
              </a:defRPr>
            </a:pPr>
            <a:r>
              <a:rPr sz="1350" b="1">
                <a:solidFill>
                  <a:srgbClr val="FFFFFF"/>
                </a:solidFill>
              </a:rPr>
              <a:t>CF (ALS)</a:t>
            </a:r>
          </a:p>
        </p:txBody>
      </p:sp>
      <p:sp>
        <p:nvSpPr>
          <p:cNvPr id="21" name="results-header-3">
            <a:extLst>
              <a:ext uri="{FF2B5EF4-FFF2-40B4-BE49-F238E27FC236}">
                <a16:creationId xmlns:a16="http://schemas.microsoft.com/office/drawing/2014/main" id="{4A70EEE9-72C1-435E-BD02-46181B3B36FB}"/>
              </a:ext>
            </a:extLst>
          </p:cNvPr>
          <p:cNvSpPr>
            <a:spLocks noGrp="1"/>
          </p:cNvSpPr>
          <p:nvPr/>
        </p:nvSpPr>
        <p:spPr>
          <a:xfrm>
            <a:off x="14754225" y="3063433"/>
            <a:ext cx="1619250" cy="495300"/>
          </a:xfrm>
          <a:prstGeom prst="roundRect">
            <a:avLst>
              <a:gd name="adj" fmla="val 13462"/>
            </a:avLst>
          </a:prstGeom>
          <a:solidFill>
            <a:srgbClr val="C15D3A"/>
          </a:solidFill>
          <a:ln w="7620">
            <a:solidFill>
              <a:srgbClr val="C15D3A"/>
            </a:solidFill>
            <a:prstDash val="solid"/>
          </a:ln>
        </p:spPr>
      </p:sp>
      <p:sp>
        <p:nvSpPr>
          <p:cNvPr id="22" name="矩形 21">
            <a:extLst>
              <a:ext uri="{FF2B5EF4-FFF2-40B4-BE49-F238E27FC236}">
                <a16:creationId xmlns:a16="http://schemas.microsoft.com/office/drawing/2014/main" id="{B5412C5A-235A-4F2B-BF59-95384901B4CE}"/>
              </a:ext>
            </a:extLst>
          </p:cNvPr>
          <p:cNvSpPr>
            <a:spLocks noGrp="1"/>
          </p:cNvSpPr>
          <p:nvPr/>
        </p:nvSpPr>
        <p:spPr>
          <a:xfrm>
            <a:off x="14847189" y="3208213"/>
            <a:ext cx="1447800" cy="190500"/>
          </a:xfrm>
          <a:prstGeom prst="rect">
            <a:avLst/>
          </a:prstGeom>
        </p:spPr>
        <p:txBody>
          <a:bodyPr lIns="0" tIns="0" rIns="0" bIns="0"/>
          <a:lstStyle/>
          <a:p>
            <a:pPr algn="ctr">
              <a:defRPr sz="1350" b="1">
                <a:solidFill>
                  <a:srgbClr val="FFFFFF"/>
                </a:solidFill>
              </a:defRPr>
            </a:pPr>
            <a:r>
              <a:rPr sz="1350" b="1">
                <a:solidFill>
                  <a:srgbClr val="FFFFFF"/>
                </a:solidFill>
              </a:rPr>
              <a:t>Content-Based</a:t>
            </a:r>
          </a:p>
        </p:txBody>
      </p:sp>
      <p:sp>
        <p:nvSpPr>
          <p:cNvPr id="23" name="results-header-4">
            <a:extLst>
              <a:ext uri="{FF2B5EF4-FFF2-40B4-BE49-F238E27FC236}">
                <a16:creationId xmlns:a16="http://schemas.microsoft.com/office/drawing/2014/main" id="{163C86E3-4FEA-4AF0-8447-673DEC77A2F8}"/>
              </a:ext>
            </a:extLst>
          </p:cNvPr>
          <p:cNvSpPr>
            <a:spLocks noGrp="1"/>
          </p:cNvSpPr>
          <p:nvPr/>
        </p:nvSpPr>
        <p:spPr>
          <a:xfrm>
            <a:off x="16449675" y="3063433"/>
            <a:ext cx="1000125" cy="495300"/>
          </a:xfrm>
          <a:prstGeom prst="roundRect">
            <a:avLst>
              <a:gd name="adj" fmla="val 13462"/>
            </a:avLst>
          </a:prstGeom>
          <a:solidFill>
            <a:srgbClr val="EEF3EF"/>
          </a:solidFill>
          <a:ln w="7620">
            <a:solidFill>
              <a:srgbClr val="C7D1CC"/>
            </a:solidFill>
            <a:prstDash val="solid"/>
          </a:ln>
        </p:spPr>
      </p:sp>
      <p:sp>
        <p:nvSpPr>
          <p:cNvPr id="24" name="矩形 23">
            <a:extLst>
              <a:ext uri="{FF2B5EF4-FFF2-40B4-BE49-F238E27FC236}">
                <a16:creationId xmlns:a16="http://schemas.microsoft.com/office/drawing/2014/main" id="{6BE66B62-6668-4F0D-B8CA-555536D352B7}"/>
              </a:ext>
            </a:extLst>
          </p:cNvPr>
          <p:cNvSpPr>
            <a:spLocks noGrp="1"/>
          </p:cNvSpPr>
          <p:nvPr/>
        </p:nvSpPr>
        <p:spPr>
          <a:xfrm>
            <a:off x="16542639" y="3208213"/>
            <a:ext cx="800100" cy="190500"/>
          </a:xfrm>
          <a:prstGeom prst="rect">
            <a:avLst/>
          </a:prstGeom>
        </p:spPr>
        <p:txBody>
          <a:bodyPr lIns="0" tIns="0" rIns="0" bIns="0"/>
          <a:lstStyle/>
          <a:p>
            <a:pPr algn="ctr">
              <a:defRPr sz="1350" b="1">
                <a:solidFill>
                  <a:srgbClr val="18212B"/>
                </a:solidFill>
              </a:defRPr>
            </a:pPr>
            <a:r>
              <a:rPr sz="1350" b="1">
                <a:solidFill>
                  <a:srgbClr val="18212B"/>
                </a:solidFill>
              </a:rPr>
              <a:t>Winner</a:t>
            </a:r>
          </a:p>
        </p:txBody>
      </p:sp>
      <p:sp>
        <p:nvSpPr>
          <p:cNvPr id="25" name="results-row-1-cell-1">
            <a:extLst>
              <a:ext uri="{FF2B5EF4-FFF2-40B4-BE49-F238E27FC236}">
                <a16:creationId xmlns:a16="http://schemas.microsoft.com/office/drawing/2014/main" id="{1898F3E6-D2E9-4D9B-92CF-E06B60D704A9}"/>
              </a:ext>
            </a:extLst>
          </p:cNvPr>
          <p:cNvSpPr>
            <a:spLocks noGrp="1"/>
          </p:cNvSpPr>
          <p:nvPr/>
        </p:nvSpPr>
        <p:spPr>
          <a:xfrm>
            <a:off x="9858375" y="3634933"/>
            <a:ext cx="1809750" cy="495300"/>
          </a:xfrm>
          <a:prstGeom prst="roundRect">
            <a:avLst>
              <a:gd name="adj" fmla="val 13462"/>
            </a:avLst>
          </a:prstGeom>
          <a:solidFill>
            <a:srgbClr val="FFFFFF"/>
          </a:solidFill>
          <a:ln w="7620">
            <a:solidFill>
              <a:srgbClr val="D8DED9"/>
            </a:solidFill>
            <a:prstDash val="solid"/>
          </a:ln>
        </p:spPr>
      </p:sp>
      <p:sp>
        <p:nvSpPr>
          <p:cNvPr id="26" name="矩形 25">
            <a:extLst>
              <a:ext uri="{FF2B5EF4-FFF2-40B4-BE49-F238E27FC236}">
                <a16:creationId xmlns:a16="http://schemas.microsoft.com/office/drawing/2014/main" id="{7F593BAF-F7DD-46A2-AADD-431358ACAAC5}"/>
              </a:ext>
            </a:extLst>
          </p:cNvPr>
          <p:cNvSpPr>
            <a:spLocks noGrp="1"/>
          </p:cNvSpPr>
          <p:nvPr/>
        </p:nvSpPr>
        <p:spPr>
          <a:xfrm>
            <a:off x="9951339" y="3779713"/>
            <a:ext cx="1638300" cy="190500"/>
          </a:xfrm>
          <a:prstGeom prst="rect">
            <a:avLst/>
          </a:prstGeom>
        </p:spPr>
        <p:txBody>
          <a:bodyPr lIns="0" tIns="0" rIns="0" bIns="0"/>
          <a:lstStyle/>
          <a:p>
            <a:pPr algn="l">
              <a:defRPr sz="1350" b="1">
                <a:solidFill>
                  <a:srgbClr val="18212B"/>
                </a:solidFill>
              </a:defRPr>
            </a:pPr>
            <a:r>
              <a:rPr sz="1350" b="1">
                <a:solidFill>
                  <a:srgbClr val="18212B"/>
                </a:solidFill>
              </a:rPr>
              <a:t>Precision@10</a:t>
            </a:r>
          </a:p>
        </p:txBody>
      </p:sp>
      <p:sp>
        <p:nvSpPr>
          <p:cNvPr id="27" name="results-row-1-cell-2">
            <a:extLst>
              <a:ext uri="{FF2B5EF4-FFF2-40B4-BE49-F238E27FC236}">
                <a16:creationId xmlns:a16="http://schemas.microsoft.com/office/drawing/2014/main" id="{2B7DB24D-DC3A-43D7-AB2A-480DB0A1DA86}"/>
              </a:ext>
            </a:extLst>
          </p:cNvPr>
          <p:cNvSpPr>
            <a:spLocks noGrp="1"/>
          </p:cNvSpPr>
          <p:nvPr/>
        </p:nvSpPr>
        <p:spPr>
          <a:xfrm>
            <a:off x="11744325" y="3634933"/>
            <a:ext cx="1428750" cy="495300"/>
          </a:xfrm>
          <a:prstGeom prst="roundRect">
            <a:avLst>
              <a:gd name="adj" fmla="val 13462"/>
            </a:avLst>
          </a:prstGeom>
          <a:solidFill>
            <a:srgbClr val="FFFFFF"/>
          </a:solidFill>
          <a:ln w="7620">
            <a:solidFill>
              <a:srgbClr val="D8DED9"/>
            </a:solidFill>
            <a:prstDash val="solid"/>
          </a:ln>
        </p:spPr>
      </p:sp>
      <p:sp>
        <p:nvSpPr>
          <p:cNvPr id="28" name="矩形 27">
            <a:extLst>
              <a:ext uri="{FF2B5EF4-FFF2-40B4-BE49-F238E27FC236}">
                <a16:creationId xmlns:a16="http://schemas.microsoft.com/office/drawing/2014/main" id="{40DFB428-8603-49A4-B4DA-E27155912A5F}"/>
              </a:ext>
            </a:extLst>
          </p:cNvPr>
          <p:cNvSpPr>
            <a:spLocks noGrp="1"/>
          </p:cNvSpPr>
          <p:nvPr/>
        </p:nvSpPr>
        <p:spPr>
          <a:xfrm>
            <a:off x="11837289" y="3760663"/>
            <a:ext cx="1257300" cy="228600"/>
          </a:xfrm>
          <a:prstGeom prst="rect">
            <a:avLst/>
          </a:prstGeom>
        </p:spPr>
        <p:txBody>
          <a:bodyPr lIns="0" tIns="0" rIns="0" bIns="0"/>
          <a:lstStyle/>
          <a:p>
            <a:pPr algn="ctr">
              <a:defRPr sz="1425" b="0">
                <a:solidFill>
                  <a:srgbClr val="18212B"/>
                </a:solidFill>
              </a:defRPr>
            </a:pPr>
            <a:r>
              <a:rPr sz="1425" b="0">
                <a:solidFill>
                  <a:srgbClr val="18212B"/>
                </a:solidFill>
              </a:rPr>
              <a:t>0.0338</a:t>
            </a:r>
          </a:p>
        </p:txBody>
      </p:sp>
      <p:sp>
        <p:nvSpPr>
          <p:cNvPr id="29" name="results-row-1-cell-3">
            <a:extLst>
              <a:ext uri="{FF2B5EF4-FFF2-40B4-BE49-F238E27FC236}">
                <a16:creationId xmlns:a16="http://schemas.microsoft.com/office/drawing/2014/main" id="{9DA01DD4-09B8-4351-9216-4EB2E43B82E8}"/>
              </a:ext>
            </a:extLst>
          </p:cNvPr>
          <p:cNvSpPr>
            <a:spLocks noGrp="1"/>
          </p:cNvSpPr>
          <p:nvPr/>
        </p:nvSpPr>
        <p:spPr>
          <a:xfrm>
            <a:off x="13249275" y="3634933"/>
            <a:ext cx="1428750" cy="495300"/>
          </a:xfrm>
          <a:prstGeom prst="roundRect">
            <a:avLst>
              <a:gd name="adj" fmla="val 13462"/>
            </a:avLst>
          </a:prstGeom>
          <a:solidFill>
            <a:srgbClr val="E4F1EC"/>
          </a:solidFill>
          <a:ln w="7620">
            <a:solidFill>
              <a:srgbClr val="2F7D6D"/>
            </a:solidFill>
            <a:prstDash val="solid"/>
          </a:ln>
        </p:spPr>
      </p:sp>
      <p:sp>
        <p:nvSpPr>
          <p:cNvPr id="30" name="矩形 29">
            <a:extLst>
              <a:ext uri="{FF2B5EF4-FFF2-40B4-BE49-F238E27FC236}">
                <a16:creationId xmlns:a16="http://schemas.microsoft.com/office/drawing/2014/main" id="{30CDA04B-A266-4743-949A-3A1ED8DB101F}"/>
              </a:ext>
            </a:extLst>
          </p:cNvPr>
          <p:cNvSpPr>
            <a:spLocks noGrp="1"/>
          </p:cNvSpPr>
          <p:nvPr/>
        </p:nvSpPr>
        <p:spPr>
          <a:xfrm>
            <a:off x="13342239" y="3760663"/>
            <a:ext cx="1257300" cy="228600"/>
          </a:xfrm>
          <a:prstGeom prst="rect">
            <a:avLst/>
          </a:prstGeom>
        </p:spPr>
        <p:txBody>
          <a:bodyPr lIns="0" tIns="0" rIns="0" bIns="0"/>
          <a:lstStyle/>
          <a:p>
            <a:pPr algn="ctr">
              <a:defRPr sz="1425" b="1">
                <a:solidFill>
                  <a:srgbClr val="2F7D6D"/>
                </a:solidFill>
              </a:defRPr>
            </a:pPr>
            <a:r>
              <a:rPr sz="1425" b="1">
                <a:solidFill>
                  <a:srgbClr val="2F7D6D"/>
                </a:solidFill>
              </a:rPr>
              <a:t>0.1120</a:t>
            </a:r>
          </a:p>
        </p:txBody>
      </p:sp>
      <p:sp>
        <p:nvSpPr>
          <p:cNvPr id="31" name="results-row-1-cell-4">
            <a:extLst>
              <a:ext uri="{FF2B5EF4-FFF2-40B4-BE49-F238E27FC236}">
                <a16:creationId xmlns:a16="http://schemas.microsoft.com/office/drawing/2014/main" id="{5684DA5C-2E7F-4653-BC7B-07D9F7E1DDA4}"/>
              </a:ext>
            </a:extLst>
          </p:cNvPr>
          <p:cNvSpPr>
            <a:spLocks noGrp="1"/>
          </p:cNvSpPr>
          <p:nvPr/>
        </p:nvSpPr>
        <p:spPr>
          <a:xfrm>
            <a:off x="14754225" y="3634933"/>
            <a:ext cx="1619250" cy="495300"/>
          </a:xfrm>
          <a:prstGeom prst="roundRect">
            <a:avLst>
              <a:gd name="adj" fmla="val 13462"/>
            </a:avLst>
          </a:prstGeom>
          <a:solidFill>
            <a:srgbClr val="FFFFFF"/>
          </a:solidFill>
          <a:ln w="7620">
            <a:solidFill>
              <a:srgbClr val="D8DED9"/>
            </a:solidFill>
            <a:prstDash val="solid"/>
          </a:ln>
        </p:spPr>
      </p:sp>
      <p:sp>
        <p:nvSpPr>
          <p:cNvPr id="32" name="矩形 31">
            <a:extLst>
              <a:ext uri="{FF2B5EF4-FFF2-40B4-BE49-F238E27FC236}">
                <a16:creationId xmlns:a16="http://schemas.microsoft.com/office/drawing/2014/main" id="{F88F8A43-E6A3-4E45-AFA1-58B5FE6D9401}"/>
              </a:ext>
            </a:extLst>
          </p:cNvPr>
          <p:cNvSpPr>
            <a:spLocks noGrp="1"/>
          </p:cNvSpPr>
          <p:nvPr/>
        </p:nvSpPr>
        <p:spPr>
          <a:xfrm>
            <a:off x="14847189" y="3760663"/>
            <a:ext cx="1447800" cy="228600"/>
          </a:xfrm>
          <a:prstGeom prst="rect">
            <a:avLst/>
          </a:prstGeom>
        </p:spPr>
        <p:txBody>
          <a:bodyPr lIns="0" tIns="0" rIns="0" bIns="0"/>
          <a:lstStyle/>
          <a:p>
            <a:pPr algn="ctr">
              <a:defRPr sz="1425" b="0">
                <a:solidFill>
                  <a:srgbClr val="18212B"/>
                </a:solidFill>
              </a:defRPr>
            </a:pPr>
            <a:r>
              <a:rPr sz="1425" b="0">
                <a:solidFill>
                  <a:srgbClr val="18212B"/>
                </a:solidFill>
              </a:rPr>
              <a:t>0.0269</a:t>
            </a:r>
          </a:p>
        </p:txBody>
      </p:sp>
      <p:sp>
        <p:nvSpPr>
          <p:cNvPr id="33" name="results-row-1-cell-5">
            <a:extLst>
              <a:ext uri="{FF2B5EF4-FFF2-40B4-BE49-F238E27FC236}">
                <a16:creationId xmlns:a16="http://schemas.microsoft.com/office/drawing/2014/main" id="{83FAEC65-E162-464D-A25B-A655D9E07C47}"/>
              </a:ext>
            </a:extLst>
          </p:cNvPr>
          <p:cNvSpPr>
            <a:spLocks noGrp="1"/>
          </p:cNvSpPr>
          <p:nvPr/>
        </p:nvSpPr>
        <p:spPr>
          <a:xfrm>
            <a:off x="16449675" y="3634933"/>
            <a:ext cx="1000125" cy="495300"/>
          </a:xfrm>
          <a:prstGeom prst="roundRect">
            <a:avLst>
              <a:gd name="adj" fmla="val 13462"/>
            </a:avLst>
          </a:prstGeom>
          <a:solidFill>
            <a:srgbClr val="F4EFE7"/>
          </a:solidFill>
          <a:ln w="7620">
            <a:solidFill>
              <a:srgbClr val="C15D3A"/>
            </a:solidFill>
            <a:prstDash val="solid"/>
          </a:ln>
        </p:spPr>
      </p:sp>
      <p:sp>
        <p:nvSpPr>
          <p:cNvPr id="34" name="矩形 33">
            <a:extLst>
              <a:ext uri="{FF2B5EF4-FFF2-40B4-BE49-F238E27FC236}">
                <a16:creationId xmlns:a16="http://schemas.microsoft.com/office/drawing/2014/main" id="{9F83E81F-96B8-4AB5-B32C-73DDADD04639}"/>
              </a:ext>
            </a:extLst>
          </p:cNvPr>
          <p:cNvSpPr>
            <a:spLocks noGrp="1"/>
          </p:cNvSpPr>
          <p:nvPr/>
        </p:nvSpPr>
        <p:spPr>
          <a:xfrm>
            <a:off x="16542639" y="3760663"/>
            <a:ext cx="800100" cy="228600"/>
          </a:xfrm>
          <a:prstGeom prst="rect">
            <a:avLst/>
          </a:prstGeom>
        </p:spPr>
        <p:txBody>
          <a:bodyPr lIns="0" tIns="0" rIns="0" bIns="0"/>
          <a:lstStyle/>
          <a:p>
            <a:pPr algn="ctr">
              <a:defRPr sz="1425" b="1">
                <a:solidFill>
                  <a:srgbClr val="C15D3A"/>
                </a:solidFill>
              </a:defRPr>
            </a:pPr>
            <a:r>
              <a:rPr sz="1425" b="1">
                <a:solidFill>
                  <a:srgbClr val="C15D3A"/>
                </a:solidFill>
              </a:rPr>
              <a:t>CF</a:t>
            </a:r>
          </a:p>
        </p:txBody>
      </p:sp>
      <p:sp>
        <p:nvSpPr>
          <p:cNvPr id="35" name="results-row-2-cell-1">
            <a:extLst>
              <a:ext uri="{FF2B5EF4-FFF2-40B4-BE49-F238E27FC236}">
                <a16:creationId xmlns:a16="http://schemas.microsoft.com/office/drawing/2014/main" id="{EBE20C7E-15A4-493D-8E99-265E81F25B88}"/>
              </a:ext>
            </a:extLst>
          </p:cNvPr>
          <p:cNvSpPr>
            <a:spLocks noGrp="1"/>
          </p:cNvSpPr>
          <p:nvPr/>
        </p:nvSpPr>
        <p:spPr>
          <a:xfrm>
            <a:off x="9858375" y="4206433"/>
            <a:ext cx="1809750" cy="495300"/>
          </a:xfrm>
          <a:prstGeom prst="roundRect">
            <a:avLst>
              <a:gd name="adj" fmla="val 13462"/>
            </a:avLst>
          </a:prstGeom>
          <a:solidFill>
            <a:srgbClr val="FFFFFF"/>
          </a:solidFill>
          <a:ln w="7620">
            <a:solidFill>
              <a:srgbClr val="D8DED9"/>
            </a:solidFill>
            <a:prstDash val="solid"/>
          </a:ln>
        </p:spPr>
      </p:sp>
      <p:sp>
        <p:nvSpPr>
          <p:cNvPr id="36" name="矩形 35">
            <a:extLst>
              <a:ext uri="{FF2B5EF4-FFF2-40B4-BE49-F238E27FC236}">
                <a16:creationId xmlns:a16="http://schemas.microsoft.com/office/drawing/2014/main" id="{4D6DFB21-FD13-4B4C-9F0C-46D10C4C50E6}"/>
              </a:ext>
            </a:extLst>
          </p:cNvPr>
          <p:cNvSpPr>
            <a:spLocks noGrp="1"/>
          </p:cNvSpPr>
          <p:nvPr/>
        </p:nvSpPr>
        <p:spPr>
          <a:xfrm>
            <a:off x="9951339" y="4351213"/>
            <a:ext cx="1638300" cy="190500"/>
          </a:xfrm>
          <a:prstGeom prst="rect">
            <a:avLst/>
          </a:prstGeom>
        </p:spPr>
        <p:txBody>
          <a:bodyPr lIns="0" tIns="0" rIns="0" bIns="0"/>
          <a:lstStyle/>
          <a:p>
            <a:pPr algn="l">
              <a:defRPr sz="1350" b="1">
                <a:solidFill>
                  <a:srgbClr val="18212B"/>
                </a:solidFill>
              </a:defRPr>
            </a:pPr>
            <a:r>
              <a:rPr sz="1350" b="1">
                <a:solidFill>
                  <a:srgbClr val="18212B"/>
                </a:solidFill>
              </a:rPr>
              <a:t>Recall@10</a:t>
            </a:r>
          </a:p>
        </p:txBody>
      </p:sp>
      <p:sp>
        <p:nvSpPr>
          <p:cNvPr id="37" name="results-row-2-cell-2">
            <a:extLst>
              <a:ext uri="{FF2B5EF4-FFF2-40B4-BE49-F238E27FC236}">
                <a16:creationId xmlns:a16="http://schemas.microsoft.com/office/drawing/2014/main" id="{0D3900FD-3210-4718-A622-0DBAE69AEAFF}"/>
              </a:ext>
            </a:extLst>
          </p:cNvPr>
          <p:cNvSpPr>
            <a:spLocks noGrp="1"/>
          </p:cNvSpPr>
          <p:nvPr/>
        </p:nvSpPr>
        <p:spPr>
          <a:xfrm>
            <a:off x="11744325" y="4206433"/>
            <a:ext cx="1428750" cy="495300"/>
          </a:xfrm>
          <a:prstGeom prst="roundRect">
            <a:avLst>
              <a:gd name="adj" fmla="val 13462"/>
            </a:avLst>
          </a:prstGeom>
          <a:solidFill>
            <a:srgbClr val="FFFFFF"/>
          </a:solidFill>
          <a:ln w="7620">
            <a:solidFill>
              <a:srgbClr val="D8DED9"/>
            </a:solidFill>
            <a:prstDash val="solid"/>
          </a:ln>
        </p:spPr>
      </p:sp>
      <p:sp>
        <p:nvSpPr>
          <p:cNvPr id="38" name="矩形 37">
            <a:extLst>
              <a:ext uri="{FF2B5EF4-FFF2-40B4-BE49-F238E27FC236}">
                <a16:creationId xmlns:a16="http://schemas.microsoft.com/office/drawing/2014/main" id="{54126301-F4C1-4569-9B75-8310782338F9}"/>
              </a:ext>
            </a:extLst>
          </p:cNvPr>
          <p:cNvSpPr>
            <a:spLocks noGrp="1"/>
          </p:cNvSpPr>
          <p:nvPr/>
        </p:nvSpPr>
        <p:spPr>
          <a:xfrm>
            <a:off x="11837289" y="4332163"/>
            <a:ext cx="1257300" cy="228600"/>
          </a:xfrm>
          <a:prstGeom prst="rect">
            <a:avLst/>
          </a:prstGeom>
        </p:spPr>
        <p:txBody>
          <a:bodyPr lIns="0" tIns="0" rIns="0" bIns="0"/>
          <a:lstStyle/>
          <a:p>
            <a:pPr algn="ctr">
              <a:defRPr sz="1425" b="0">
                <a:solidFill>
                  <a:srgbClr val="18212B"/>
                </a:solidFill>
              </a:defRPr>
            </a:pPr>
            <a:r>
              <a:rPr sz="1425" b="0">
                <a:solidFill>
                  <a:srgbClr val="18212B"/>
                </a:solidFill>
              </a:rPr>
              <a:t>0.0227</a:t>
            </a:r>
          </a:p>
        </p:txBody>
      </p:sp>
      <p:sp>
        <p:nvSpPr>
          <p:cNvPr id="39" name="results-row-2-cell-3">
            <a:extLst>
              <a:ext uri="{FF2B5EF4-FFF2-40B4-BE49-F238E27FC236}">
                <a16:creationId xmlns:a16="http://schemas.microsoft.com/office/drawing/2014/main" id="{568A7CE3-FE71-425D-8DFB-41DAB699516A}"/>
              </a:ext>
            </a:extLst>
          </p:cNvPr>
          <p:cNvSpPr>
            <a:spLocks noGrp="1"/>
          </p:cNvSpPr>
          <p:nvPr/>
        </p:nvSpPr>
        <p:spPr>
          <a:xfrm>
            <a:off x="13249275" y="4206433"/>
            <a:ext cx="1428750" cy="495300"/>
          </a:xfrm>
          <a:prstGeom prst="roundRect">
            <a:avLst>
              <a:gd name="adj" fmla="val 13462"/>
            </a:avLst>
          </a:prstGeom>
          <a:solidFill>
            <a:srgbClr val="E4F1EC"/>
          </a:solidFill>
          <a:ln w="7620">
            <a:solidFill>
              <a:srgbClr val="2F7D6D"/>
            </a:solidFill>
            <a:prstDash val="solid"/>
          </a:ln>
        </p:spPr>
      </p:sp>
      <p:sp>
        <p:nvSpPr>
          <p:cNvPr id="40" name="矩形 39">
            <a:extLst>
              <a:ext uri="{FF2B5EF4-FFF2-40B4-BE49-F238E27FC236}">
                <a16:creationId xmlns:a16="http://schemas.microsoft.com/office/drawing/2014/main" id="{4DE93A24-AF55-4BED-80BD-1D4679F57D66}"/>
              </a:ext>
            </a:extLst>
          </p:cNvPr>
          <p:cNvSpPr>
            <a:spLocks noGrp="1"/>
          </p:cNvSpPr>
          <p:nvPr/>
        </p:nvSpPr>
        <p:spPr>
          <a:xfrm>
            <a:off x="13342239" y="4332163"/>
            <a:ext cx="1257300" cy="228600"/>
          </a:xfrm>
          <a:prstGeom prst="rect">
            <a:avLst/>
          </a:prstGeom>
        </p:spPr>
        <p:txBody>
          <a:bodyPr lIns="0" tIns="0" rIns="0" bIns="0"/>
          <a:lstStyle/>
          <a:p>
            <a:pPr algn="ctr">
              <a:defRPr sz="1425" b="1">
                <a:solidFill>
                  <a:srgbClr val="2F7D6D"/>
                </a:solidFill>
              </a:defRPr>
            </a:pPr>
            <a:r>
              <a:rPr sz="1425" b="1">
                <a:solidFill>
                  <a:srgbClr val="2F7D6D"/>
                </a:solidFill>
              </a:rPr>
              <a:t>0.0793</a:t>
            </a:r>
          </a:p>
        </p:txBody>
      </p:sp>
      <p:sp>
        <p:nvSpPr>
          <p:cNvPr id="41" name="results-row-2-cell-4">
            <a:extLst>
              <a:ext uri="{FF2B5EF4-FFF2-40B4-BE49-F238E27FC236}">
                <a16:creationId xmlns:a16="http://schemas.microsoft.com/office/drawing/2014/main" id="{111E8A59-D7E8-4EFB-9788-67CD730D0655}"/>
              </a:ext>
            </a:extLst>
          </p:cNvPr>
          <p:cNvSpPr>
            <a:spLocks noGrp="1"/>
          </p:cNvSpPr>
          <p:nvPr/>
        </p:nvSpPr>
        <p:spPr>
          <a:xfrm>
            <a:off x="14754225" y="4206433"/>
            <a:ext cx="1619250" cy="495300"/>
          </a:xfrm>
          <a:prstGeom prst="roundRect">
            <a:avLst>
              <a:gd name="adj" fmla="val 13462"/>
            </a:avLst>
          </a:prstGeom>
          <a:solidFill>
            <a:srgbClr val="FFFFFF"/>
          </a:solidFill>
          <a:ln w="7620">
            <a:solidFill>
              <a:srgbClr val="D8DED9"/>
            </a:solidFill>
            <a:prstDash val="solid"/>
          </a:ln>
        </p:spPr>
      </p:sp>
      <p:sp>
        <p:nvSpPr>
          <p:cNvPr id="42" name="矩形 41">
            <a:extLst>
              <a:ext uri="{FF2B5EF4-FFF2-40B4-BE49-F238E27FC236}">
                <a16:creationId xmlns:a16="http://schemas.microsoft.com/office/drawing/2014/main" id="{40F5169D-E5D2-4A05-BBE9-F6BA617F7010}"/>
              </a:ext>
            </a:extLst>
          </p:cNvPr>
          <p:cNvSpPr>
            <a:spLocks noGrp="1"/>
          </p:cNvSpPr>
          <p:nvPr/>
        </p:nvSpPr>
        <p:spPr>
          <a:xfrm>
            <a:off x="14847189" y="4332163"/>
            <a:ext cx="1447800" cy="228600"/>
          </a:xfrm>
          <a:prstGeom prst="rect">
            <a:avLst/>
          </a:prstGeom>
        </p:spPr>
        <p:txBody>
          <a:bodyPr lIns="0" tIns="0" rIns="0" bIns="0"/>
          <a:lstStyle/>
          <a:p>
            <a:pPr algn="ctr">
              <a:defRPr sz="1425" b="0">
                <a:solidFill>
                  <a:srgbClr val="18212B"/>
                </a:solidFill>
              </a:defRPr>
            </a:pPr>
            <a:r>
              <a:rPr sz="1425" b="0">
                <a:solidFill>
                  <a:srgbClr val="18212B"/>
                </a:solidFill>
              </a:rPr>
              <a:t>0.0198</a:t>
            </a:r>
          </a:p>
        </p:txBody>
      </p:sp>
      <p:sp>
        <p:nvSpPr>
          <p:cNvPr id="43" name="results-row-2-cell-5">
            <a:extLst>
              <a:ext uri="{FF2B5EF4-FFF2-40B4-BE49-F238E27FC236}">
                <a16:creationId xmlns:a16="http://schemas.microsoft.com/office/drawing/2014/main" id="{9B059157-4249-435F-8DD2-985D49A3607E}"/>
              </a:ext>
            </a:extLst>
          </p:cNvPr>
          <p:cNvSpPr>
            <a:spLocks noGrp="1"/>
          </p:cNvSpPr>
          <p:nvPr/>
        </p:nvSpPr>
        <p:spPr>
          <a:xfrm>
            <a:off x="16449675" y="4206433"/>
            <a:ext cx="1000125" cy="495300"/>
          </a:xfrm>
          <a:prstGeom prst="roundRect">
            <a:avLst>
              <a:gd name="adj" fmla="val 13462"/>
            </a:avLst>
          </a:prstGeom>
          <a:solidFill>
            <a:srgbClr val="F4EFE7"/>
          </a:solidFill>
          <a:ln w="7620">
            <a:solidFill>
              <a:srgbClr val="C15D3A"/>
            </a:solidFill>
            <a:prstDash val="solid"/>
          </a:ln>
        </p:spPr>
      </p:sp>
      <p:sp>
        <p:nvSpPr>
          <p:cNvPr id="44" name="矩形 43">
            <a:extLst>
              <a:ext uri="{FF2B5EF4-FFF2-40B4-BE49-F238E27FC236}">
                <a16:creationId xmlns:a16="http://schemas.microsoft.com/office/drawing/2014/main" id="{158C4534-F542-4C9A-A455-55BE983A6508}"/>
              </a:ext>
            </a:extLst>
          </p:cNvPr>
          <p:cNvSpPr>
            <a:spLocks noGrp="1"/>
          </p:cNvSpPr>
          <p:nvPr/>
        </p:nvSpPr>
        <p:spPr>
          <a:xfrm>
            <a:off x="16542639" y="4332163"/>
            <a:ext cx="800100" cy="228600"/>
          </a:xfrm>
          <a:prstGeom prst="rect">
            <a:avLst/>
          </a:prstGeom>
        </p:spPr>
        <p:txBody>
          <a:bodyPr lIns="0" tIns="0" rIns="0" bIns="0"/>
          <a:lstStyle/>
          <a:p>
            <a:pPr algn="ctr">
              <a:defRPr sz="1425" b="1">
                <a:solidFill>
                  <a:srgbClr val="C15D3A"/>
                </a:solidFill>
              </a:defRPr>
            </a:pPr>
            <a:r>
              <a:rPr sz="1425" b="1">
                <a:solidFill>
                  <a:srgbClr val="C15D3A"/>
                </a:solidFill>
              </a:rPr>
              <a:t>CF</a:t>
            </a:r>
          </a:p>
        </p:txBody>
      </p:sp>
      <p:sp>
        <p:nvSpPr>
          <p:cNvPr id="45" name="results-row-3-cell-1">
            <a:extLst>
              <a:ext uri="{FF2B5EF4-FFF2-40B4-BE49-F238E27FC236}">
                <a16:creationId xmlns:a16="http://schemas.microsoft.com/office/drawing/2014/main" id="{7B374187-A051-44A4-AA3B-4CFCC1A3D519}"/>
              </a:ext>
            </a:extLst>
          </p:cNvPr>
          <p:cNvSpPr>
            <a:spLocks noGrp="1"/>
          </p:cNvSpPr>
          <p:nvPr/>
        </p:nvSpPr>
        <p:spPr>
          <a:xfrm>
            <a:off x="9858375" y="4777933"/>
            <a:ext cx="1809750" cy="495300"/>
          </a:xfrm>
          <a:prstGeom prst="roundRect">
            <a:avLst>
              <a:gd name="adj" fmla="val 13462"/>
            </a:avLst>
          </a:prstGeom>
          <a:solidFill>
            <a:srgbClr val="FFFFFF"/>
          </a:solidFill>
          <a:ln w="7620">
            <a:solidFill>
              <a:srgbClr val="D8DED9"/>
            </a:solidFill>
            <a:prstDash val="solid"/>
          </a:ln>
        </p:spPr>
      </p:sp>
      <p:sp>
        <p:nvSpPr>
          <p:cNvPr id="46" name="矩形 45">
            <a:extLst>
              <a:ext uri="{FF2B5EF4-FFF2-40B4-BE49-F238E27FC236}">
                <a16:creationId xmlns:a16="http://schemas.microsoft.com/office/drawing/2014/main" id="{780A28D2-E316-482C-A81F-9626C85EDB8E}"/>
              </a:ext>
            </a:extLst>
          </p:cNvPr>
          <p:cNvSpPr>
            <a:spLocks noGrp="1"/>
          </p:cNvSpPr>
          <p:nvPr/>
        </p:nvSpPr>
        <p:spPr>
          <a:xfrm>
            <a:off x="9951339" y="4922713"/>
            <a:ext cx="1638300" cy="190500"/>
          </a:xfrm>
          <a:prstGeom prst="rect">
            <a:avLst/>
          </a:prstGeom>
        </p:spPr>
        <p:txBody>
          <a:bodyPr lIns="0" tIns="0" rIns="0" bIns="0"/>
          <a:lstStyle/>
          <a:p>
            <a:pPr algn="l">
              <a:defRPr sz="1350" b="1">
                <a:solidFill>
                  <a:srgbClr val="18212B"/>
                </a:solidFill>
              </a:defRPr>
            </a:pPr>
            <a:r>
              <a:rPr sz="1350" b="1">
                <a:solidFill>
                  <a:srgbClr val="18212B"/>
                </a:solidFill>
              </a:rPr>
              <a:t>Hit Rate@10</a:t>
            </a:r>
          </a:p>
        </p:txBody>
      </p:sp>
      <p:sp>
        <p:nvSpPr>
          <p:cNvPr id="47" name="results-row-3-cell-2">
            <a:extLst>
              <a:ext uri="{FF2B5EF4-FFF2-40B4-BE49-F238E27FC236}">
                <a16:creationId xmlns:a16="http://schemas.microsoft.com/office/drawing/2014/main" id="{1800AE56-162E-4243-94B8-64DECE794A6A}"/>
              </a:ext>
            </a:extLst>
          </p:cNvPr>
          <p:cNvSpPr>
            <a:spLocks noGrp="1"/>
          </p:cNvSpPr>
          <p:nvPr/>
        </p:nvSpPr>
        <p:spPr>
          <a:xfrm>
            <a:off x="11744325" y="4777933"/>
            <a:ext cx="1428750" cy="495300"/>
          </a:xfrm>
          <a:prstGeom prst="roundRect">
            <a:avLst>
              <a:gd name="adj" fmla="val 13462"/>
            </a:avLst>
          </a:prstGeom>
          <a:solidFill>
            <a:srgbClr val="FFFFFF"/>
          </a:solidFill>
          <a:ln w="7620">
            <a:solidFill>
              <a:srgbClr val="D8DED9"/>
            </a:solidFill>
            <a:prstDash val="solid"/>
          </a:ln>
        </p:spPr>
      </p:sp>
      <p:sp>
        <p:nvSpPr>
          <p:cNvPr id="48" name="矩形 47">
            <a:extLst>
              <a:ext uri="{FF2B5EF4-FFF2-40B4-BE49-F238E27FC236}">
                <a16:creationId xmlns:a16="http://schemas.microsoft.com/office/drawing/2014/main" id="{0C9BEEB4-28E1-4166-AA9C-B6A864DD92CD}"/>
              </a:ext>
            </a:extLst>
          </p:cNvPr>
          <p:cNvSpPr>
            <a:spLocks noGrp="1"/>
          </p:cNvSpPr>
          <p:nvPr/>
        </p:nvSpPr>
        <p:spPr>
          <a:xfrm>
            <a:off x="11837289" y="4903663"/>
            <a:ext cx="1257300" cy="228600"/>
          </a:xfrm>
          <a:prstGeom prst="rect">
            <a:avLst/>
          </a:prstGeom>
        </p:spPr>
        <p:txBody>
          <a:bodyPr lIns="0" tIns="0" rIns="0" bIns="0"/>
          <a:lstStyle/>
          <a:p>
            <a:pPr algn="ctr">
              <a:defRPr sz="1425" b="0">
                <a:solidFill>
                  <a:srgbClr val="18212B"/>
                </a:solidFill>
              </a:defRPr>
            </a:pPr>
            <a:r>
              <a:rPr sz="1425" b="0">
                <a:solidFill>
                  <a:srgbClr val="18212B"/>
                </a:solidFill>
              </a:rPr>
              <a:t>0.2679</a:t>
            </a:r>
          </a:p>
        </p:txBody>
      </p:sp>
      <p:sp>
        <p:nvSpPr>
          <p:cNvPr id="49" name="results-row-3-cell-3">
            <a:extLst>
              <a:ext uri="{FF2B5EF4-FFF2-40B4-BE49-F238E27FC236}">
                <a16:creationId xmlns:a16="http://schemas.microsoft.com/office/drawing/2014/main" id="{E07F6B29-68CD-4179-BC6A-A4B05352E535}"/>
              </a:ext>
            </a:extLst>
          </p:cNvPr>
          <p:cNvSpPr>
            <a:spLocks noGrp="1"/>
          </p:cNvSpPr>
          <p:nvPr/>
        </p:nvSpPr>
        <p:spPr>
          <a:xfrm>
            <a:off x="13249275" y="4777933"/>
            <a:ext cx="1428750" cy="495300"/>
          </a:xfrm>
          <a:prstGeom prst="roundRect">
            <a:avLst>
              <a:gd name="adj" fmla="val 13462"/>
            </a:avLst>
          </a:prstGeom>
          <a:solidFill>
            <a:srgbClr val="E4F1EC"/>
          </a:solidFill>
          <a:ln w="7620">
            <a:solidFill>
              <a:srgbClr val="2F7D6D"/>
            </a:solidFill>
            <a:prstDash val="solid"/>
          </a:ln>
        </p:spPr>
      </p:sp>
      <p:sp>
        <p:nvSpPr>
          <p:cNvPr id="50" name="矩形 49">
            <a:extLst>
              <a:ext uri="{FF2B5EF4-FFF2-40B4-BE49-F238E27FC236}">
                <a16:creationId xmlns:a16="http://schemas.microsoft.com/office/drawing/2014/main" id="{7C1A3A76-52C5-446B-B0E4-0FA370E15880}"/>
              </a:ext>
            </a:extLst>
          </p:cNvPr>
          <p:cNvSpPr>
            <a:spLocks noGrp="1"/>
          </p:cNvSpPr>
          <p:nvPr/>
        </p:nvSpPr>
        <p:spPr>
          <a:xfrm>
            <a:off x="13342239" y="4903663"/>
            <a:ext cx="1257300" cy="228600"/>
          </a:xfrm>
          <a:prstGeom prst="rect">
            <a:avLst/>
          </a:prstGeom>
        </p:spPr>
        <p:txBody>
          <a:bodyPr lIns="0" tIns="0" rIns="0" bIns="0"/>
          <a:lstStyle/>
          <a:p>
            <a:pPr algn="ctr">
              <a:defRPr sz="1425" b="1">
                <a:solidFill>
                  <a:srgbClr val="2F7D6D"/>
                </a:solidFill>
              </a:defRPr>
            </a:pPr>
            <a:r>
              <a:rPr sz="1425" b="1">
                <a:solidFill>
                  <a:srgbClr val="2F7D6D"/>
                </a:solidFill>
              </a:rPr>
              <a:t>0.6544</a:t>
            </a:r>
          </a:p>
        </p:txBody>
      </p:sp>
      <p:sp>
        <p:nvSpPr>
          <p:cNvPr id="51" name="results-row-3-cell-4">
            <a:extLst>
              <a:ext uri="{FF2B5EF4-FFF2-40B4-BE49-F238E27FC236}">
                <a16:creationId xmlns:a16="http://schemas.microsoft.com/office/drawing/2014/main" id="{9CDF1EA4-5F16-4739-BFF9-DC053C5EFB07}"/>
              </a:ext>
            </a:extLst>
          </p:cNvPr>
          <p:cNvSpPr>
            <a:spLocks noGrp="1"/>
          </p:cNvSpPr>
          <p:nvPr/>
        </p:nvSpPr>
        <p:spPr>
          <a:xfrm>
            <a:off x="14754225" y="4777933"/>
            <a:ext cx="1619250" cy="495300"/>
          </a:xfrm>
          <a:prstGeom prst="roundRect">
            <a:avLst>
              <a:gd name="adj" fmla="val 13462"/>
            </a:avLst>
          </a:prstGeom>
          <a:solidFill>
            <a:srgbClr val="FFFFFF"/>
          </a:solidFill>
          <a:ln w="7620">
            <a:solidFill>
              <a:srgbClr val="D8DED9"/>
            </a:solidFill>
            <a:prstDash val="solid"/>
          </a:ln>
        </p:spPr>
      </p:sp>
      <p:sp>
        <p:nvSpPr>
          <p:cNvPr id="52" name="矩形 51">
            <a:extLst>
              <a:ext uri="{FF2B5EF4-FFF2-40B4-BE49-F238E27FC236}">
                <a16:creationId xmlns:a16="http://schemas.microsoft.com/office/drawing/2014/main" id="{589C90A6-2650-41FA-9AC2-6B02A0F6D611}"/>
              </a:ext>
            </a:extLst>
          </p:cNvPr>
          <p:cNvSpPr>
            <a:spLocks noGrp="1"/>
          </p:cNvSpPr>
          <p:nvPr/>
        </p:nvSpPr>
        <p:spPr>
          <a:xfrm>
            <a:off x="14847189" y="4903663"/>
            <a:ext cx="1447800" cy="228600"/>
          </a:xfrm>
          <a:prstGeom prst="rect">
            <a:avLst/>
          </a:prstGeom>
        </p:spPr>
        <p:txBody>
          <a:bodyPr lIns="0" tIns="0" rIns="0" bIns="0"/>
          <a:lstStyle/>
          <a:p>
            <a:pPr algn="ctr">
              <a:defRPr sz="1425" b="0">
                <a:solidFill>
                  <a:srgbClr val="18212B"/>
                </a:solidFill>
              </a:defRPr>
            </a:pPr>
            <a:r>
              <a:rPr sz="1425" b="0">
                <a:solidFill>
                  <a:srgbClr val="18212B"/>
                </a:solidFill>
              </a:rPr>
              <a:t>0.2283</a:t>
            </a:r>
          </a:p>
        </p:txBody>
      </p:sp>
      <p:sp>
        <p:nvSpPr>
          <p:cNvPr id="53" name="results-row-3-cell-5">
            <a:extLst>
              <a:ext uri="{FF2B5EF4-FFF2-40B4-BE49-F238E27FC236}">
                <a16:creationId xmlns:a16="http://schemas.microsoft.com/office/drawing/2014/main" id="{63E720E9-1899-4FED-91CB-B63FF495EF66}"/>
              </a:ext>
            </a:extLst>
          </p:cNvPr>
          <p:cNvSpPr>
            <a:spLocks noGrp="1"/>
          </p:cNvSpPr>
          <p:nvPr/>
        </p:nvSpPr>
        <p:spPr>
          <a:xfrm>
            <a:off x="16449675" y="4777933"/>
            <a:ext cx="1000125" cy="495300"/>
          </a:xfrm>
          <a:prstGeom prst="roundRect">
            <a:avLst>
              <a:gd name="adj" fmla="val 13462"/>
            </a:avLst>
          </a:prstGeom>
          <a:solidFill>
            <a:srgbClr val="F4EFE7"/>
          </a:solidFill>
          <a:ln w="7620">
            <a:solidFill>
              <a:srgbClr val="C15D3A"/>
            </a:solidFill>
            <a:prstDash val="solid"/>
          </a:ln>
        </p:spPr>
      </p:sp>
      <p:sp>
        <p:nvSpPr>
          <p:cNvPr id="54" name="矩形 53">
            <a:extLst>
              <a:ext uri="{FF2B5EF4-FFF2-40B4-BE49-F238E27FC236}">
                <a16:creationId xmlns:a16="http://schemas.microsoft.com/office/drawing/2014/main" id="{0A8B8FD2-8205-4404-8CBE-2F139CAAF326}"/>
              </a:ext>
            </a:extLst>
          </p:cNvPr>
          <p:cNvSpPr>
            <a:spLocks noGrp="1"/>
          </p:cNvSpPr>
          <p:nvPr/>
        </p:nvSpPr>
        <p:spPr>
          <a:xfrm>
            <a:off x="16542639" y="4903663"/>
            <a:ext cx="800100" cy="228600"/>
          </a:xfrm>
          <a:prstGeom prst="rect">
            <a:avLst/>
          </a:prstGeom>
        </p:spPr>
        <p:txBody>
          <a:bodyPr lIns="0" tIns="0" rIns="0" bIns="0"/>
          <a:lstStyle/>
          <a:p>
            <a:pPr algn="ctr">
              <a:defRPr sz="1425" b="1">
                <a:solidFill>
                  <a:srgbClr val="C15D3A"/>
                </a:solidFill>
              </a:defRPr>
            </a:pPr>
            <a:r>
              <a:rPr sz="1425" b="1">
                <a:solidFill>
                  <a:srgbClr val="C15D3A"/>
                </a:solidFill>
              </a:rPr>
              <a:t>CF</a:t>
            </a:r>
          </a:p>
        </p:txBody>
      </p:sp>
      <p:sp>
        <p:nvSpPr>
          <p:cNvPr id="55" name="results-row-4-cell-1">
            <a:extLst>
              <a:ext uri="{FF2B5EF4-FFF2-40B4-BE49-F238E27FC236}">
                <a16:creationId xmlns:a16="http://schemas.microsoft.com/office/drawing/2014/main" id="{F28E1335-0EE6-4065-BEFA-53CBFD35D9A1}"/>
              </a:ext>
            </a:extLst>
          </p:cNvPr>
          <p:cNvSpPr>
            <a:spLocks noGrp="1"/>
          </p:cNvSpPr>
          <p:nvPr/>
        </p:nvSpPr>
        <p:spPr>
          <a:xfrm>
            <a:off x="9858375" y="5349433"/>
            <a:ext cx="1809750" cy="495300"/>
          </a:xfrm>
          <a:prstGeom prst="roundRect">
            <a:avLst>
              <a:gd name="adj" fmla="val 13462"/>
            </a:avLst>
          </a:prstGeom>
          <a:solidFill>
            <a:srgbClr val="FFFFFF"/>
          </a:solidFill>
          <a:ln w="7620">
            <a:solidFill>
              <a:srgbClr val="D8DED9"/>
            </a:solidFill>
            <a:prstDash val="solid"/>
          </a:ln>
        </p:spPr>
      </p:sp>
      <p:sp>
        <p:nvSpPr>
          <p:cNvPr id="56" name="矩形 55">
            <a:extLst>
              <a:ext uri="{FF2B5EF4-FFF2-40B4-BE49-F238E27FC236}">
                <a16:creationId xmlns:a16="http://schemas.microsoft.com/office/drawing/2014/main" id="{864D59E4-F31B-484A-979E-BC27F8D642CB}"/>
              </a:ext>
            </a:extLst>
          </p:cNvPr>
          <p:cNvSpPr>
            <a:spLocks noGrp="1"/>
          </p:cNvSpPr>
          <p:nvPr/>
        </p:nvSpPr>
        <p:spPr>
          <a:xfrm>
            <a:off x="9951339" y="5494213"/>
            <a:ext cx="1638300" cy="190500"/>
          </a:xfrm>
          <a:prstGeom prst="rect">
            <a:avLst/>
          </a:prstGeom>
        </p:spPr>
        <p:txBody>
          <a:bodyPr lIns="0" tIns="0" rIns="0" bIns="0"/>
          <a:lstStyle/>
          <a:p>
            <a:pPr algn="l">
              <a:defRPr sz="1350" b="1">
                <a:solidFill>
                  <a:srgbClr val="18212B"/>
                </a:solidFill>
              </a:defRPr>
            </a:pPr>
            <a:r>
              <a:rPr sz="1350" b="1">
                <a:solidFill>
                  <a:srgbClr val="18212B"/>
                </a:solidFill>
              </a:rPr>
              <a:t>Coverage@10</a:t>
            </a:r>
          </a:p>
        </p:txBody>
      </p:sp>
      <p:sp>
        <p:nvSpPr>
          <p:cNvPr id="57" name="results-row-4-cell-2">
            <a:extLst>
              <a:ext uri="{FF2B5EF4-FFF2-40B4-BE49-F238E27FC236}">
                <a16:creationId xmlns:a16="http://schemas.microsoft.com/office/drawing/2014/main" id="{5758D3DA-A6C2-4ED5-BE3C-D5D34FA71D93}"/>
              </a:ext>
            </a:extLst>
          </p:cNvPr>
          <p:cNvSpPr>
            <a:spLocks noGrp="1"/>
          </p:cNvSpPr>
          <p:nvPr/>
        </p:nvSpPr>
        <p:spPr>
          <a:xfrm>
            <a:off x="11744325" y="5349433"/>
            <a:ext cx="1428750" cy="495300"/>
          </a:xfrm>
          <a:prstGeom prst="roundRect">
            <a:avLst>
              <a:gd name="adj" fmla="val 13462"/>
            </a:avLst>
          </a:prstGeom>
          <a:solidFill>
            <a:srgbClr val="FFFFFF"/>
          </a:solidFill>
          <a:ln w="7620">
            <a:solidFill>
              <a:srgbClr val="D8DED9"/>
            </a:solidFill>
            <a:prstDash val="solid"/>
          </a:ln>
        </p:spPr>
      </p:sp>
      <p:sp>
        <p:nvSpPr>
          <p:cNvPr id="58" name="矩形 57">
            <a:extLst>
              <a:ext uri="{FF2B5EF4-FFF2-40B4-BE49-F238E27FC236}">
                <a16:creationId xmlns:a16="http://schemas.microsoft.com/office/drawing/2014/main" id="{0497B240-59C0-43C8-8C9F-754715DB0021}"/>
              </a:ext>
            </a:extLst>
          </p:cNvPr>
          <p:cNvSpPr>
            <a:spLocks noGrp="1"/>
          </p:cNvSpPr>
          <p:nvPr/>
        </p:nvSpPr>
        <p:spPr>
          <a:xfrm>
            <a:off x="11837289" y="5475163"/>
            <a:ext cx="1257300" cy="228600"/>
          </a:xfrm>
          <a:prstGeom prst="rect">
            <a:avLst/>
          </a:prstGeom>
        </p:spPr>
        <p:txBody>
          <a:bodyPr lIns="0" tIns="0" rIns="0" bIns="0"/>
          <a:lstStyle/>
          <a:p>
            <a:pPr algn="ctr">
              <a:defRPr sz="1425" b="0">
                <a:solidFill>
                  <a:srgbClr val="18212B"/>
                </a:solidFill>
              </a:defRPr>
            </a:pPr>
            <a:r>
              <a:rPr sz="1425" b="0">
                <a:solidFill>
                  <a:srgbClr val="18212B"/>
                </a:solidFill>
              </a:rPr>
              <a:t>0.0035</a:t>
            </a:r>
          </a:p>
        </p:txBody>
      </p:sp>
      <p:sp>
        <p:nvSpPr>
          <p:cNvPr id="59" name="results-row-4-cell-3">
            <a:extLst>
              <a:ext uri="{FF2B5EF4-FFF2-40B4-BE49-F238E27FC236}">
                <a16:creationId xmlns:a16="http://schemas.microsoft.com/office/drawing/2014/main" id="{9FACF923-E103-4EE6-BB37-6F716051E081}"/>
              </a:ext>
            </a:extLst>
          </p:cNvPr>
          <p:cNvSpPr>
            <a:spLocks noGrp="1"/>
          </p:cNvSpPr>
          <p:nvPr/>
        </p:nvSpPr>
        <p:spPr>
          <a:xfrm>
            <a:off x="13249275" y="5349433"/>
            <a:ext cx="1428750" cy="495300"/>
          </a:xfrm>
          <a:prstGeom prst="roundRect">
            <a:avLst>
              <a:gd name="adj" fmla="val 13462"/>
            </a:avLst>
          </a:prstGeom>
          <a:solidFill>
            <a:srgbClr val="E4F1EC"/>
          </a:solidFill>
          <a:ln w="7620">
            <a:solidFill>
              <a:srgbClr val="2F7D6D"/>
            </a:solidFill>
            <a:prstDash val="solid"/>
          </a:ln>
        </p:spPr>
      </p:sp>
      <p:sp>
        <p:nvSpPr>
          <p:cNvPr id="60" name="矩形 59">
            <a:extLst>
              <a:ext uri="{FF2B5EF4-FFF2-40B4-BE49-F238E27FC236}">
                <a16:creationId xmlns:a16="http://schemas.microsoft.com/office/drawing/2014/main" id="{6089742B-8A64-4FE7-9BE5-86329A1EC2DC}"/>
              </a:ext>
            </a:extLst>
          </p:cNvPr>
          <p:cNvSpPr>
            <a:spLocks noGrp="1"/>
          </p:cNvSpPr>
          <p:nvPr/>
        </p:nvSpPr>
        <p:spPr>
          <a:xfrm>
            <a:off x="13342239" y="5475163"/>
            <a:ext cx="1257300" cy="228600"/>
          </a:xfrm>
          <a:prstGeom prst="rect">
            <a:avLst/>
          </a:prstGeom>
        </p:spPr>
        <p:txBody>
          <a:bodyPr lIns="0" tIns="0" rIns="0" bIns="0"/>
          <a:lstStyle/>
          <a:p>
            <a:pPr algn="ctr">
              <a:defRPr sz="1425" b="1">
                <a:solidFill>
                  <a:srgbClr val="2F7D6D"/>
                </a:solidFill>
              </a:defRPr>
            </a:pPr>
            <a:r>
              <a:rPr sz="1425" b="1">
                <a:solidFill>
                  <a:srgbClr val="2F7D6D"/>
                </a:solidFill>
              </a:rPr>
              <a:t>0.3949</a:t>
            </a:r>
          </a:p>
        </p:txBody>
      </p:sp>
      <p:sp>
        <p:nvSpPr>
          <p:cNvPr id="61" name="results-row-4-cell-4">
            <a:extLst>
              <a:ext uri="{FF2B5EF4-FFF2-40B4-BE49-F238E27FC236}">
                <a16:creationId xmlns:a16="http://schemas.microsoft.com/office/drawing/2014/main" id="{F864BFF6-AEA4-4776-B1F1-D6707055E94D}"/>
              </a:ext>
            </a:extLst>
          </p:cNvPr>
          <p:cNvSpPr>
            <a:spLocks noGrp="1"/>
          </p:cNvSpPr>
          <p:nvPr/>
        </p:nvSpPr>
        <p:spPr>
          <a:xfrm>
            <a:off x="14754225" y="5349433"/>
            <a:ext cx="1619250" cy="495300"/>
          </a:xfrm>
          <a:prstGeom prst="roundRect">
            <a:avLst>
              <a:gd name="adj" fmla="val 13462"/>
            </a:avLst>
          </a:prstGeom>
          <a:solidFill>
            <a:srgbClr val="FFFFFF"/>
          </a:solidFill>
          <a:ln w="7620">
            <a:solidFill>
              <a:srgbClr val="D8DED9"/>
            </a:solidFill>
            <a:prstDash val="solid"/>
          </a:ln>
        </p:spPr>
      </p:sp>
      <p:sp>
        <p:nvSpPr>
          <p:cNvPr id="62" name="矩形 61">
            <a:extLst>
              <a:ext uri="{FF2B5EF4-FFF2-40B4-BE49-F238E27FC236}">
                <a16:creationId xmlns:a16="http://schemas.microsoft.com/office/drawing/2014/main" id="{29CFAB2C-FCC1-46DA-B68F-F2D38CE7594A}"/>
              </a:ext>
            </a:extLst>
          </p:cNvPr>
          <p:cNvSpPr>
            <a:spLocks noGrp="1"/>
          </p:cNvSpPr>
          <p:nvPr/>
        </p:nvSpPr>
        <p:spPr>
          <a:xfrm>
            <a:off x="14847189" y="5475163"/>
            <a:ext cx="1447800" cy="228600"/>
          </a:xfrm>
          <a:prstGeom prst="rect">
            <a:avLst/>
          </a:prstGeom>
        </p:spPr>
        <p:txBody>
          <a:bodyPr lIns="0" tIns="0" rIns="0" bIns="0"/>
          <a:lstStyle/>
          <a:p>
            <a:pPr algn="ctr">
              <a:defRPr sz="1425" b="0">
                <a:solidFill>
                  <a:srgbClr val="18212B"/>
                </a:solidFill>
              </a:defRPr>
            </a:pPr>
            <a:r>
              <a:rPr sz="1425" b="0">
                <a:solidFill>
                  <a:srgbClr val="18212B"/>
                </a:solidFill>
              </a:rPr>
              <a:t>0.1235</a:t>
            </a:r>
          </a:p>
        </p:txBody>
      </p:sp>
      <p:sp>
        <p:nvSpPr>
          <p:cNvPr id="63" name="results-row-4-cell-5">
            <a:extLst>
              <a:ext uri="{FF2B5EF4-FFF2-40B4-BE49-F238E27FC236}">
                <a16:creationId xmlns:a16="http://schemas.microsoft.com/office/drawing/2014/main" id="{01C8AAD8-7E2D-4BC2-859A-0D2EEF867F1F}"/>
              </a:ext>
            </a:extLst>
          </p:cNvPr>
          <p:cNvSpPr>
            <a:spLocks noGrp="1"/>
          </p:cNvSpPr>
          <p:nvPr/>
        </p:nvSpPr>
        <p:spPr>
          <a:xfrm>
            <a:off x="16449675" y="5349433"/>
            <a:ext cx="1000125" cy="495300"/>
          </a:xfrm>
          <a:prstGeom prst="roundRect">
            <a:avLst>
              <a:gd name="adj" fmla="val 13462"/>
            </a:avLst>
          </a:prstGeom>
          <a:solidFill>
            <a:srgbClr val="F4EFE7"/>
          </a:solidFill>
          <a:ln w="7620">
            <a:solidFill>
              <a:srgbClr val="C15D3A"/>
            </a:solidFill>
            <a:prstDash val="solid"/>
          </a:ln>
        </p:spPr>
      </p:sp>
      <p:sp>
        <p:nvSpPr>
          <p:cNvPr id="64" name="矩形 63">
            <a:extLst>
              <a:ext uri="{FF2B5EF4-FFF2-40B4-BE49-F238E27FC236}">
                <a16:creationId xmlns:a16="http://schemas.microsoft.com/office/drawing/2014/main" id="{0BC8C030-1206-476D-906B-F30598A4BD9E}"/>
              </a:ext>
            </a:extLst>
          </p:cNvPr>
          <p:cNvSpPr>
            <a:spLocks noGrp="1"/>
          </p:cNvSpPr>
          <p:nvPr/>
        </p:nvSpPr>
        <p:spPr>
          <a:xfrm>
            <a:off x="16542639" y="5475163"/>
            <a:ext cx="800100" cy="228600"/>
          </a:xfrm>
          <a:prstGeom prst="rect">
            <a:avLst/>
          </a:prstGeom>
        </p:spPr>
        <p:txBody>
          <a:bodyPr lIns="0" tIns="0" rIns="0" bIns="0"/>
          <a:lstStyle/>
          <a:p>
            <a:pPr algn="ctr">
              <a:defRPr sz="1425" b="1">
                <a:solidFill>
                  <a:srgbClr val="C15D3A"/>
                </a:solidFill>
              </a:defRPr>
            </a:pPr>
            <a:r>
              <a:rPr sz="1425" b="1">
                <a:solidFill>
                  <a:srgbClr val="C15D3A"/>
                </a:solidFill>
              </a:rPr>
              <a:t>CF</a:t>
            </a:r>
          </a:p>
        </p:txBody>
      </p:sp>
      <p:sp>
        <p:nvSpPr>
          <p:cNvPr id="65" name="results-row-5-cell-1">
            <a:extLst>
              <a:ext uri="{FF2B5EF4-FFF2-40B4-BE49-F238E27FC236}">
                <a16:creationId xmlns:a16="http://schemas.microsoft.com/office/drawing/2014/main" id="{BC5254DA-9F2E-498B-AF49-A5C5F8B41C73}"/>
              </a:ext>
            </a:extLst>
          </p:cNvPr>
          <p:cNvSpPr>
            <a:spLocks noGrp="1"/>
          </p:cNvSpPr>
          <p:nvPr/>
        </p:nvSpPr>
        <p:spPr>
          <a:xfrm>
            <a:off x="9858375" y="5920933"/>
            <a:ext cx="1809750" cy="495300"/>
          </a:xfrm>
          <a:prstGeom prst="roundRect">
            <a:avLst>
              <a:gd name="adj" fmla="val 13462"/>
            </a:avLst>
          </a:prstGeom>
          <a:solidFill>
            <a:srgbClr val="FFFFFF"/>
          </a:solidFill>
          <a:ln w="7620">
            <a:solidFill>
              <a:srgbClr val="D8DED9"/>
            </a:solidFill>
            <a:prstDash val="solid"/>
          </a:ln>
        </p:spPr>
      </p:sp>
      <p:sp>
        <p:nvSpPr>
          <p:cNvPr id="66" name="矩形 65">
            <a:extLst>
              <a:ext uri="{FF2B5EF4-FFF2-40B4-BE49-F238E27FC236}">
                <a16:creationId xmlns:a16="http://schemas.microsoft.com/office/drawing/2014/main" id="{B2FD8485-AADC-44D1-BBF6-5785E9AE06F5}"/>
              </a:ext>
            </a:extLst>
          </p:cNvPr>
          <p:cNvSpPr>
            <a:spLocks noGrp="1"/>
          </p:cNvSpPr>
          <p:nvPr/>
        </p:nvSpPr>
        <p:spPr>
          <a:xfrm>
            <a:off x="9951339" y="6065713"/>
            <a:ext cx="1638300" cy="190500"/>
          </a:xfrm>
          <a:prstGeom prst="rect">
            <a:avLst/>
          </a:prstGeom>
        </p:spPr>
        <p:txBody>
          <a:bodyPr lIns="0" tIns="0" rIns="0" bIns="0"/>
          <a:lstStyle/>
          <a:p>
            <a:pPr algn="l">
              <a:defRPr sz="1350" b="1">
                <a:solidFill>
                  <a:srgbClr val="18212B"/>
                </a:solidFill>
              </a:defRPr>
            </a:pPr>
            <a:r>
              <a:rPr sz="1350" b="1">
                <a:solidFill>
                  <a:srgbClr val="18212B"/>
                </a:solidFill>
              </a:rPr>
              <a:t>Novelty@10</a:t>
            </a:r>
          </a:p>
        </p:txBody>
      </p:sp>
      <p:sp>
        <p:nvSpPr>
          <p:cNvPr id="67" name="results-row-5-cell-2">
            <a:extLst>
              <a:ext uri="{FF2B5EF4-FFF2-40B4-BE49-F238E27FC236}">
                <a16:creationId xmlns:a16="http://schemas.microsoft.com/office/drawing/2014/main" id="{04C0C2E9-2844-451D-83BA-C417C0353195}"/>
              </a:ext>
            </a:extLst>
          </p:cNvPr>
          <p:cNvSpPr>
            <a:spLocks noGrp="1"/>
          </p:cNvSpPr>
          <p:nvPr/>
        </p:nvSpPr>
        <p:spPr>
          <a:xfrm>
            <a:off x="11744325" y="5920933"/>
            <a:ext cx="1428750" cy="495300"/>
          </a:xfrm>
          <a:prstGeom prst="roundRect">
            <a:avLst>
              <a:gd name="adj" fmla="val 13462"/>
            </a:avLst>
          </a:prstGeom>
          <a:solidFill>
            <a:srgbClr val="FFFFFF"/>
          </a:solidFill>
          <a:ln w="7620">
            <a:solidFill>
              <a:srgbClr val="D8DED9"/>
            </a:solidFill>
            <a:prstDash val="solid"/>
          </a:ln>
        </p:spPr>
      </p:sp>
      <p:sp>
        <p:nvSpPr>
          <p:cNvPr id="68" name="矩形 67">
            <a:extLst>
              <a:ext uri="{FF2B5EF4-FFF2-40B4-BE49-F238E27FC236}">
                <a16:creationId xmlns:a16="http://schemas.microsoft.com/office/drawing/2014/main" id="{C3DD2290-2619-4C13-9FB4-B0621420A812}"/>
              </a:ext>
            </a:extLst>
          </p:cNvPr>
          <p:cNvSpPr>
            <a:spLocks noGrp="1"/>
          </p:cNvSpPr>
          <p:nvPr/>
        </p:nvSpPr>
        <p:spPr>
          <a:xfrm>
            <a:off x="11837289" y="6046663"/>
            <a:ext cx="1257300" cy="228600"/>
          </a:xfrm>
          <a:prstGeom prst="rect">
            <a:avLst/>
          </a:prstGeom>
        </p:spPr>
        <p:txBody>
          <a:bodyPr lIns="0" tIns="0" rIns="0" bIns="0"/>
          <a:lstStyle/>
          <a:p>
            <a:pPr algn="ctr">
              <a:defRPr sz="1425" b="0">
                <a:solidFill>
                  <a:srgbClr val="18212B"/>
                </a:solidFill>
              </a:defRPr>
            </a:pPr>
            <a:r>
              <a:rPr sz="1425" b="0">
                <a:solidFill>
                  <a:srgbClr val="18212B"/>
                </a:solidFill>
              </a:rPr>
              <a:t>2.4491</a:t>
            </a:r>
          </a:p>
        </p:txBody>
      </p:sp>
      <p:sp>
        <p:nvSpPr>
          <p:cNvPr id="69" name="results-row-5-cell-3">
            <a:extLst>
              <a:ext uri="{FF2B5EF4-FFF2-40B4-BE49-F238E27FC236}">
                <a16:creationId xmlns:a16="http://schemas.microsoft.com/office/drawing/2014/main" id="{025716F8-F78A-4B79-AD89-FC3DF27EA99A}"/>
              </a:ext>
            </a:extLst>
          </p:cNvPr>
          <p:cNvSpPr>
            <a:spLocks noGrp="1"/>
          </p:cNvSpPr>
          <p:nvPr/>
        </p:nvSpPr>
        <p:spPr>
          <a:xfrm>
            <a:off x="13249275" y="5920933"/>
            <a:ext cx="1428750" cy="495300"/>
          </a:xfrm>
          <a:prstGeom prst="roundRect">
            <a:avLst>
              <a:gd name="adj" fmla="val 13462"/>
            </a:avLst>
          </a:prstGeom>
          <a:solidFill>
            <a:srgbClr val="FFFFFF"/>
          </a:solidFill>
          <a:ln w="7620">
            <a:solidFill>
              <a:srgbClr val="D8DED9"/>
            </a:solidFill>
            <a:prstDash val="solid"/>
          </a:ln>
        </p:spPr>
      </p:sp>
      <p:sp>
        <p:nvSpPr>
          <p:cNvPr id="70" name="矩形 69">
            <a:extLst>
              <a:ext uri="{FF2B5EF4-FFF2-40B4-BE49-F238E27FC236}">
                <a16:creationId xmlns:a16="http://schemas.microsoft.com/office/drawing/2014/main" id="{9E7199D0-DBB9-4D01-A1F0-A99C0FB7A3AA}"/>
              </a:ext>
            </a:extLst>
          </p:cNvPr>
          <p:cNvSpPr>
            <a:spLocks noGrp="1"/>
          </p:cNvSpPr>
          <p:nvPr/>
        </p:nvSpPr>
        <p:spPr>
          <a:xfrm>
            <a:off x="13342239" y="6046663"/>
            <a:ext cx="1257300" cy="228600"/>
          </a:xfrm>
          <a:prstGeom prst="rect">
            <a:avLst/>
          </a:prstGeom>
        </p:spPr>
        <p:txBody>
          <a:bodyPr lIns="0" tIns="0" rIns="0" bIns="0"/>
          <a:lstStyle/>
          <a:p>
            <a:pPr algn="ctr">
              <a:defRPr sz="1425" b="0">
                <a:solidFill>
                  <a:srgbClr val="18212B"/>
                </a:solidFill>
              </a:defRPr>
            </a:pPr>
            <a:r>
              <a:rPr sz="1425" b="0">
                <a:solidFill>
                  <a:srgbClr val="18212B"/>
                </a:solidFill>
              </a:rPr>
              <a:t>4.4614</a:t>
            </a:r>
          </a:p>
        </p:txBody>
      </p:sp>
      <p:sp>
        <p:nvSpPr>
          <p:cNvPr id="71" name="results-row-5-cell-4">
            <a:extLst>
              <a:ext uri="{FF2B5EF4-FFF2-40B4-BE49-F238E27FC236}">
                <a16:creationId xmlns:a16="http://schemas.microsoft.com/office/drawing/2014/main" id="{040BFCCD-D8C7-4FFE-ACEA-1A92682AAE1E}"/>
              </a:ext>
            </a:extLst>
          </p:cNvPr>
          <p:cNvSpPr>
            <a:spLocks noGrp="1"/>
          </p:cNvSpPr>
          <p:nvPr/>
        </p:nvSpPr>
        <p:spPr>
          <a:xfrm>
            <a:off x="14754225" y="5920933"/>
            <a:ext cx="1619250" cy="495300"/>
          </a:xfrm>
          <a:prstGeom prst="roundRect">
            <a:avLst>
              <a:gd name="adj" fmla="val 13462"/>
            </a:avLst>
          </a:prstGeom>
          <a:solidFill>
            <a:srgbClr val="E4F1EC"/>
          </a:solidFill>
          <a:ln w="7620">
            <a:solidFill>
              <a:srgbClr val="2F7D6D"/>
            </a:solidFill>
            <a:prstDash val="solid"/>
          </a:ln>
        </p:spPr>
      </p:sp>
      <p:sp>
        <p:nvSpPr>
          <p:cNvPr id="72" name="矩形 71">
            <a:extLst>
              <a:ext uri="{FF2B5EF4-FFF2-40B4-BE49-F238E27FC236}">
                <a16:creationId xmlns:a16="http://schemas.microsoft.com/office/drawing/2014/main" id="{2553E8A1-A64A-4748-84FF-6B206267665F}"/>
              </a:ext>
            </a:extLst>
          </p:cNvPr>
          <p:cNvSpPr>
            <a:spLocks noGrp="1"/>
          </p:cNvSpPr>
          <p:nvPr/>
        </p:nvSpPr>
        <p:spPr>
          <a:xfrm>
            <a:off x="14847189" y="6046663"/>
            <a:ext cx="1447800" cy="228600"/>
          </a:xfrm>
          <a:prstGeom prst="rect">
            <a:avLst/>
          </a:prstGeom>
        </p:spPr>
        <p:txBody>
          <a:bodyPr lIns="0" tIns="0" rIns="0" bIns="0"/>
          <a:lstStyle/>
          <a:p>
            <a:pPr algn="ctr">
              <a:defRPr sz="1425" b="1">
                <a:solidFill>
                  <a:srgbClr val="2F7D6D"/>
                </a:solidFill>
              </a:defRPr>
            </a:pPr>
            <a:r>
              <a:rPr sz="1425" b="1">
                <a:solidFill>
                  <a:srgbClr val="2F7D6D"/>
                </a:solidFill>
              </a:rPr>
              <a:t>6.2362</a:t>
            </a:r>
          </a:p>
        </p:txBody>
      </p:sp>
      <p:sp>
        <p:nvSpPr>
          <p:cNvPr id="73" name="results-row-5-cell-5">
            <a:extLst>
              <a:ext uri="{FF2B5EF4-FFF2-40B4-BE49-F238E27FC236}">
                <a16:creationId xmlns:a16="http://schemas.microsoft.com/office/drawing/2014/main" id="{8F8E0E9E-80CC-413A-B5C1-37DBEF6EDD2B}"/>
              </a:ext>
            </a:extLst>
          </p:cNvPr>
          <p:cNvSpPr>
            <a:spLocks noGrp="1"/>
          </p:cNvSpPr>
          <p:nvPr/>
        </p:nvSpPr>
        <p:spPr>
          <a:xfrm>
            <a:off x="16449675" y="5920933"/>
            <a:ext cx="1000125" cy="495300"/>
          </a:xfrm>
          <a:prstGeom prst="roundRect">
            <a:avLst>
              <a:gd name="adj" fmla="val 13462"/>
            </a:avLst>
          </a:prstGeom>
          <a:solidFill>
            <a:srgbClr val="F4EFE7"/>
          </a:solidFill>
          <a:ln w="7620">
            <a:solidFill>
              <a:srgbClr val="C15D3A"/>
            </a:solidFill>
            <a:prstDash val="solid"/>
          </a:ln>
        </p:spPr>
      </p:sp>
      <p:sp>
        <p:nvSpPr>
          <p:cNvPr id="74" name="矩形 73">
            <a:extLst>
              <a:ext uri="{FF2B5EF4-FFF2-40B4-BE49-F238E27FC236}">
                <a16:creationId xmlns:a16="http://schemas.microsoft.com/office/drawing/2014/main" id="{745287CE-8EE2-4E4E-90C5-DAD9C27D64C9}"/>
              </a:ext>
            </a:extLst>
          </p:cNvPr>
          <p:cNvSpPr>
            <a:spLocks noGrp="1"/>
          </p:cNvSpPr>
          <p:nvPr/>
        </p:nvSpPr>
        <p:spPr>
          <a:xfrm>
            <a:off x="16542639" y="6046663"/>
            <a:ext cx="800100" cy="228600"/>
          </a:xfrm>
          <a:prstGeom prst="rect">
            <a:avLst/>
          </a:prstGeom>
        </p:spPr>
        <p:txBody>
          <a:bodyPr lIns="0" tIns="0" rIns="0" bIns="0"/>
          <a:lstStyle/>
          <a:p>
            <a:pPr algn="ctr">
              <a:defRPr sz="1425" b="1">
                <a:solidFill>
                  <a:srgbClr val="C15D3A"/>
                </a:solidFill>
              </a:defRPr>
            </a:pPr>
            <a:r>
              <a:rPr sz="1425" b="1">
                <a:solidFill>
                  <a:srgbClr val="C15D3A"/>
                </a:solidFill>
              </a:rPr>
              <a:t>CB</a:t>
            </a:r>
          </a:p>
        </p:txBody>
      </p:sp>
      <p:sp>
        <p:nvSpPr>
          <p:cNvPr id="75" name="results-row-6-cell-1">
            <a:extLst>
              <a:ext uri="{FF2B5EF4-FFF2-40B4-BE49-F238E27FC236}">
                <a16:creationId xmlns:a16="http://schemas.microsoft.com/office/drawing/2014/main" id="{29A98BF4-FCC3-40D7-B14D-86A522FAA5F2}"/>
              </a:ext>
            </a:extLst>
          </p:cNvPr>
          <p:cNvSpPr>
            <a:spLocks noGrp="1"/>
          </p:cNvSpPr>
          <p:nvPr/>
        </p:nvSpPr>
        <p:spPr>
          <a:xfrm>
            <a:off x="9858375" y="6492433"/>
            <a:ext cx="1809750" cy="495300"/>
          </a:xfrm>
          <a:prstGeom prst="roundRect">
            <a:avLst>
              <a:gd name="adj" fmla="val 13462"/>
            </a:avLst>
          </a:prstGeom>
          <a:solidFill>
            <a:srgbClr val="FFFFFF"/>
          </a:solidFill>
          <a:ln w="7620">
            <a:solidFill>
              <a:srgbClr val="D8DED9"/>
            </a:solidFill>
            <a:prstDash val="solid"/>
          </a:ln>
        </p:spPr>
      </p:sp>
      <p:sp>
        <p:nvSpPr>
          <p:cNvPr id="76" name="矩形 75">
            <a:extLst>
              <a:ext uri="{FF2B5EF4-FFF2-40B4-BE49-F238E27FC236}">
                <a16:creationId xmlns:a16="http://schemas.microsoft.com/office/drawing/2014/main" id="{96C23580-E2A0-497F-8330-4A6FFF843C10}"/>
              </a:ext>
            </a:extLst>
          </p:cNvPr>
          <p:cNvSpPr>
            <a:spLocks noGrp="1"/>
          </p:cNvSpPr>
          <p:nvPr/>
        </p:nvSpPr>
        <p:spPr>
          <a:xfrm>
            <a:off x="9951339" y="6637213"/>
            <a:ext cx="1638300" cy="190500"/>
          </a:xfrm>
          <a:prstGeom prst="rect">
            <a:avLst/>
          </a:prstGeom>
        </p:spPr>
        <p:txBody>
          <a:bodyPr lIns="0" tIns="0" rIns="0" bIns="0"/>
          <a:lstStyle/>
          <a:p>
            <a:pPr algn="l">
              <a:defRPr sz="1350" b="1">
                <a:solidFill>
                  <a:srgbClr val="18212B"/>
                </a:solidFill>
              </a:defRPr>
            </a:pPr>
            <a:r>
              <a:rPr sz="1350" b="1">
                <a:solidFill>
                  <a:srgbClr val="18212B"/>
                </a:solidFill>
              </a:rPr>
              <a:t>Diversity@10</a:t>
            </a:r>
          </a:p>
        </p:txBody>
      </p:sp>
      <p:sp>
        <p:nvSpPr>
          <p:cNvPr id="77" name="results-row-6-cell-2">
            <a:extLst>
              <a:ext uri="{FF2B5EF4-FFF2-40B4-BE49-F238E27FC236}">
                <a16:creationId xmlns:a16="http://schemas.microsoft.com/office/drawing/2014/main" id="{068CDD70-CA50-46BB-BECE-F4512F973542}"/>
              </a:ext>
            </a:extLst>
          </p:cNvPr>
          <p:cNvSpPr>
            <a:spLocks noGrp="1"/>
          </p:cNvSpPr>
          <p:nvPr/>
        </p:nvSpPr>
        <p:spPr>
          <a:xfrm>
            <a:off x="11744325" y="6492433"/>
            <a:ext cx="1428750" cy="495300"/>
          </a:xfrm>
          <a:prstGeom prst="roundRect">
            <a:avLst>
              <a:gd name="adj" fmla="val 13462"/>
            </a:avLst>
          </a:prstGeom>
          <a:solidFill>
            <a:srgbClr val="FFFFFF"/>
          </a:solidFill>
          <a:ln w="7620">
            <a:solidFill>
              <a:srgbClr val="D8DED9"/>
            </a:solidFill>
            <a:prstDash val="solid"/>
          </a:ln>
        </p:spPr>
      </p:sp>
      <p:sp>
        <p:nvSpPr>
          <p:cNvPr id="78" name="矩形 77">
            <a:extLst>
              <a:ext uri="{FF2B5EF4-FFF2-40B4-BE49-F238E27FC236}">
                <a16:creationId xmlns:a16="http://schemas.microsoft.com/office/drawing/2014/main" id="{0FF7DF7F-1FC1-490A-B813-A47BC59255D8}"/>
              </a:ext>
            </a:extLst>
          </p:cNvPr>
          <p:cNvSpPr>
            <a:spLocks noGrp="1"/>
          </p:cNvSpPr>
          <p:nvPr/>
        </p:nvSpPr>
        <p:spPr>
          <a:xfrm>
            <a:off x="11837289" y="6618163"/>
            <a:ext cx="1257300" cy="228600"/>
          </a:xfrm>
          <a:prstGeom prst="rect">
            <a:avLst/>
          </a:prstGeom>
        </p:spPr>
        <p:txBody>
          <a:bodyPr lIns="0" tIns="0" rIns="0" bIns="0"/>
          <a:lstStyle/>
          <a:p>
            <a:pPr algn="ctr">
              <a:defRPr sz="1425" b="0">
                <a:solidFill>
                  <a:srgbClr val="18212B"/>
                </a:solidFill>
              </a:defRPr>
            </a:pPr>
            <a:r>
              <a:rPr sz="1425" b="0">
                <a:solidFill>
                  <a:srgbClr val="18212B"/>
                </a:solidFill>
              </a:rPr>
              <a:t>0.8382</a:t>
            </a:r>
          </a:p>
        </p:txBody>
      </p:sp>
      <p:sp>
        <p:nvSpPr>
          <p:cNvPr id="79" name="results-row-6-cell-3">
            <a:extLst>
              <a:ext uri="{FF2B5EF4-FFF2-40B4-BE49-F238E27FC236}">
                <a16:creationId xmlns:a16="http://schemas.microsoft.com/office/drawing/2014/main" id="{35F2F265-492E-4A02-88CF-4FF6A25D4432}"/>
              </a:ext>
            </a:extLst>
          </p:cNvPr>
          <p:cNvSpPr>
            <a:spLocks noGrp="1"/>
          </p:cNvSpPr>
          <p:nvPr/>
        </p:nvSpPr>
        <p:spPr>
          <a:xfrm>
            <a:off x="13249275" y="6492433"/>
            <a:ext cx="1428750" cy="495300"/>
          </a:xfrm>
          <a:prstGeom prst="roundRect">
            <a:avLst>
              <a:gd name="adj" fmla="val 13462"/>
            </a:avLst>
          </a:prstGeom>
          <a:solidFill>
            <a:srgbClr val="E4F1EC"/>
          </a:solidFill>
          <a:ln w="7620">
            <a:solidFill>
              <a:srgbClr val="2F7D6D"/>
            </a:solidFill>
            <a:prstDash val="solid"/>
          </a:ln>
        </p:spPr>
      </p:sp>
      <p:sp>
        <p:nvSpPr>
          <p:cNvPr id="80" name="矩形 79">
            <a:extLst>
              <a:ext uri="{FF2B5EF4-FFF2-40B4-BE49-F238E27FC236}">
                <a16:creationId xmlns:a16="http://schemas.microsoft.com/office/drawing/2014/main" id="{CD18266E-328A-4353-83FC-A5770A7163CA}"/>
              </a:ext>
            </a:extLst>
          </p:cNvPr>
          <p:cNvSpPr>
            <a:spLocks noGrp="1"/>
          </p:cNvSpPr>
          <p:nvPr/>
        </p:nvSpPr>
        <p:spPr>
          <a:xfrm>
            <a:off x="13342239" y="6618163"/>
            <a:ext cx="1257300" cy="228600"/>
          </a:xfrm>
          <a:prstGeom prst="rect">
            <a:avLst/>
          </a:prstGeom>
        </p:spPr>
        <p:txBody>
          <a:bodyPr lIns="0" tIns="0" rIns="0" bIns="0"/>
          <a:lstStyle/>
          <a:p>
            <a:pPr algn="ctr">
              <a:defRPr sz="1425" b="1">
                <a:solidFill>
                  <a:srgbClr val="2F7D6D"/>
                </a:solidFill>
              </a:defRPr>
            </a:pPr>
            <a:r>
              <a:rPr sz="1425" b="1">
                <a:solidFill>
                  <a:srgbClr val="2F7D6D"/>
                </a:solidFill>
              </a:rPr>
              <a:t>0.8794</a:t>
            </a:r>
          </a:p>
        </p:txBody>
      </p:sp>
      <p:sp>
        <p:nvSpPr>
          <p:cNvPr id="81" name="results-row-6-cell-4">
            <a:extLst>
              <a:ext uri="{FF2B5EF4-FFF2-40B4-BE49-F238E27FC236}">
                <a16:creationId xmlns:a16="http://schemas.microsoft.com/office/drawing/2014/main" id="{EC0A2521-B4E7-4D95-9A35-D07F66E7D456}"/>
              </a:ext>
            </a:extLst>
          </p:cNvPr>
          <p:cNvSpPr>
            <a:spLocks noGrp="1"/>
          </p:cNvSpPr>
          <p:nvPr/>
        </p:nvSpPr>
        <p:spPr>
          <a:xfrm>
            <a:off x="14754225" y="6492433"/>
            <a:ext cx="1619250" cy="495300"/>
          </a:xfrm>
          <a:prstGeom prst="roundRect">
            <a:avLst>
              <a:gd name="adj" fmla="val 13462"/>
            </a:avLst>
          </a:prstGeom>
          <a:solidFill>
            <a:srgbClr val="FFFFFF"/>
          </a:solidFill>
          <a:ln w="7620">
            <a:solidFill>
              <a:srgbClr val="D8DED9"/>
            </a:solidFill>
            <a:prstDash val="solid"/>
          </a:ln>
        </p:spPr>
      </p:sp>
      <p:sp>
        <p:nvSpPr>
          <p:cNvPr id="82" name="矩形 81">
            <a:extLst>
              <a:ext uri="{FF2B5EF4-FFF2-40B4-BE49-F238E27FC236}">
                <a16:creationId xmlns:a16="http://schemas.microsoft.com/office/drawing/2014/main" id="{4EDD0A66-C886-4F57-8733-DB4E15916B0D}"/>
              </a:ext>
            </a:extLst>
          </p:cNvPr>
          <p:cNvSpPr>
            <a:spLocks noGrp="1"/>
          </p:cNvSpPr>
          <p:nvPr/>
        </p:nvSpPr>
        <p:spPr>
          <a:xfrm>
            <a:off x="14847189" y="6618163"/>
            <a:ext cx="1447800" cy="228600"/>
          </a:xfrm>
          <a:prstGeom prst="rect">
            <a:avLst/>
          </a:prstGeom>
        </p:spPr>
        <p:txBody>
          <a:bodyPr lIns="0" tIns="0" rIns="0" bIns="0"/>
          <a:lstStyle/>
          <a:p>
            <a:pPr algn="ctr">
              <a:defRPr sz="1425" b="0">
                <a:solidFill>
                  <a:srgbClr val="18212B"/>
                </a:solidFill>
              </a:defRPr>
            </a:pPr>
            <a:r>
              <a:rPr sz="1425" b="0">
                <a:solidFill>
                  <a:srgbClr val="18212B"/>
                </a:solidFill>
              </a:rPr>
              <a:t>0.6706</a:t>
            </a:r>
          </a:p>
        </p:txBody>
      </p:sp>
      <p:sp>
        <p:nvSpPr>
          <p:cNvPr id="83" name="results-row-6-cell-5">
            <a:extLst>
              <a:ext uri="{FF2B5EF4-FFF2-40B4-BE49-F238E27FC236}">
                <a16:creationId xmlns:a16="http://schemas.microsoft.com/office/drawing/2014/main" id="{6D9BF185-B844-4FFB-81A2-A56FC905D737}"/>
              </a:ext>
            </a:extLst>
          </p:cNvPr>
          <p:cNvSpPr>
            <a:spLocks noGrp="1"/>
          </p:cNvSpPr>
          <p:nvPr/>
        </p:nvSpPr>
        <p:spPr>
          <a:xfrm>
            <a:off x="16449675" y="6492433"/>
            <a:ext cx="1000125" cy="495300"/>
          </a:xfrm>
          <a:prstGeom prst="roundRect">
            <a:avLst>
              <a:gd name="adj" fmla="val 13462"/>
            </a:avLst>
          </a:prstGeom>
          <a:solidFill>
            <a:srgbClr val="F4EFE7"/>
          </a:solidFill>
          <a:ln w="7620">
            <a:solidFill>
              <a:srgbClr val="C15D3A"/>
            </a:solidFill>
            <a:prstDash val="solid"/>
          </a:ln>
        </p:spPr>
      </p:sp>
      <p:sp>
        <p:nvSpPr>
          <p:cNvPr id="84" name="矩形 83">
            <a:extLst>
              <a:ext uri="{FF2B5EF4-FFF2-40B4-BE49-F238E27FC236}">
                <a16:creationId xmlns:a16="http://schemas.microsoft.com/office/drawing/2014/main" id="{A5E0D51E-4C62-4AC5-9113-B70BDBC9E1DD}"/>
              </a:ext>
            </a:extLst>
          </p:cNvPr>
          <p:cNvSpPr>
            <a:spLocks noGrp="1"/>
          </p:cNvSpPr>
          <p:nvPr/>
        </p:nvSpPr>
        <p:spPr>
          <a:xfrm>
            <a:off x="16542639" y="6618163"/>
            <a:ext cx="800100" cy="228600"/>
          </a:xfrm>
          <a:prstGeom prst="rect">
            <a:avLst/>
          </a:prstGeom>
        </p:spPr>
        <p:txBody>
          <a:bodyPr lIns="0" tIns="0" rIns="0" bIns="0"/>
          <a:lstStyle/>
          <a:p>
            <a:pPr algn="ctr">
              <a:defRPr sz="1425" b="1">
                <a:solidFill>
                  <a:srgbClr val="C15D3A"/>
                </a:solidFill>
              </a:defRPr>
            </a:pPr>
            <a:r>
              <a:rPr sz="1425" b="1">
                <a:solidFill>
                  <a:srgbClr val="C15D3A"/>
                </a:solidFill>
              </a:rPr>
              <a:t>CF</a:t>
            </a:r>
          </a:p>
        </p:txBody>
      </p:sp>
      <p:sp>
        <p:nvSpPr>
          <p:cNvPr id="85" name="footer-rule">
            <a:extLst>
              <a:ext uri="{FF2B5EF4-FFF2-40B4-BE49-F238E27FC236}">
                <a16:creationId xmlns:a16="http://schemas.microsoft.com/office/drawing/2014/main" id="{27B6F5A2-48BC-414A-81A0-0C1DBA6391ED}"/>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86" name="source-rail">
            <a:extLst>
              <a:ext uri="{FF2B5EF4-FFF2-40B4-BE49-F238E27FC236}">
                <a16:creationId xmlns:a16="http://schemas.microsoft.com/office/drawing/2014/main" id="{8F66FFC7-3F33-446B-A956-A9534DD544E0}"/>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Validation results at K = 10 from artifacts/results/final_report.txt and comparison_table.md</a:t>
            </a:r>
          </a:p>
        </p:txBody>
      </p:sp>
    </p:spTree>
    <p:extLst>
      <p:ext uri="{BB962C8B-B14F-4D97-AF65-F5344CB8AC3E}">
        <p14:creationId xmlns:p14="http://schemas.microsoft.com/office/powerpoint/2010/main" val="613742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a:extLst>
            <a:ext uri="{FF2B5EF4-FFF2-40B4-BE49-F238E27FC236}">
              <a16:creationId xmlns:a16="http://schemas.microsoft.com/office/drawing/2014/main" id="{CAEDCFC6-D6B2-257D-B928-FFF55456E13B}"/>
            </a:ext>
          </a:extLst>
        </p:cNvPr>
        <p:cNvGrpSpPr/>
        <p:nvPr/>
      </p:nvGrpSpPr>
      <p:grpSpPr>
        <a:xfrm>
          <a:off x="0" y="0"/>
          <a:ext cx="0" cy="0"/>
          <a:chOff x="0" y="0"/>
          <a:chExt cx="0" cy="0"/>
        </a:xfrm>
      </p:grpSpPr>
      <p:sp>
        <p:nvSpPr>
          <p:cNvPr id="4" name="slide-title">
            <a:extLst>
              <a:ext uri="{FF2B5EF4-FFF2-40B4-BE49-F238E27FC236}">
                <a16:creationId xmlns:a16="http://schemas.microsoft.com/office/drawing/2014/main" id="{597EFEAD-2DAE-EB89-5185-6233D1F5772E}"/>
              </a:ext>
            </a:extLst>
          </p:cNvPr>
          <p:cNvSpPr>
            <a:spLocks noGrp="1"/>
          </p:cNvSpPr>
          <p:nvPr/>
        </p:nvSpPr>
        <p:spPr>
          <a:xfrm>
            <a:off x="1000246" y="1019175"/>
            <a:ext cx="16611600" cy="914400"/>
          </a:xfrm>
          <a:prstGeom prst="rect">
            <a:avLst/>
          </a:prstGeom>
        </p:spPr>
        <p:txBody>
          <a:bodyPr lIns="0" tIns="0" rIns="0" bIns="0"/>
          <a:lstStyle/>
          <a:p>
            <a:pPr>
              <a:defRPr sz="4050" b="1">
                <a:solidFill>
                  <a:srgbClr val="18212B"/>
                </a:solidFill>
              </a:defRPr>
            </a:pPr>
            <a:r>
              <a:rPr lang="en-US" altLang="zh-CN" sz="4050" b="1" dirty="0">
                <a:solidFill>
                  <a:srgbClr val="18212B"/>
                </a:solidFill>
              </a:rPr>
              <a:t>Results at K = 10</a:t>
            </a:r>
          </a:p>
        </p:txBody>
      </p:sp>
      <p:sp>
        <p:nvSpPr>
          <p:cNvPr id="23" name="footer-rule">
            <a:extLst>
              <a:ext uri="{FF2B5EF4-FFF2-40B4-BE49-F238E27FC236}">
                <a16:creationId xmlns:a16="http://schemas.microsoft.com/office/drawing/2014/main" id="{42EB9077-73C1-FD64-EBD2-5980EAF526F7}"/>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24" name="source-rail">
            <a:extLst>
              <a:ext uri="{FF2B5EF4-FFF2-40B4-BE49-F238E27FC236}">
                <a16:creationId xmlns:a16="http://schemas.microsoft.com/office/drawing/2014/main" id="{259F0E3A-87D2-683D-175E-E3F490D794E8}"/>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pic>
        <p:nvPicPr>
          <p:cNvPr id="91" name="图片 90">
            <a:extLst>
              <a:ext uri="{FF2B5EF4-FFF2-40B4-BE49-F238E27FC236}">
                <a16:creationId xmlns:a16="http://schemas.microsoft.com/office/drawing/2014/main" id="{A178FC1F-5E6E-2D43-E598-8E3A4E276B21}"/>
              </a:ext>
            </a:extLst>
          </p:cNvPr>
          <p:cNvPicPr>
            <a:picLocks noChangeAspect="1"/>
          </p:cNvPicPr>
          <p:nvPr/>
        </p:nvPicPr>
        <p:blipFill>
          <a:blip r:embed="rId3"/>
          <a:stretch>
            <a:fillRect/>
          </a:stretch>
        </p:blipFill>
        <p:spPr>
          <a:xfrm>
            <a:off x="467810" y="2795021"/>
            <a:ext cx="7805016" cy="5561894"/>
          </a:xfrm>
          <a:prstGeom prst="rect">
            <a:avLst/>
          </a:prstGeom>
        </p:spPr>
      </p:pic>
      <p:pic>
        <p:nvPicPr>
          <p:cNvPr id="89" name="图片 88">
            <a:extLst>
              <a:ext uri="{FF2B5EF4-FFF2-40B4-BE49-F238E27FC236}">
                <a16:creationId xmlns:a16="http://schemas.microsoft.com/office/drawing/2014/main" id="{9C2D4F89-6B15-C471-28DC-F6D5DBF5A68F}"/>
              </a:ext>
            </a:extLst>
          </p:cNvPr>
          <p:cNvPicPr>
            <a:picLocks noChangeAspect="1"/>
          </p:cNvPicPr>
          <p:nvPr/>
        </p:nvPicPr>
        <p:blipFill>
          <a:blip r:embed="rId4"/>
          <a:stretch>
            <a:fillRect/>
          </a:stretch>
        </p:blipFill>
        <p:spPr>
          <a:xfrm>
            <a:off x="8474377" y="3576578"/>
            <a:ext cx="9686301" cy="3784638"/>
          </a:xfrm>
          <a:prstGeom prst="rect">
            <a:avLst/>
          </a:prstGeom>
        </p:spPr>
      </p:pic>
    </p:spTree>
    <p:extLst>
      <p:ext uri="{BB962C8B-B14F-4D97-AF65-F5344CB8AC3E}">
        <p14:creationId xmlns:p14="http://schemas.microsoft.com/office/powerpoint/2010/main" val="3807267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37" name="slide-number">
            <a:extLst>
              <a:ext uri="{FF2B5EF4-FFF2-40B4-BE49-F238E27FC236}">
                <a16:creationId xmlns:a16="http://schemas.microsoft.com/office/drawing/2014/main" id="{88FF0F17-57FE-4681-9E94-4A48EB62CA09}"/>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12</a:t>
            </a:r>
          </a:p>
        </p:txBody>
      </p:sp>
      <p:sp>
        <p:nvSpPr>
          <p:cNvPr id="2" name="kicker-rule">
            <a:extLst>
              <a:ext uri="{FF2B5EF4-FFF2-40B4-BE49-F238E27FC236}">
                <a16:creationId xmlns:a16="http://schemas.microsoft.com/office/drawing/2014/main" id="{F662840F-DC2C-4576-BFD9-453CDF2C66EE}"/>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296B8E32-EECF-42CA-B6FE-05FD27A506D7}"/>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D63FF5D2-9C4F-450F-B169-E55A50BD39A0}"/>
              </a:ext>
            </a:extLst>
          </p:cNvPr>
          <p:cNvSpPr>
            <a:spLocks noGrp="1"/>
          </p:cNvSpPr>
          <p:nvPr/>
        </p:nvSpPr>
        <p:spPr>
          <a:xfrm>
            <a:off x="838200" y="914400"/>
            <a:ext cx="16611600" cy="914400"/>
          </a:xfrm>
          <a:prstGeom prst="rect">
            <a:avLst/>
          </a:prstGeom>
        </p:spPr>
        <p:txBody>
          <a:bodyPr lIns="0" tIns="0" rIns="0" bIns="0"/>
          <a:lstStyle/>
          <a:p>
            <a:pPr>
              <a:defRPr sz="4050" b="1">
                <a:solidFill>
                  <a:srgbClr val="18212B"/>
                </a:solidFill>
              </a:defRPr>
            </a:pPr>
            <a:r>
              <a:rPr sz="4050" b="1">
                <a:solidFill>
                  <a:srgbClr val="18212B"/>
                </a:solidFill>
              </a:rPr>
              <a:t>Product extension: live demo layer</a:t>
            </a:r>
          </a:p>
        </p:txBody>
      </p:sp>
      <p:sp>
        <p:nvSpPr>
          <p:cNvPr id="5" name="slide-subtitle">
            <a:extLst>
              <a:ext uri="{FF2B5EF4-FFF2-40B4-BE49-F238E27FC236}">
                <a16:creationId xmlns:a16="http://schemas.microsoft.com/office/drawing/2014/main" id="{BD76FFEB-5DED-4695-8C81-FA2A75CC1EF1}"/>
              </a:ext>
            </a:extLst>
          </p:cNvPr>
          <p:cNvSpPr>
            <a:spLocks noGrp="1"/>
          </p:cNvSpPr>
          <p:nvPr/>
        </p:nvSpPr>
        <p:spPr>
          <a:xfrm>
            <a:off x="838200" y="1750695"/>
            <a:ext cx="13906500" cy="342900"/>
          </a:xfrm>
          <a:prstGeom prst="rect">
            <a:avLst/>
          </a:prstGeom>
        </p:spPr>
        <p:txBody>
          <a:bodyPr lIns="0" tIns="0" rIns="0" bIns="0"/>
          <a:lstStyle/>
          <a:p>
            <a:pPr>
              <a:defRPr sz="2250">
                <a:solidFill>
                  <a:srgbClr val="18212B"/>
                </a:solidFill>
              </a:defRPr>
            </a:pPr>
            <a:r>
              <a:rPr sz="2250" dirty="0">
                <a:solidFill>
                  <a:srgbClr val="18212B"/>
                </a:solidFill>
              </a:rPr>
              <a:t>The demo turns the research pipeline into an interactive music recommendation prototype.</a:t>
            </a:r>
          </a:p>
        </p:txBody>
      </p:sp>
      <p:sp>
        <p:nvSpPr>
          <p:cNvPr id="6" name="demo-bullets-1">
            <a:extLst>
              <a:ext uri="{FF2B5EF4-FFF2-40B4-BE49-F238E27FC236}">
                <a16:creationId xmlns:a16="http://schemas.microsoft.com/office/drawing/2014/main" id="{FE76403E-72DB-47F9-A67A-BDBD6AA1DF3D}"/>
              </a:ext>
            </a:extLst>
          </p:cNvPr>
          <p:cNvSpPr>
            <a:spLocks noGrp="1"/>
          </p:cNvSpPr>
          <p:nvPr/>
        </p:nvSpPr>
        <p:spPr>
          <a:xfrm>
            <a:off x="838200" y="2267901"/>
            <a:ext cx="8849811" cy="478715"/>
          </a:xfrm>
          <a:prstGeom prst="rect">
            <a:avLst/>
          </a:prstGeom>
        </p:spPr>
        <p:txBody>
          <a:bodyPr lIns="0" tIns="0" rIns="0" bIns="0"/>
          <a:lstStyle/>
          <a:p>
            <a:pPr>
              <a:defRPr sz="2025">
                <a:solidFill>
                  <a:srgbClr val="18212B"/>
                </a:solidFill>
              </a:defRPr>
            </a:pPr>
            <a:r>
              <a:rPr sz="2400" dirty="0">
                <a:solidFill>
                  <a:srgbClr val="18212B"/>
                </a:solidFill>
              </a:rPr>
              <a:t>- New website users are not original </a:t>
            </a:r>
            <a:r>
              <a:rPr sz="2400" dirty="0" err="1">
                <a:solidFill>
                  <a:srgbClr val="18212B"/>
                </a:solidFill>
              </a:rPr>
              <a:t>KGRec</a:t>
            </a:r>
            <a:r>
              <a:rPr sz="2400" dirty="0">
                <a:solidFill>
                  <a:srgbClr val="18212B"/>
                </a:solidFill>
              </a:rPr>
              <a:t> training users.</a:t>
            </a:r>
          </a:p>
        </p:txBody>
      </p:sp>
      <p:sp>
        <p:nvSpPr>
          <p:cNvPr id="9" name="demo-bullets-4">
            <a:extLst>
              <a:ext uri="{FF2B5EF4-FFF2-40B4-BE49-F238E27FC236}">
                <a16:creationId xmlns:a16="http://schemas.microsoft.com/office/drawing/2014/main" id="{160B0B68-5AE4-4F59-9396-C44EC22F9A4E}"/>
              </a:ext>
            </a:extLst>
          </p:cNvPr>
          <p:cNvSpPr>
            <a:spLocks noGrp="1"/>
          </p:cNvSpPr>
          <p:nvPr/>
        </p:nvSpPr>
        <p:spPr>
          <a:xfrm>
            <a:off x="838200" y="2920922"/>
            <a:ext cx="12148595" cy="590552"/>
          </a:xfrm>
          <a:prstGeom prst="rect">
            <a:avLst/>
          </a:prstGeom>
        </p:spPr>
        <p:txBody>
          <a:bodyPr lIns="0" tIns="0" rIns="0" bIns="0"/>
          <a:lstStyle/>
          <a:p>
            <a:pPr>
              <a:defRPr sz="2025">
                <a:solidFill>
                  <a:srgbClr val="18212B"/>
                </a:solidFill>
              </a:defRPr>
            </a:pPr>
            <a:r>
              <a:rPr sz="2400" dirty="0">
                <a:solidFill>
                  <a:srgbClr val="18212B"/>
                </a:solidFill>
              </a:rPr>
              <a:t>- NetEase enrichment </a:t>
            </a:r>
            <a:r>
              <a:rPr lang="en-US" sz="2400" dirty="0" err="1">
                <a:solidFill>
                  <a:srgbClr val="18212B"/>
                </a:solidFill>
              </a:rPr>
              <a:t>api</a:t>
            </a:r>
            <a:r>
              <a:rPr lang="en-US" sz="2400" dirty="0">
                <a:solidFill>
                  <a:srgbClr val="18212B"/>
                </a:solidFill>
              </a:rPr>
              <a:t>: </a:t>
            </a:r>
            <a:r>
              <a:rPr lang="en-US" sz="2400" dirty="0">
                <a:solidFill>
                  <a:srgbClr val="18212B"/>
                </a:solidFill>
                <a:hlinkClick r:id="rId3"/>
              </a:rPr>
              <a:t>https://github.com/NeteaseCloudMusicApiEnhanced/api-enhanced</a:t>
            </a:r>
            <a:endParaRPr lang="en-US" sz="2400" dirty="0">
              <a:solidFill>
                <a:srgbClr val="18212B"/>
              </a:solidFill>
            </a:endParaRPr>
          </a:p>
          <a:p>
            <a:pPr>
              <a:defRPr sz="2025">
                <a:solidFill>
                  <a:srgbClr val="18212B"/>
                </a:solidFill>
              </a:defRPr>
            </a:pPr>
            <a:endParaRPr sz="2400" dirty="0">
              <a:solidFill>
                <a:srgbClr val="18212B"/>
              </a:solidFill>
            </a:endParaRPr>
          </a:p>
        </p:txBody>
      </p:sp>
      <p:sp>
        <p:nvSpPr>
          <p:cNvPr id="35" name="footer-rule">
            <a:extLst>
              <a:ext uri="{FF2B5EF4-FFF2-40B4-BE49-F238E27FC236}">
                <a16:creationId xmlns:a16="http://schemas.microsoft.com/office/drawing/2014/main" id="{9D6144A7-E0FB-448A-9BA3-1A3F1F954EDB}"/>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36" name="source-rail">
            <a:extLst>
              <a:ext uri="{FF2B5EF4-FFF2-40B4-BE49-F238E27FC236}">
                <a16:creationId xmlns:a16="http://schemas.microsoft.com/office/drawing/2014/main" id="{A5F2685B-C08B-47AA-84E5-A178DF047352}"/>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Product layer: SongRecDemo README; NetEase enrichment is display-side only</a:t>
            </a:r>
          </a:p>
        </p:txBody>
      </p:sp>
    </p:spTree>
    <p:extLst>
      <p:ext uri="{BB962C8B-B14F-4D97-AF65-F5344CB8AC3E}">
        <p14:creationId xmlns:p14="http://schemas.microsoft.com/office/powerpoint/2010/main" val="643949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6F0"/>
        </a:solidFill>
        <a:effectLst/>
      </p:bgPr>
    </p:bg>
    <p:spTree>
      <p:nvGrpSpPr>
        <p:cNvPr id="1" name=""/>
        <p:cNvGrpSpPr/>
        <p:nvPr/>
      </p:nvGrpSpPr>
      <p:grpSpPr>
        <a:xfrm>
          <a:off x="0" y="0"/>
          <a:ext cx="0" cy="0"/>
          <a:chOff x="0" y="0"/>
          <a:chExt cx="0" cy="0"/>
        </a:xfrm>
      </p:grpSpPr>
      <p:sp>
        <p:nvSpPr>
          <p:cNvPr id="25" name="slide-number">
            <a:extLst>
              <a:ext uri="{FF2B5EF4-FFF2-40B4-BE49-F238E27FC236}">
                <a16:creationId xmlns:a16="http://schemas.microsoft.com/office/drawing/2014/main" id="{61C5C9DC-3A24-41BC-8179-A6860EFDFF70}"/>
              </a:ext>
            </a:extLst>
          </p:cNvPr>
          <p:cNvSpPr>
            <a:spLocks noGrp="1"/>
          </p:cNvSpPr>
          <p:nvPr/>
        </p:nvSpPr>
        <p:spPr>
          <a:xfrm>
            <a:off x="838200" y="628650"/>
            <a:ext cx="666750" cy="190500"/>
          </a:xfrm>
          <a:prstGeom prst="rect">
            <a:avLst/>
          </a:prstGeom>
        </p:spPr>
        <p:txBody>
          <a:bodyPr lIns="0" tIns="0" rIns="0" bIns="0"/>
          <a:lstStyle/>
          <a:p>
            <a:pPr algn="ctr">
              <a:defRPr sz="1350" b="1">
                <a:solidFill>
                  <a:srgbClr val="2F7D6D"/>
                </a:solidFill>
              </a:defRPr>
            </a:pPr>
            <a:r>
              <a:rPr sz="1350" b="1">
                <a:solidFill>
                  <a:srgbClr val="2F7D6D"/>
                </a:solidFill>
              </a:rPr>
              <a:t>13</a:t>
            </a:r>
          </a:p>
        </p:txBody>
      </p:sp>
      <p:sp>
        <p:nvSpPr>
          <p:cNvPr id="2" name="kicker-rule">
            <a:extLst>
              <a:ext uri="{FF2B5EF4-FFF2-40B4-BE49-F238E27FC236}">
                <a16:creationId xmlns:a16="http://schemas.microsoft.com/office/drawing/2014/main" id="{F938321A-EF2D-4B7A-B3AA-170126B47168}"/>
              </a:ext>
            </a:extLst>
          </p:cNvPr>
          <p:cNvSpPr>
            <a:spLocks noGrp="1"/>
          </p:cNvSpPr>
          <p:nvPr/>
        </p:nvSpPr>
        <p:spPr>
          <a:xfrm>
            <a:off x="1676400" y="704850"/>
            <a:ext cx="1143000" cy="28575"/>
          </a:xfrm>
          <a:prstGeom prst="rect">
            <a:avLst/>
          </a:prstGeom>
          <a:solidFill>
            <a:srgbClr val="2F7D6D"/>
          </a:solidFill>
          <a:ln w="0">
            <a:solidFill>
              <a:srgbClr val="2F7D6D"/>
            </a:solidFill>
            <a:prstDash val="solid"/>
          </a:ln>
        </p:spPr>
      </p:sp>
      <p:sp>
        <p:nvSpPr>
          <p:cNvPr id="3" name="deck-kicker">
            <a:extLst>
              <a:ext uri="{FF2B5EF4-FFF2-40B4-BE49-F238E27FC236}">
                <a16:creationId xmlns:a16="http://schemas.microsoft.com/office/drawing/2014/main" id="{E9593B86-8A8C-4907-87D5-1474F97EE49B}"/>
              </a:ext>
            </a:extLst>
          </p:cNvPr>
          <p:cNvSpPr>
            <a:spLocks noGrp="1"/>
          </p:cNvSpPr>
          <p:nvPr/>
        </p:nvSpPr>
        <p:spPr>
          <a:xfrm>
            <a:off x="2990850" y="609600"/>
            <a:ext cx="14458950" cy="228600"/>
          </a:xfrm>
          <a:prstGeom prst="rect">
            <a:avLst/>
          </a:prstGeom>
        </p:spPr>
        <p:txBody>
          <a:bodyPr lIns="0" tIns="0" rIns="0" bIns="0"/>
          <a:lstStyle/>
          <a:p>
            <a:pPr>
              <a:defRPr sz="1425" b="1">
                <a:solidFill>
                  <a:srgbClr val="2F7D6D"/>
                </a:solidFill>
              </a:defRPr>
            </a:pPr>
            <a:r>
              <a:rPr sz="1425" b="1">
                <a:solidFill>
                  <a:srgbClr val="2F7D6D"/>
                </a:solidFill>
              </a:rPr>
              <a:t>Mini Spotify-like Music Recommendation System</a:t>
            </a:r>
          </a:p>
        </p:txBody>
      </p:sp>
      <p:sp>
        <p:nvSpPr>
          <p:cNvPr id="4" name="slide-title">
            <a:extLst>
              <a:ext uri="{FF2B5EF4-FFF2-40B4-BE49-F238E27FC236}">
                <a16:creationId xmlns:a16="http://schemas.microsoft.com/office/drawing/2014/main" id="{2C55AEA8-409F-4ABA-A319-3256C825D028}"/>
              </a:ext>
            </a:extLst>
          </p:cNvPr>
          <p:cNvSpPr>
            <a:spLocks noGrp="1"/>
          </p:cNvSpPr>
          <p:nvPr/>
        </p:nvSpPr>
        <p:spPr>
          <a:xfrm>
            <a:off x="838200" y="914400"/>
            <a:ext cx="16611600" cy="914400"/>
          </a:xfrm>
          <a:prstGeom prst="rect">
            <a:avLst/>
          </a:prstGeom>
        </p:spPr>
        <p:txBody>
          <a:bodyPr lIns="0" tIns="0" rIns="0" bIns="0"/>
          <a:lstStyle/>
          <a:p>
            <a:pPr>
              <a:defRPr sz="4050" b="1">
                <a:solidFill>
                  <a:srgbClr val="18212B"/>
                </a:solidFill>
              </a:defRPr>
            </a:pPr>
            <a:r>
              <a:rPr sz="4050" b="1">
                <a:solidFill>
                  <a:srgbClr val="18212B"/>
                </a:solidFill>
              </a:rPr>
              <a:t>Final conclusion</a:t>
            </a:r>
          </a:p>
        </p:txBody>
      </p:sp>
      <p:sp>
        <p:nvSpPr>
          <p:cNvPr id="5" name="slide-subtitle">
            <a:extLst>
              <a:ext uri="{FF2B5EF4-FFF2-40B4-BE49-F238E27FC236}">
                <a16:creationId xmlns:a16="http://schemas.microsoft.com/office/drawing/2014/main" id="{321C1F0A-8C24-4B00-9137-FBF8D1BDA2F8}"/>
              </a:ext>
            </a:extLst>
          </p:cNvPr>
          <p:cNvSpPr>
            <a:spLocks noGrp="1"/>
          </p:cNvSpPr>
          <p:nvPr/>
        </p:nvSpPr>
        <p:spPr>
          <a:xfrm>
            <a:off x="838200" y="1733550"/>
            <a:ext cx="13906500" cy="342900"/>
          </a:xfrm>
          <a:prstGeom prst="rect">
            <a:avLst/>
          </a:prstGeom>
        </p:spPr>
        <p:txBody>
          <a:bodyPr lIns="0" tIns="0" rIns="0" bIns="0"/>
          <a:lstStyle/>
          <a:p>
            <a:pPr>
              <a:defRPr sz="2250">
                <a:solidFill>
                  <a:srgbClr val="18212B"/>
                </a:solidFill>
              </a:defRPr>
            </a:pPr>
            <a:r>
              <a:rPr sz="2250">
                <a:solidFill>
                  <a:srgbClr val="18212B"/>
                </a:solidFill>
              </a:rPr>
              <a:t>The project became a full pipeline for understanding music recommendation from data to model to demo.</a:t>
            </a:r>
          </a:p>
        </p:txBody>
      </p:sp>
      <p:sp>
        <p:nvSpPr>
          <p:cNvPr id="6" name="矩形 5">
            <a:extLst>
              <a:ext uri="{FF2B5EF4-FFF2-40B4-BE49-F238E27FC236}">
                <a16:creationId xmlns:a16="http://schemas.microsoft.com/office/drawing/2014/main" id="{224580E1-5111-4D55-BC8A-A1D349760D3A}"/>
              </a:ext>
            </a:extLst>
          </p:cNvPr>
          <p:cNvSpPr>
            <a:spLocks noGrp="1"/>
          </p:cNvSpPr>
          <p:nvPr/>
        </p:nvSpPr>
        <p:spPr>
          <a:xfrm>
            <a:off x="838200" y="2514600"/>
            <a:ext cx="7715250" cy="247650"/>
          </a:xfrm>
          <a:prstGeom prst="rect">
            <a:avLst/>
          </a:prstGeom>
        </p:spPr>
        <p:txBody>
          <a:bodyPr lIns="0" tIns="0" rIns="0" bIns="0"/>
          <a:lstStyle/>
          <a:p>
            <a:pPr>
              <a:defRPr sz="1575" b="1">
                <a:solidFill>
                  <a:srgbClr val="2F7D6D"/>
                </a:solidFill>
              </a:defRPr>
            </a:pPr>
            <a:r>
              <a:rPr sz="1575" b="1">
                <a:solidFill>
                  <a:srgbClr val="2F7D6D"/>
                </a:solidFill>
              </a:rPr>
              <a:t>Main lesson</a:t>
            </a:r>
          </a:p>
        </p:txBody>
      </p:sp>
      <p:sp>
        <p:nvSpPr>
          <p:cNvPr id="7" name="conclusion-claim">
            <a:extLst>
              <a:ext uri="{FF2B5EF4-FFF2-40B4-BE49-F238E27FC236}">
                <a16:creationId xmlns:a16="http://schemas.microsoft.com/office/drawing/2014/main" id="{3FF47F95-9099-4A6D-8D77-D1B13C21975E}"/>
              </a:ext>
            </a:extLst>
          </p:cNvPr>
          <p:cNvSpPr>
            <a:spLocks noGrp="1"/>
          </p:cNvSpPr>
          <p:nvPr/>
        </p:nvSpPr>
        <p:spPr>
          <a:xfrm>
            <a:off x="838200" y="2971800"/>
            <a:ext cx="7086600" cy="1276350"/>
          </a:xfrm>
          <a:prstGeom prst="rect">
            <a:avLst/>
          </a:prstGeom>
        </p:spPr>
        <p:txBody>
          <a:bodyPr lIns="0" tIns="0" rIns="0" bIns="0"/>
          <a:lstStyle/>
          <a:p>
            <a:pPr>
              <a:defRPr sz="2775" b="1">
                <a:solidFill>
                  <a:srgbClr val="18212B"/>
                </a:solidFill>
              </a:defRPr>
            </a:pPr>
            <a:r>
              <a:rPr sz="2775" b="1">
                <a:solidFill>
                  <a:srgbClr val="18212B"/>
                </a:solidFill>
              </a:rPr>
              <a:t>Recommendation systems are not only about maximizing accuracy; different algorithms create different discovery experiences.</a:t>
            </a:r>
          </a:p>
        </p:txBody>
      </p:sp>
      <p:sp>
        <p:nvSpPr>
          <p:cNvPr id="19" name="conclusion-bullets-1">
            <a:extLst>
              <a:ext uri="{FF2B5EF4-FFF2-40B4-BE49-F238E27FC236}">
                <a16:creationId xmlns:a16="http://schemas.microsoft.com/office/drawing/2014/main" id="{992C61B4-EF8A-44B1-9AFB-40059195C2ED}"/>
              </a:ext>
            </a:extLst>
          </p:cNvPr>
          <p:cNvSpPr>
            <a:spLocks noGrp="1"/>
          </p:cNvSpPr>
          <p:nvPr/>
        </p:nvSpPr>
        <p:spPr>
          <a:xfrm>
            <a:off x="838200" y="4838700"/>
            <a:ext cx="8362950" cy="323850"/>
          </a:xfrm>
          <a:prstGeom prst="rect">
            <a:avLst/>
          </a:prstGeom>
        </p:spPr>
        <p:txBody>
          <a:bodyPr lIns="0" tIns="0" rIns="0" bIns="0"/>
          <a:lstStyle/>
          <a:p>
            <a:pPr>
              <a:defRPr sz="2025">
                <a:solidFill>
                  <a:srgbClr val="18212B"/>
                </a:solidFill>
              </a:defRPr>
            </a:pPr>
            <a:r>
              <a:rPr sz="2025">
                <a:solidFill>
                  <a:srgbClr val="18212B"/>
                </a:solidFill>
              </a:rPr>
              <a:t>- Popularity captures mainstream attention.</a:t>
            </a:r>
          </a:p>
        </p:txBody>
      </p:sp>
      <p:sp>
        <p:nvSpPr>
          <p:cNvPr id="20" name="conclusion-bullets-2">
            <a:extLst>
              <a:ext uri="{FF2B5EF4-FFF2-40B4-BE49-F238E27FC236}">
                <a16:creationId xmlns:a16="http://schemas.microsoft.com/office/drawing/2014/main" id="{68ED7C03-A0D6-43C9-81BF-AA7AE4A8844A}"/>
              </a:ext>
            </a:extLst>
          </p:cNvPr>
          <p:cNvSpPr>
            <a:spLocks noGrp="1"/>
          </p:cNvSpPr>
          <p:nvPr/>
        </p:nvSpPr>
        <p:spPr>
          <a:xfrm>
            <a:off x="838200" y="5276850"/>
            <a:ext cx="8362950" cy="323850"/>
          </a:xfrm>
          <a:prstGeom prst="rect">
            <a:avLst/>
          </a:prstGeom>
        </p:spPr>
        <p:txBody>
          <a:bodyPr lIns="0" tIns="0" rIns="0" bIns="0"/>
          <a:lstStyle/>
          <a:p>
            <a:pPr>
              <a:defRPr sz="2025">
                <a:solidFill>
                  <a:srgbClr val="18212B"/>
                </a:solidFill>
              </a:defRPr>
            </a:pPr>
            <a:r>
              <a:rPr sz="2025" dirty="0">
                <a:solidFill>
                  <a:srgbClr val="18212B"/>
                </a:solidFill>
              </a:rPr>
              <a:t>- Content-based tags push into niche areas but can become narrow.</a:t>
            </a:r>
          </a:p>
        </p:txBody>
      </p:sp>
      <p:sp>
        <p:nvSpPr>
          <p:cNvPr id="21" name="conclusion-bullets-3">
            <a:extLst>
              <a:ext uri="{FF2B5EF4-FFF2-40B4-BE49-F238E27FC236}">
                <a16:creationId xmlns:a16="http://schemas.microsoft.com/office/drawing/2014/main" id="{38E902B3-74F8-422A-8453-4408B5867997}"/>
              </a:ext>
            </a:extLst>
          </p:cNvPr>
          <p:cNvSpPr>
            <a:spLocks noGrp="1"/>
          </p:cNvSpPr>
          <p:nvPr/>
        </p:nvSpPr>
        <p:spPr>
          <a:xfrm>
            <a:off x="838200" y="5695950"/>
            <a:ext cx="8362950" cy="323850"/>
          </a:xfrm>
          <a:prstGeom prst="rect">
            <a:avLst/>
          </a:prstGeom>
        </p:spPr>
        <p:txBody>
          <a:bodyPr lIns="0" tIns="0" rIns="0" bIns="0"/>
          <a:lstStyle/>
          <a:p>
            <a:pPr>
              <a:defRPr sz="2025">
                <a:solidFill>
                  <a:srgbClr val="18212B"/>
                </a:solidFill>
              </a:defRPr>
            </a:pPr>
            <a:r>
              <a:rPr sz="2025" dirty="0">
                <a:solidFill>
                  <a:srgbClr val="18212B"/>
                </a:solidFill>
              </a:rPr>
              <a:t>- ALS learns hidden co-listening patterns and performed best overall.</a:t>
            </a:r>
          </a:p>
        </p:txBody>
      </p:sp>
      <p:sp>
        <p:nvSpPr>
          <p:cNvPr id="23" name="footer-rule">
            <a:extLst>
              <a:ext uri="{FF2B5EF4-FFF2-40B4-BE49-F238E27FC236}">
                <a16:creationId xmlns:a16="http://schemas.microsoft.com/office/drawing/2014/main" id="{AC383997-566B-4F07-B01D-102E0E280B68}"/>
              </a:ext>
            </a:extLst>
          </p:cNvPr>
          <p:cNvSpPr>
            <a:spLocks noGrp="1"/>
          </p:cNvSpPr>
          <p:nvPr/>
        </p:nvSpPr>
        <p:spPr>
          <a:xfrm>
            <a:off x="838200" y="9601200"/>
            <a:ext cx="1143000" cy="9525"/>
          </a:xfrm>
          <a:prstGeom prst="rect">
            <a:avLst/>
          </a:prstGeom>
          <a:solidFill>
            <a:srgbClr val="C7D1CC"/>
          </a:solidFill>
          <a:ln w="0">
            <a:solidFill>
              <a:srgbClr val="C7D1CC"/>
            </a:solidFill>
            <a:prstDash val="solid"/>
          </a:ln>
        </p:spPr>
      </p:sp>
      <p:sp>
        <p:nvSpPr>
          <p:cNvPr id="24" name="source-rail">
            <a:extLst>
              <a:ext uri="{FF2B5EF4-FFF2-40B4-BE49-F238E27FC236}">
                <a16:creationId xmlns:a16="http://schemas.microsoft.com/office/drawing/2014/main" id="{0700A005-137F-49ED-B7F9-CA4C15B1CEAB}"/>
              </a:ext>
            </a:extLst>
          </p:cNvPr>
          <p:cNvSpPr>
            <a:spLocks noGrp="1"/>
          </p:cNvSpPr>
          <p:nvPr/>
        </p:nvSpPr>
        <p:spPr>
          <a:xfrm>
            <a:off x="2171700" y="9525000"/>
            <a:ext cx="15278100" cy="152400"/>
          </a:xfrm>
          <a:prstGeom prst="rect">
            <a:avLst/>
          </a:prstGeom>
        </p:spPr>
        <p:txBody>
          <a:bodyPr lIns="0" tIns="0" rIns="0" bIns="0"/>
          <a:lstStyle/>
          <a:p>
            <a:pPr>
              <a:defRPr sz="1050">
                <a:solidFill>
                  <a:srgbClr val="18212B"/>
                </a:solidFill>
              </a:defRPr>
            </a:pPr>
            <a:r>
              <a:rPr sz="1050">
                <a:solidFill>
                  <a:srgbClr val="18212B"/>
                </a:solidFill>
              </a:rPr>
              <a:t>Senior Project Presentation</a:t>
            </a:r>
          </a:p>
        </p:txBody>
      </p:sp>
    </p:spTree>
    <p:extLst>
      <p:ext uri="{BB962C8B-B14F-4D97-AF65-F5344CB8AC3E}">
        <p14:creationId xmlns:p14="http://schemas.microsoft.com/office/powerpoint/2010/main" val="17160603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TotalTime>
  <Words>3644</Words>
  <Application>Microsoft Office PowerPoint</Application>
  <DocSecurity>0</DocSecurity>
  <PresentationFormat>自定义</PresentationFormat>
  <Paragraphs>268</Paragraphs>
  <Slides>14</Slides>
  <Notes>14</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14</vt:i4>
      </vt:variant>
    </vt:vector>
  </HeadingPairs>
  <TitlesOfParts>
    <vt:vector size="16" baseType="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Yanrui Jerry Wu</cp:lastModifiedBy>
  <cp:revision>12</cp:revision>
  <dcterms:created xsi:type="dcterms:W3CDTF">2026-05-12T09:22:53Z</dcterms:created>
  <dcterms:modified xsi:type="dcterms:W3CDTF">2026-05-13T08:59:53Z</dcterms:modified>
</cp:coreProperties>
</file>